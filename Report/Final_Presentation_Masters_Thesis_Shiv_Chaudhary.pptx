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2" r:id="rId5"/>
    <p:sldMasterId id="2147483657" r:id="rId6"/>
  </p:sldMasterIdLst>
  <p:notesMasterIdLst>
    <p:notesMasterId r:id="rId69"/>
  </p:notesMasterIdLst>
  <p:sldIdLst>
    <p:sldId id="256" r:id="rId7"/>
    <p:sldId id="390" r:id="rId8"/>
    <p:sldId id="391" r:id="rId9"/>
    <p:sldId id="320" r:id="rId10"/>
    <p:sldId id="323" r:id="rId11"/>
    <p:sldId id="324" r:id="rId12"/>
    <p:sldId id="325" r:id="rId13"/>
    <p:sldId id="326" r:id="rId14"/>
    <p:sldId id="327" r:id="rId15"/>
    <p:sldId id="328" r:id="rId16"/>
    <p:sldId id="321" r:id="rId17"/>
    <p:sldId id="388" r:id="rId18"/>
    <p:sldId id="392" r:id="rId19"/>
    <p:sldId id="331" r:id="rId20"/>
    <p:sldId id="342" r:id="rId21"/>
    <p:sldId id="344" r:id="rId22"/>
    <p:sldId id="345" r:id="rId23"/>
    <p:sldId id="346" r:id="rId24"/>
    <p:sldId id="347" r:id="rId25"/>
    <p:sldId id="348" r:id="rId26"/>
    <p:sldId id="349" r:id="rId27"/>
    <p:sldId id="459" r:id="rId28"/>
    <p:sldId id="350" r:id="rId29"/>
    <p:sldId id="351" r:id="rId30"/>
    <p:sldId id="413" r:id="rId31"/>
    <p:sldId id="414" r:id="rId32"/>
    <p:sldId id="415" r:id="rId33"/>
    <p:sldId id="371" r:id="rId34"/>
    <p:sldId id="393" r:id="rId35"/>
    <p:sldId id="372" r:id="rId36"/>
    <p:sldId id="426" r:id="rId37"/>
    <p:sldId id="417" r:id="rId38"/>
    <p:sldId id="400" r:id="rId39"/>
    <p:sldId id="399" r:id="rId40"/>
    <p:sldId id="425" r:id="rId41"/>
    <p:sldId id="416" r:id="rId42"/>
    <p:sldId id="418" r:id="rId43"/>
    <p:sldId id="419" r:id="rId44"/>
    <p:sldId id="446" r:id="rId45"/>
    <p:sldId id="376" r:id="rId46"/>
    <p:sldId id="456" r:id="rId47"/>
    <p:sldId id="437" r:id="rId48"/>
    <p:sldId id="439" r:id="rId49"/>
    <p:sldId id="440" r:id="rId50"/>
    <p:sldId id="441" r:id="rId51"/>
    <p:sldId id="442" r:id="rId52"/>
    <p:sldId id="443" r:id="rId53"/>
    <p:sldId id="444" r:id="rId54"/>
    <p:sldId id="457" r:id="rId55"/>
    <p:sldId id="458" r:id="rId56"/>
    <p:sldId id="362" r:id="rId57"/>
    <p:sldId id="404" r:id="rId58"/>
    <p:sldId id="365" r:id="rId59"/>
    <p:sldId id="447" r:id="rId60"/>
    <p:sldId id="448" r:id="rId61"/>
    <p:sldId id="449" r:id="rId62"/>
    <p:sldId id="450" r:id="rId63"/>
    <p:sldId id="451" r:id="rId64"/>
    <p:sldId id="453" r:id="rId65"/>
    <p:sldId id="454" r:id="rId66"/>
    <p:sldId id="364" r:id="rId67"/>
    <p:sldId id="374" r:id="rId6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47" userDrawn="1">
          <p15:clr>
            <a:srgbClr val="A4A3A4"/>
          </p15:clr>
        </p15:guide>
        <p15:guide id="2" orient="horz" pos="913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7423" userDrawn="1">
          <p15:clr>
            <a:srgbClr val="A4A3A4"/>
          </p15:clr>
        </p15:guide>
        <p15:guide id="7" pos="4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7FF"/>
    <a:srgbClr val="00FF00"/>
    <a:srgbClr val="00FFFF"/>
    <a:srgbClr val="FFFF66"/>
    <a:srgbClr val="3C3C3C"/>
    <a:srgbClr val="76B531"/>
    <a:srgbClr val="507FCC"/>
    <a:srgbClr val="4E4F52"/>
    <a:srgbClr val="005A9B"/>
    <a:srgbClr val="F4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3" autoAdjust="0"/>
    <p:restoredTop sz="94248" autoAdjust="0"/>
  </p:normalViewPr>
  <p:slideViewPr>
    <p:cSldViewPr snapToGrid="0">
      <p:cViewPr varScale="1">
        <p:scale>
          <a:sx n="82" d="100"/>
          <a:sy n="82" d="100"/>
        </p:scale>
        <p:origin x="730" y="72"/>
      </p:cViewPr>
      <p:guideLst>
        <p:guide pos="347"/>
        <p:guide orient="horz" pos="913"/>
        <p:guide pos="257"/>
        <p:guide orient="horz" pos="663"/>
        <p:guide pos="7242"/>
        <p:guide pos="7423"/>
        <p:guide pos="41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DeeplabV3+</a:t>
            </a:r>
            <a:r>
              <a:rPr lang="en-US" sz="1300" baseline="0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vs Mask2former on </a:t>
            </a:r>
          </a:p>
          <a:p>
            <a:pPr>
              <a:defRPr/>
            </a:pPr>
            <a:r>
              <a:rPr lang="en-US" sz="1300" baseline="0" dirty="0">
                <a:solidFill>
                  <a:schemeClr val="tx2">
                    <a:lumMod val="85000"/>
                    <a:lumOff val="15000"/>
                  </a:schemeClr>
                </a:solidFill>
                <a:highlight>
                  <a:srgbClr val="FFFF66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Normal Weather (CS)</a:t>
            </a:r>
            <a:endParaRPr lang="en-IN" sz="1300" dirty="0">
              <a:solidFill>
                <a:schemeClr val="tx2">
                  <a:lumMod val="85000"/>
                  <a:lumOff val="15000"/>
                </a:schemeClr>
              </a:solidFill>
              <a:highlight>
                <a:srgbClr val="FFFF66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c:rich>
      </c:tx>
      <c:layout>
        <c:manualLayout>
          <c:xMode val="edge"/>
          <c:yMode val="edge"/>
          <c:x val="0.3783802611486346"/>
          <c:y val="1.01845692548704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DeeplabV3+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Trained on CS</c:v>
                </c:pt>
                <c:pt idx="1">
                  <c:v>CS + ACDC</c:v>
                </c:pt>
                <c:pt idx="2">
                  <c:v>(CS+ACDC)+ (WAS+TAS)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68.5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4-44FA-8F82-4599758C2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Mask2Former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2C6-4E69-9E1C-695B386D37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Trained on CS</c:v>
                </c:pt>
                <c:pt idx="1">
                  <c:v>CS + ACDC</c:v>
                </c:pt>
                <c:pt idx="2">
                  <c:v>(CS+ACDC)+ (WAS+TAS)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81.900000000000006</c:v>
                </c:pt>
                <c:pt idx="1">
                  <c:v>82</c:v>
                </c:pt>
                <c:pt idx="2">
                  <c:v>82.9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24-44FA-8F82-4599758C2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6477887"/>
        <c:axId val="1286473567"/>
      </c:barChart>
      <c:catAx>
        <c:axId val="128647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3567"/>
        <c:crosses val="autoZero"/>
        <c:auto val="1"/>
        <c:lblAlgn val="ctr"/>
        <c:lblOffset val="100"/>
        <c:noMultiLvlLbl val="0"/>
      </c:catAx>
      <c:valAx>
        <c:axId val="12864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</a:rPr>
                  <a:t>Miou %</a:t>
                </a:r>
                <a:endParaRPr lang="en-IN" b="1" dirty="0">
                  <a:solidFill>
                    <a:schemeClr val="tx2">
                      <a:lumMod val="85000"/>
                      <a:lumOff val="15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8.8471374339300302E-2"/>
              <c:y val="0.381824914423555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78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12700" cap="flat" cmpd="sng" algn="ctr">
            <a:solidFill>
              <a:schemeClr val="tx2">
                <a:lumMod val="85000"/>
                <a:lumOff val="1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DeeplabV3+</a:t>
            </a:r>
            <a:r>
              <a:rPr lang="en-US" sz="1300" baseline="0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vs Mask2former on </a:t>
            </a:r>
          </a:p>
          <a:p>
            <a:pPr>
              <a:defRPr/>
            </a:pPr>
            <a:r>
              <a:rPr lang="en-US" sz="1300" baseline="0" dirty="0">
                <a:solidFill>
                  <a:schemeClr val="tx2">
                    <a:lumMod val="85000"/>
                    <a:lumOff val="15000"/>
                  </a:schemeClr>
                </a:solidFill>
                <a:highlight>
                  <a:srgbClr val="FFFF66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Adverse Weather (ACDC)</a:t>
            </a:r>
            <a:endParaRPr lang="en-IN" sz="1300" dirty="0">
              <a:solidFill>
                <a:schemeClr val="tx2">
                  <a:lumMod val="85000"/>
                  <a:lumOff val="15000"/>
                </a:schemeClr>
              </a:solidFill>
              <a:highlight>
                <a:srgbClr val="FFFF66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c:rich>
      </c:tx>
      <c:layout>
        <c:manualLayout>
          <c:xMode val="edge"/>
          <c:yMode val="edge"/>
          <c:x val="0.36930627403691146"/>
          <c:y val="1.01845692548704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DeeplabV3+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Trained on CS</c:v>
                </c:pt>
                <c:pt idx="1">
                  <c:v>CS + ACDC</c:v>
                </c:pt>
                <c:pt idx="2">
                  <c:v>(CS+ACDC)+ (WAS+TAS)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62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F-41FA-9F1A-327207A8D9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Mask2Former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EDF-41FA-9F1A-327207A8D9B6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DF-41FA-9F1A-327207A8D9B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EDF-41FA-9F1A-327207A8D9B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Trained on CS</c:v>
                </c:pt>
                <c:pt idx="1">
                  <c:v>CS + ACDC</c:v>
                </c:pt>
                <c:pt idx="2">
                  <c:v>(CS+ACDC)+ (WAS+TAS)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</c:v>
                </c:pt>
                <c:pt idx="1">
                  <c:v>76.2</c:v>
                </c:pt>
                <c:pt idx="2">
                  <c:v>77.2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F-41FA-9F1A-327207A8D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6477887"/>
        <c:axId val="1286473567"/>
      </c:barChart>
      <c:catAx>
        <c:axId val="128647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3567"/>
        <c:crosses val="autoZero"/>
        <c:auto val="1"/>
        <c:lblAlgn val="ctr"/>
        <c:lblOffset val="100"/>
        <c:noMultiLvlLbl val="0"/>
      </c:catAx>
      <c:valAx>
        <c:axId val="12864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</a:rPr>
                  <a:t>Miou %</a:t>
                </a:r>
                <a:endParaRPr lang="en-IN" b="1" dirty="0">
                  <a:solidFill>
                    <a:schemeClr val="tx2">
                      <a:lumMod val="85000"/>
                      <a:lumOff val="15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8.8471374339300302E-2"/>
              <c:y val="0.381824914423555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78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12700" cap="flat" cmpd="sng" algn="ctr">
            <a:solidFill>
              <a:schemeClr val="tx2">
                <a:lumMod val="85000"/>
                <a:lumOff val="1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Baseline 1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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DeeplabV3+  Results on</a:t>
            </a:r>
            <a:r>
              <a:rPr lang="en-US" sz="1600" b="1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Different Training Styles</a:t>
            </a:r>
            <a:endParaRPr lang="en-IN" sz="1600" b="1" dirty="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c:rich>
      </c:tx>
      <c:layout>
        <c:manualLayout>
          <c:xMode val="edge"/>
          <c:yMode val="edge"/>
          <c:x val="0.28482390852577272"/>
          <c:y val="4.3769346890856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Sheet1!$A$2:$A$4</c:f>
              <c:strCache>
                <c:ptCount val="3"/>
                <c:pt idx="0">
                  <c:v>DeeplabV3+</c:v>
                </c:pt>
                <c:pt idx="1">
                  <c:v>DeeplabV3+</c:v>
                </c:pt>
                <c:pt idx="2">
                  <c:v>DeeplabV3+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71.5</c:v>
                </c:pt>
                <c:pt idx="1">
                  <c:v>68.5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4-44FA-8F82-4599758C2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Rain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Sheet1!$A$2:$A$4</c:f>
              <c:strCache>
                <c:ptCount val="3"/>
                <c:pt idx="0">
                  <c:v>DeeplabV3+</c:v>
                </c:pt>
                <c:pt idx="1">
                  <c:v>DeeplabV3+</c:v>
                </c:pt>
                <c:pt idx="2">
                  <c:v>DeeplabV3+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62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24-44FA-8F82-4599758C21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Fog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Sheet1!$A$2:$A$4</c:f>
              <c:strCache>
                <c:ptCount val="3"/>
                <c:pt idx="0">
                  <c:v>DeeplabV3+</c:v>
                </c:pt>
                <c:pt idx="1">
                  <c:v>DeeplabV3+</c:v>
                </c:pt>
                <c:pt idx="2">
                  <c:v>DeeplabV3+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47</c:v>
                </c:pt>
                <c:pt idx="1">
                  <c:v>73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24-44FA-8F82-4599758C21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Snow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Sheet1!$A$2:$A$4</c:f>
              <c:strCache>
                <c:ptCount val="3"/>
                <c:pt idx="0">
                  <c:v>DeeplabV3+</c:v>
                </c:pt>
                <c:pt idx="1">
                  <c:v>DeeplabV3+</c:v>
                </c:pt>
                <c:pt idx="2">
                  <c:v>DeeplabV3+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30</c:v>
                </c:pt>
                <c:pt idx="1">
                  <c:v>62</c:v>
                </c:pt>
                <c:pt idx="2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24-44FA-8F82-4599758C217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Night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100000"/>
                    <a:shade val="100000"/>
                    <a:satMod val="130000"/>
                  </a:schemeClr>
                </a:gs>
                <a:gs pos="100000">
                  <a:schemeClr val="accent5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DeeplabV3+</c:v>
                </c:pt>
                <c:pt idx="1">
                  <c:v>DeeplabV3+</c:v>
                </c:pt>
                <c:pt idx="2">
                  <c:v>DeeplabV3+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11</c:v>
                </c:pt>
                <c:pt idx="1">
                  <c:v>47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24-44FA-8F82-4599758C2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286477887"/>
        <c:axId val="1286473567"/>
      </c:barChart>
      <c:catAx>
        <c:axId val="128647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3567"/>
        <c:crosses val="autoZero"/>
        <c:auto val="1"/>
        <c:lblAlgn val="ctr"/>
        <c:lblOffset val="100"/>
        <c:noMultiLvlLbl val="0"/>
      </c:catAx>
      <c:valAx>
        <c:axId val="12864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</a:rPr>
                  <a:t>Miou %</a:t>
                </a:r>
                <a:endParaRPr lang="en-IN" sz="1400" b="1" dirty="0">
                  <a:solidFill>
                    <a:schemeClr val="tx2">
                      <a:lumMod val="85000"/>
                      <a:lumOff val="1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78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12700" cap="flat" cmpd="sng" algn="ctr">
            <a:solidFill>
              <a:schemeClr val="tx2">
                <a:lumMod val="85000"/>
                <a:lumOff val="1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Mask2Former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Results with</a:t>
            </a:r>
            <a:r>
              <a:rPr lang="en-US" sz="1600" b="1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Different Training Styles</a:t>
            </a:r>
            <a:endParaRPr lang="en-IN" sz="1600" b="1" dirty="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c:rich>
      </c:tx>
      <c:layout>
        <c:manualLayout>
          <c:xMode val="edge"/>
          <c:yMode val="edge"/>
          <c:x val="0.30000755766562925"/>
          <c:y val="1.67631765125422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Mask2former</c:v>
                </c:pt>
                <c:pt idx="1">
                  <c:v>Mask2former</c:v>
                </c:pt>
                <c:pt idx="2">
                  <c:v>Final Results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81.900000000000006</c:v>
                </c:pt>
                <c:pt idx="1">
                  <c:v>82</c:v>
                </c:pt>
                <c:pt idx="2">
                  <c:v>82.9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24-44FA-8F82-4599758C2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Rain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Mask2former</c:v>
                </c:pt>
                <c:pt idx="1">
                  <c:v>Mask2former</c:v>
                </c:pt>
                <c:pt idx="2">
                  <c:v>Final Results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</c:v>
                </c:pt>
                <c:pt idx="1">
                  <c:v>80.3</c:v>
                </c:pt>
                <c:pt idx="2">
                  <c:v>81.2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24-44FA-8F82-4599758C21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Fog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Mask2former</c:v>
                </c:pt>
                <c:pt idx="1">
                  <c:v>Mask2former</c:v>
                </c:pt>
                <c:pt idx="2">
                  <c:v>Final Results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</c:v>
                </c:pt>
                <c:pt idx="1">
                  <c:v>81.599999999999994</c:v>
                </c:pt>
                <c:pt idx="2">
                  <c:v>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24-44FA-8F82-4599758C217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Snow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Mask2former</c:v>
                </c:pt>
                <c:pt idx="1">
                  <c:v>Mask2former</c:v>
                </c:pt>
                <c:pt idx="2">
                  <c:v>Final Results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63</c:v>
                </c:pt>
                <c:pt idx="1">
                  <c:v>79.8</c:v>
                </c:pt>
                <c:pt idx="2">
                  <c:v>80.400000000000006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24-44FA-8F82-4599758C217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Night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100000"/>
                    <a:shade val="100000"/>
                    <a:satMod val="130000"/>
                  </a:schemeClr>
                </a:gs>
                <a:gs pos="100000">
                  <a:schemeClr val="accent5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Mask2former</c:v>
                </c:pt>
                <c:pt idx="1">
                  <c:v>Mask2former</c:v>
                </c:pt>
                <c:pt idx="2">
                  <c:v>Final Results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37</c:v>
                </c:pt>
                <c:pt idx="1">
                  <c:v>55.4</c:v>
                </c:pt>
                <c:pt idx="2">
                  <c:v>57.8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24-44FA-8F82-4599758C21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86477887"/>
        <c:axId val="1286473567"/>
      </c:barChart>
      <c:catAx>
        <c:axId val="128647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3567"/>
        <c:crosses val="autoZero"/>
        <c:auto val="1"/>
        <c:lblAlgn val="ctr"/>
        <c:lblOffset val="100"/>
        <c:noMultiLvlLbl val="0"/>
      </c:catAx>
      <c:valAx>
        <c:axId val="12864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</a:rPr>
                  <a:t>Miou %</a:t>
                </a:r>
                <a:endParaRPr lang="en-IN" sz="1400" b="1" dirty="0">
                  <a:solidFill>
                    <a:schemeClr val="tx2">
                      <a:lumMod val="85000"/>
                      <a:lumOff val="1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647788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12700" cap="flat" cmpd="sng" algn="ctr">
            <a:solidFill>
              <a:schemeClr val="tx2">
                <a:lumMod val="85000"/>
                <a:lumOff val="1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2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D3FB6-4FC7-4F1D-BFE1-BEE26E7CC1DA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D955-02F8-4FA9-B01B-853B90B85ADA}" type="slidenum">
              <a:rPr lang="de-DE" smtClean="0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B137-000E-6A22-8880-DBA6E964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DB112-AF4A-77F6-8127-D8698F607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C67E9-189A-367A-2012-6EA83D1DC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D2AF6-526B-22ED-99A1-E3692B1CE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D955-02F8-4FA9-B01B-853B90B85AD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29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0A3E6-9B0D-9658-60E0-DA7B3A9E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B980C-0E1B-69B9-F0F5-C7D4DE40E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3CD65-7AC1-3ACA-A45A-F61BD3B8428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14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D955-02F8-4FA9-B01B-853B90B85ADA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519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D955-02F8-4FA9-B01B-853B90B85ADA}" type="slidenum">
              <a:rPr lang="de-DE" smtClean="0"/>
              <a:t>28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/>
              <a:t>Untertitel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491893" y="4899114"/>
            <a:ext cx="573067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91896" y="3372108"/>
            <a:ext cx="5727729" cy="1527007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 b="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D2720-9E62-4A23-A20A-110B42B8453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D1AB-AECF-47BF-B26C-B3B59D95FE47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45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45" indent="360045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90" indent="360045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135" indent="360045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180" indent="360045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274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00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500038" y="5671509"/>
            <a:ext cx="5368925" cy="795856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866973" y="5688419"/>
            <a:ext cx="5730675" cy="6881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24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4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66973" y="5232806"/>
            <a:ext cx="5727729" cy="455613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 b="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 panose="020B0604020202020204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solidFill>
                  <a:srgbClr val="0058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rgbClr val="0076C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36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 panose="020B0604020202020204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 panose="020B0604020202020204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45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45" indent="360045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90" indent="360045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135" indent="360045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180" indent="360045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45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45" indent="360045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90" indent="360045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135" indent="360045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180" indent="360045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 panose="020B0604020202020204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45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45" indent="360045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90" indent="360045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135" indent="360045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180" indent="360045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 panose="020B0604020202020204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 panose="020B060402020202020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45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45" indent="360045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90" indent="360045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135" indent="360045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180" indent="360045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 panose="020B060402020202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500038" y="5671509"/>
            <a:ext cx="5368925" cy="795856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866973" y="5688419"/>
            <a:ext cx="5730675" cy="68817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24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/>
              <a:t>Untertitel durch Klicken bearbeiten</a:t>
            </a:r>
          </a:p>
        </p:txBody>
      </p:sp>
      <p:sp>
        <p:nvSpPr>
          <p:cNvPr id="4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66973" y="5232806"/>
            <a:ext cx="5727729" cy="455613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 b="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Titel durch Klicken bearbeiten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7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6" name="Grafik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684" y="670573"/>
            <a:ext cx="3317554" cy="1945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9" r:id="rId4"/>
    <p:sldLayoutId id="2147483670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11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6" name="Grafik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684" y="670573"/>
            <a:ext cx="3317554" cy="1945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/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 panose="020B0604020202020204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/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 panose="020B0604020202020204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t>‹#›</a:t>
            </a:fld>
            <a:endParaRPr lang="de-DE"/>
          </a:p>
        </p:txBody>
      </p:sp>
      <p:pic>
        <p:nvPicPr>
          <p:cNvPr id="2055" name="Bild 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213"/>
          <a:stretch>
            <a:fillRect/>
          </a:stretch>
        </p:blipFill>
        <p:spPr bwMode="auto">
          <a:xfrm>
            <a:off x="0" y="0"/>
            <a:ext cx="438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Textfeld 13"/>
          <p:cNvSpPr txBox="1">
            <a:spLocks noChangeArrowheads="1"/>
          </p:cNvSpPr>
          <p:nvPr/>
        </p:nvSpPr>
        <p:spPr bwMode="auto">
          <a:xfrm>
            <a:off x="633413" y="6627813"/>
            <a:ext cx="82248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de-DE" sz="800"/>
              <a:t> Technische Hochschule Ingolstadt , IIMO  |   Name |   Semester |   15.09.2020</a:t>
            </a:r>
          </a:p>
          <a:p>
            <a:endParaRPr lang="de-DE" sz="800"/>
          </a:p>
        </p:txBody>
      </p:sp>
      <p:pic>
        <p:nvPicPr>
          <p:cNvPr id="9" name="Grafik 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728" y="238736"/>
            <a:ext cx="2369001" cy="10400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indent="358775" algn="l" defTabSz="457200" rtl="0" eaLnBrk="1" fontAlgn="base" hangingPunct="1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5"/>
        </a:buBlip>
        <a:defRPr b="1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358775" indent="358775" algn="l" defTabSz="457200" rtl="0" eaLnBrk="1" fontAlgn="base" hangingPunct="1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5"/>
        </a:buBlip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719455" indent="358775" algn="l" defTabSz="457200" rtl="0" eaLnBrk="1" fontAlgn="base" hangingPunct="1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5"/>
        </a:buBlip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079500" indent="358775" algn="l" defTabSz="457200" rtl="0" eaLnBrk="1" fontAlgn="base" hangingPunct="1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5"/>
        </a:buBlip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1440180" indent="358775" algn="l" defTabSz="457200" rtl="0" eaLnBrk="1" fontAlgn="base" hangingPunct="1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5"/>
        </a:buBlip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arxiv.org/abs/2210.05626" TargetMode="Externa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emf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emf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1.jpe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8.jpe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png"/><Relationship Id="rId24" Type="http://schemas.openxmlformats.org/officeDocument/2006/relationships/image" Target="../media/image51.png"/><Relationship Id="rId5" Type="http://schemas.openxmlformats.org/officeDocument/2006/relationships/image" Target="../media/image33.jpeg"/><Relationship Id="rId15" Type="http://schemas.openxmlformats.org/officeDocument/2006/relationships/image" Target="../media/image29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8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611755" y="4136891"/>
            <a:ext cx="5727729" cy="1595316"/>
          </a:xfrm>
        </p:spPr>
        <p:txBody>
          <a:bodyPr/>
          <a:lstStyle/>
          <a:p>
            <a:pPr lvl="0" algn="l" defTabSz="4572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Presenter:</a:t>
            </a:r>
            <a:r>
              <a:rPr lang="en-IN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en-IN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Shiv Chaudhary</a:t>
            </a:r>
          </a:p>
          <a:p>
            <a:pPr lvl="0" algn="l" defTabSz="4572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First Examiner : </a:t>
            </a:r>
            <a:r>
              <a:rPr lang="en-US" altLang="en-US" b="0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Prof. Dr. Gordon Elger</a:t>
            </a:r>
          </a:p>
          <a:p>
            <a:pPr lvl="0" algn="l" defTabSz="4572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Second Examiner </a:t>
            </a:r>
            <a:r>
              <a:rPr lang="en-US" altLang="en-US" b="0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:Prof. Dr. </a:t>
            </a:r>
            <a:r>
              <a:rPr lang="en-US" altLang="en-US" b="0" i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rer</a:t>
            </a:r>
            <a:r>
              <a:rPr lang="en-US" altLang="en-US" b="0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. nat. Armin Arnold</a:t>
            </a:r>
          </a:p>
          <a:p>
            <a:pPr lvl="0" algn="l" defTabSz="4572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Supervisor : </a:t>
            </a:r>
            <a:r>
              <a:rPr lang="en-US" altLang="en-US" b="0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Zhiran Yan, </a:t>
            </a:r>
            <a:r>
              <a:rPr lang="en-US" altLang="en-US" b="0" i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M.Sc</a:t>
            </a:r>
            <a:endParaRPr lang="en-IN" b="0" i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Calibri" panose="020F0502020204030204" pitchFamily="34" charset="0"/>
            </a:endParaRPr>
          </a:p>
          <a:p>
            <a:pPr lvl="0" algn="l" defTabSz="45720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en-US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Presentation Date: </a:t>
            </a:r>
            <a:r>
              <a:rPr lang="en-US" altLang="en-US" b="0" i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10.10.2025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923894" y="3018347"/>
            <a:ext cx="6631900" cy="1044000"/>
          </a:xfrm>
          <a:prstGeom prst="parallelogram">
            <a:avLst>
              <a:gd name="adj" fmla="val 27476"/>
            </a:avLst>
          </a:prstGeom>
          <a:solidFill>
            <a:srgbClr val="EDF7FF"/>
          </a:solidFill>
          <a:ln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Transformer-Based Semantic Segmentation </a:t>
            </a:r>
            <a:br>
              <a:rPr lang="en-US" sz="1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Autonomous Driving in Adverse Weather Conditions Using Weather and Time Aware Supervision</a:t>
            </a:r>
            <a:endParaRPr lang="en-US" sz="1600" b="1">
              <a:solidFill>
                <a:schemeClr val="accent5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F29864-CFB7-280D-64D5-5E9238161017}"/>
              </a:ext>
            </a:extLst>
          </p:cNvPr>
          <p:cNvSpPr/>
          <p:nvPr/>
        </p:nvSpPr>
        <p:spPr>
          <a:xfrm>
            <a:off x="12192000" y="2458065"/>
            <a:ext cx="973394" cy="1936954"/>
          </a:xfrm>
          <a:prstGeom prst="rect">
            <a:avLst/>
          </a:prstGeom>
          <a:solidFill>
            <a:srgbClr val="4E4F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8E14-2763-1D38-506D-38A68DC9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7A46C-1372-B625-AE0C-363537DA6D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2</a:t>
            </a:fld>
            <a:endParaRPr lang="de-DE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C156692-21BB-F733-F319-275EB3C12627}"/>
              </a:ext>
            </a:extLst>
          </p:cNvPr>
          <p:cNvSpPr/>
          <p:nvPr/>
        </p:nvSpPr>
        <p:spPr>
          <a:xfrm>
            <a:off x="8738095" y="1598901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6142E75-8206-456E-8052-24AD3575D649}"/>
              </a:ext>
            </a:extLst>
          </p:cNvPr>
          <p:cNvSpPr/>
          <p:nvPr/>
        </p:nvSpPr>
        <p:spPr>
          <a:xfrm>
            <a:off x="3282427" y="1556764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4A2DEFA8-13DD-817B-CF6B-87592781BFFA}"/>
              </a:ext>
            </a:extLst>
          </p:cNvPr>
          <p:cNvSpPr txBox="1"/>
          <p:nvPr/>
        </p:nvSpPr>
        <p:spPr>
          <a:xfrm>
            <a:off x="3981007" y="1841383"/>
            <a:ext cx="4976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Section 1: </a:t>
            </a:r>
            <a:r>
              <a:rPr lang="en-IN" sz="2000" b="1">
                <a:solidFill>
                  <a:srgbClr val="005A9B"/>
                </a:solidFill>
                <a:latin typeface="Roboto"/>
              </a:rPr>
              <a:t>The Problem &amp; Motivation</a:t>
            </a:r>
          </a:p>
          <a:p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9B4F3BE5-4B6C-44C8-456D-B24C984EB052}"/>
              </a:ext>
            </a:extLst>
          </p:cNvPr>
          <p:cNvSpPr/>
          <p:nvPr/>
        </p:nvSpPr>
        <p:spPr>
          <a:xfrm>
            <a:off x="8738095" y="2776975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B7641211-A971-5A16-CD37-58D89F0FDC45}"/>
              </a:ext>
            </a:extLst>
          </p:cNvPr>
          <p:cNvSpPr/>
          <p:nvPr/>
        </p:nvSpPr>
        <p:spPr>
          <a:xfrm>
            <a:off x="3282427" y="2734838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E52034BE-33FB-7CA8-A59E-666D78569FF7}"/>
              </a:ext>
            </a:extLst>
          </p:cNvPr>
          <p:cNvGrpSpPr/>
          <p:nvPr/>
        </p:nvGrpSpPr>
        <p:grpSpPr>
          <a:xfrm>
            <a:off x="2715881" y="2734838"/>
            <a:ext cx="969348" cy="969348"/>
            <a:chOff x="2715881" y="2734838"/>
            <a:chExt cx="969348" cy="969348"/>
          </a:xfrm>
        </p:grpSpPr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396B0383-ACEA-8C10-6241-DD40588D1314}"/>
                </a:ext>
              </a:extLst>
            </p:cNvPr>
            <p:cNvSpPr/>
            <p:nvPr/>
          </p:nvSpPr>
          <p:spPr>
            <a:xfrm>
              <a:off x="2715881" y="2734838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208AE2B6-07E5-3D98-F7CC-A13CB0999DE4}"/>
                </a:ext>
              </a:extLst>
            </p:cNvPr>
            <p:cNvSpPr/>
            <p:nvPr/>
          </p:nvSpPr>
          <p:spPr>
            <a:xfrm>
              <a:off x="2777897" y="2796854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51" name="TextBox 1050">
            <a:extLst>
              <a:ext uri="{FF2B5EF4-FFF2-40B4-BE49-F238E27FC236}">
                <a16:creationId xmlns:a16="http://schemas.microsoft.com/office/drawing/2014/main" id="{F3EB12AB-A666-814B-B1A7-9FDE7AC00521}"/>
              </a:ext>
            </a:extLst>
          </p:cNvPr>
          <p:cNvSpPr txBox="1"/>
          <p:nvPr/>
        </p:nvSpPr>
        <p:spPr>
          <a:xfrm>
            <a:off x="3981007" y="3019457"/>
            <a:ext cx="4695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Section 2 : Our Proposed  Method</a:t>
            </a: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FC82F876-F958-AE56-D7B4-D650FD954083}"/>
              </a:ext>
            </a:extLst>
          </p:cNvPr>
          <p:cNvSpPr/>
          <p:nvPr/>
        </p:nvSpPr>
        <p:spPr>
          <a:xfrm>
            <a:off x="8738095" y="3955049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463F53D6-B477-BF70-DF4D-C813647CC4F8}"/>
              </a:ext>
            </a:extLst>
          </p:cNvPr>
          <p:cNvSpPr/>
          <p:nvPr/>
        </p:nvSpPr>
        <p:spPr>
          <a:xfrm>
            <a:off x="3282427" y="3912912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85AE5AC2-4B67-6DB9-387C-4ECA646B7136}"/>
              </a:ext>
            </a:extLst>
          </p:cNvPr>
          <p:cNvGrpSpPr/>
          <p:nvPr/>
        </p:nvGrpSpPr>
        <p:grpSpPr>
          <a:xfrm>
            <a:off x="2715881" y="3912912"/>
            <a:ext cx="969348" cy="969348"/>
            <a:chOff x="2715881" y="3912912"/>
            <a:chExt cx="969348" cy="969348"/>
          </a:xfrm>
        </p:grpSpPr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DF1C1420-AA68-0F58-9E99-6348F9788E05}"/>
                </a:ext>
              </a:extLst>
            </p:cNvPr>
            <p:cNvSpPr/>
            <p:nvPr/>
          </p:nvSpPr>
          <p:spPr>
            <a:xfrm>
              <a:off x="2715881" y="3912912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82D85E5C-4090-D26C-72FD-6BFBB6B4CDE0}"/>
                </a:ext>
              </a:extLst>
            </p:cNvPr>
            <p:cNvSpPr/>
            <p:nvPr/>
          </p:nvSpPr>
          <p:spPr>
            <a:xfrm>
              <a:off x="2777897" y="3974928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13DF289-A07C-86C3-05E2-B465CAA907D2}"/>
              </a:ext>
            </a:extLst>
          </p:cNvPr>
          <p:cNvSpPr txBox="1"/>
          <p:nvPr/>
        </p:nvSpPr>
        <p:spPr>
          <a:xfrm>
            <a:off x="3981008" y="4197531"/>
            <a:ext cx="4397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Section 3 : Results &amp; Evaluation</a:t>
            </a:r>
          </a:p>
        </p:txBody>
      </p:sp>
      <p:sp>
        <p:nvSpPr>
          <p:cNvPr id="1060" name="Rectangle: Rounded Corners 1059">
            <a:extLst>
              <a:ext uri="{FF2B5EF4-FFF2-40B4-BE49-F238E27FC236}">
                <a16:creationId xmlns:a16="http://schemas.microsoft.com/office/drawing/2014/main" id="{E9A0E735-B5EE-0287-261E-3F3C06EF55BF}"/>
              </a:ext>
            </a:extLst>
          </p:cNvPr>
          <p:cNvSpPr/>
          <p:nvPr/>
        </p:nvSpPr>
        <p:spPr>
          <a:xfrm>
            <a:off x="8796415" y="5133124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5008F10C-2B10-8BDD-B607-B5A9BA14AB00}"/>
              </a:ext>
            </a:extLst>
          </p:cNvPr>
          <p:cNvSpPr/>
          <p:nvPr/>
        </p:nvSpPr>
        <p:spPr>
          <a:xfrm>
            <a:off x="3340747" y="5090987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316B5330-ED2D-D25B-52CF-99506A8C38B9}"/>
              </a:ext>
            </a:extLst>
          </p:cNvPr>
          <p:cNvGrpSpPr/>
          <p:nvPr/>
        </p:nvGrpSpPr>
        <p:grpSpPr>
          <a:xfrm>
            <a:off x="2774201" y="5090987"/>
            <a:ext cx="969348" cy="969348"/>
            <a:chOff x="2774201" y="5090987"/>
            <a:chExt cx="969348" cy="969348"/>
          </a:xfrm>
        </p:grpSpPr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FEE9120F-A621-C4A9-21CD-3BCABA9AC4E1}"/>
                </a:ext>
              </a:extLst>
            </p:cNvPr>
            <p:cNvSpPr/>
            <p:nvPr/>
          </p:nvSpPr>
          <p:spPr>
            <a:xfrm>
              <a:off x="2774201" y="5090987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D0CD8CE8-9716-00EB-F17F-EC3661ACECC0}"/>
                </a:ext>
              </a:extLst>
            </p:cNvPr>
            <p:cNvSpPr/>
            <p:nvPr/>
          </p:nvSpPr>
          <p:spPr>
            <a:xfrm>
              <a:off x="2836217" y="5153003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65" name="TextBox 1064">
            <a:extLst>
              <a:ext uri="{FF2B5EF4-FFF2-40B4-BE49-F238E27FC236}">
                <a16:creationId xmlns:a16="http://schemas.microsoft.com/office/drawing/2014/main" id="{B87245EC-A3D8-9034-8FB9-3F74B1365499}"/>
              </a:ext>
            </a:extLst>
          </p:cNvPr>
          <p:cNvSpPr txBox="1"/>
          <p:nvPr/>
        </p:nvSpPr>
        <p:spPr>
          <a:xfrm>
            <a:off x="3981008" y="5375606"/>
            <a:ext cx="4597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Section 4 : Ablation &amp; Conclusion</a:t>
            </a:r>
          </a:p>
        </p:txBody>
      </p:sp>
      <p:pic>
        <p:nvPicPr>
          <p:cNvPr id="1068" name="Picture 8" descr="Search">
            <a:extLst>
              <a:ext uri="{FF2B5EF4-FFF2-40B4-BE49-F238E27FC236}">
                <a16:creationId xmlns:a16="http://schemas.microsoft.com/office/drawing/2014/main" id="{3AF23CCB-850D-BC9D-A4BC-C7D3994B4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005A9B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42499" y="5375606"/>
            <a:ext cx="482727" cy="48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10" descr="Evaluation">
            <a:extLst>
              <a:ext uri="{FF2B5EF4-FFF2-40B4-BE49-F238E27FC236}">
                <a16:creationId xmlns:a16="http://schemas.microsoft.com/office/drawing/2014/main" id="{3ABDE844-89CA-8D0F-9B90-6B97C3395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161" y="4176337"/>
            <a:ext cx="484811" cy="48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12" descr="Enhance ">
            <a:extLst>
              <a:ext uri="{FF2B5EF4-FFF2-40B4-BE49-F238E27FC236}">
                <a16:creationId xmlns:a16="http://schemas.microsoft.com/office/drawing/2014/main" id="{F82B5260-A492-07C1-E026-2C82A7717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549" y="2935568"/>
            <a:ext cx="531875" cy="5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96BBCF94-53C6-C9D9-E310-1091938A56F9}"/>
              </a:ext>
            </a:extLst>
          </p:cNvPr>
          <p:cNvGrpSpPr/>
          <p:nvPr/>
        </p:nvGrpSpPr>
        <p:grpSpPr>
          <a:xfrm>
            <a:off x="2715881" y="1556764"/>
            <a:ext cx="969348" cy="969348"/>
            <a:chOff x="2715881" y="1556764"/>
            <a:chExt cx="969348" cy="969348"/>
          </a:xfrm>
        </p:grpSpPr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BB21EF88-C65E-C8AA-A9E4-81885C1D7F10}"/>
                </a:ext>
              </a:extLst>
            </p:cNvPr>
            <p:cNvGrpSpPr/>
            <p:nvPr/>
          </p:nvGrpSpPr>
          <p:grpSpPr>
            <a:xfrm>
              <a:off x="2715881" y="1556764"/>
              <a:ext cx="969348" cy="969348"/>
              <a:chOff x="2715881" y="1556764"/>
              <a:chExt cx="969348" cy="969348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A2522B1-408E-01CE-3ABE-CA1C58C0E6AB}"/>
                  </a:ext>
                </a:extLst>
              </p:cNvPr>
              <p:cNvSpPr/>
              <p:nvPr/>
            </p:nvSpPr>
            <p:spPr>
              <a:xfrm>
                <a:off x="2715881" y="1556764"/>
                <a:ext cx="969348" cy="969348"/>
              </a:xfrm>
              <a:prstGeom prst="ellipse">
                <a:avLst/>
              </a:prstGeom>
              <a:solidFill>
                <a:srgbClr val="4E88E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85C8114-CA86-B498-C829-E4BDD6521146}"/>
                  </a:ext>
                </a:extLst>
              </p:cNvPr>
              <p:cNvSpPr/>
              <p:nvPr/>
            </p:nvSpPr>
            <p:spPr>
              <a:xfrm>
                <a:off x="2777897" y="1618780"/>
                <a:ext cx="845316" cy="8453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800" b="1">
                  <a:solidFill>
                    <a:srgbClr val="005A9B"/>
                  </a:solidFill>
                </a:endParaRPr>
              </a:p>
            </p:txBody>
          </p:sp>
        </p:grpSp>
        <p:pic>
          <p:nvPicPr>
            <p:cNvPr id="1072" name="Picture 16" descr="Identification ">
              <a:extLst>
                <a:ext uri="{FF2B5EF4-FFF2-40B4-BE49-F238E27FC236}">
                  <a16:creationId xmlns:a16="http://schemas.microsoft.com/office/drawing/2014/main" id="{22939DDA-19A6-D741-D3B9-4095A682DC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193" y="1797951"/>
              <a:ext cx="478668" cy="478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el 2">
            <a:extLst>
              <a:ext uri="{FF2B5EF4-FFF2-40B4-BE49-F238E27FC236}">
                <a16:creationId xmlns:a16="http://schemas.microsoft.com/office/drawing/2014/main" id="{E5C09BD3-A83F-74A4-FAA0-EC23BFABF6E3}"/>
              </a:ext>
            </a:extLst>
          </p:cNvPr>
          <p:cNvSpPr txBox="1">
            <a:spLocks/>
          </p:cNvSpPr>
          <p:nvPr/>
        </p:nvSpPr>
        <p:spPr bwMode="auto">
          <a:xfrm>
            <a:off x="393600" y="419875"/>
            <a:ext cx="9753600" cy="3335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>
              <a:lnSpc>
                <a:spcPct val="90000"/>
              </a:lnSpc>
            </a:pPr>
            <a:br>
              <a:rPr lang="en-IN" sz="2000" b="1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000" b="1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Presentation Structure</a:t>
            </a:r>
            <a:br>
              <a:rPr lang="en-IN" sz="2000" b="1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de-DE" sz="2000" b="1" ker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822D29DC-64C4-0185-1CDE-76D5C66A4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59358"/>
            <a:ext cx="9753600" cy="342054"/>
          </a:xfrm>
        </p:spPr>
        <p:txBody>
          <a:bodyPr wrap="square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Organized into Four Key Sections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de-DE" sz="1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50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5C08-C698-46D3-7485-9AC7FA6E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238D1-4AD1-416B-698E-6000627B62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</a:t>
            </a:fld>
            <a:endParaRPr lang="de-D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C55970-BFF3-88FB-5895-D2DD866D4947}"/>
              </a:ext>
            </a:extLst>
          </p:cNvPr>
          <p:cNvSpPr/>
          <p:nvPr/>
        </p:nvSpPr>
        <p:spPr>
          <a:xfrm>
            <a:off x="10607883" y="4798230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830CF8-8EB9-B647-A302-01564E30AA86}"/>
              </a:ext>
            </a:extLst>
          </p:cNvPr>
          <p:cNvSpPr/>
          <p:nvPr/>
        </p:nvSpPr>
        <p:spPr>
          <a:xfrm>
            <a:off x="5152215" y="4756093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1FAC4A-1040-302B-9141-C59AAE11952B}"/>
              </a:ext>
            </a:extLst>
          </p:cNvPr>
          <p:cNvGrpSpPr/>
          <p:nvPr/>
        </p:nvGrpSpPr>
        <p:grpSpPr>
          <a:xfrm>
            <a:off x="4585669" y="4756093"/>
            <a:ext cx="969348" cy="969348"/>
            <a:chOff x="2715881" y="3912912"/>
            <a:chExt cx="969348" cy="96934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28C939C-308B-EBB7-C9A3-B39B0D8E1D76}"/>
                </a:ext>
              </a:extLst>
            </p:cNvPr>
            <p:cNvSpPr/>
            <p:nvPr/>
          </p:nvSpPr>
          <p:spPr>
            <a:xfrm>
              <a:off x="2715881" y="3912912"/>
              <a:ext cx="969348" cy="969348"/>
            </a:xfrm>
            <a:prstGeom prst="ellipse">
              <a:avLst/>
            </a:prstGeom>
            <a:solidFill>
              <a:srgbClr val="507F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C423216-1B84-BE28-B078-0E8732332457}"/>
                </a:ext>
              </a:extLst>
            </p:cNvPr>
            <p:cNvSpPr/>
            <p:nvPr/>
          </p:nvSpPr>
          <p:spPr>
            <a:xfrm>
              <a:off x="2777897" y="3974928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B2DB2DE-EAE3-D41D-21A9-350AE8260F1C}"/>
              </a:ext>
            </a:extLst>
          </p:cNvPr>
          <p:cNvSpPr txBox="1"/>
          <p:nvPr/>
        </p:nvSpPr>
        <p:spPr>
          <a:xfrm>
            <a:off x="5850796" y="5040712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3 : Thesis Goals</a:t>
            </a:r>
          </a:p>
        </p:txBody>
      </p:sp>
      <p:pic>
        <p:nvPicPr>
          <p:cNvPr id="28" name="Picture 10" descr="Evaluation">
            <a:extLst>
              <a:ext uri="{FF2B5EF4-FFF2-40B4-BE49-F238E27FC236}">
                <a16:creationId xmlns:a16="http://schemas.microsoft.com/office/drawing/2014/main" id="{A0C86CB0-6209-2D95-0451-B50700EF6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949" y="5019518"/>
            <a:ext cx="484811" cy="48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9EB487-99B2-209A-E374-84CE8059CCE7}"/>
              </a:ext>
            </a:extLst>
          </p:cNvPr>
          <p:cNvSpPr/>
          <p:nvPr/>
        </p:nvSpPr>
        <p:spPr>
          <a:xfrm>
            <a:off x="10607883" y="3247303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BFB240-C871-77DF-6D34-8D01DD23BBAA}"/>
              </a:ext>
            </a:extLst>
          </p:cNvPr>
          <p:cNvSpPr/>
          <p:nvPr/>
        </p:nvSpPr>
        <p:spPr>
          <a:xfrm>
            <a:off x="5152215" y="3205166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69E643-131F-A8C9-85F3-7FC2F4DB9718}"/>
              </a:ext>
            </a:extLst>
          </p:cNvPr>
          <p:cNvGrpSpPr/>
          <p:nvPr/>
        </p:nvGrpSpPr>
        <p:grpSpPr>
          <a:xfrm>
            <a:off x="4585669" y="3205166"/>
            <a:ext cx="969348" cy="969348"/>
            <a:chOff x="2715881" y="2734838"/>
            <a:chExt cx="969348" cy="96934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C9C2A8-8B2E-89B7-A816-35238DB59B7F}"/>
                </a:ext>
              </a:extLst>
            </p:cNvPr>
            <p:cNvSpPr/>
            <p:nvPr/>
          </p:nvSpPr>
          <p:spPr>
            <a:xfrm>
              <a:off x="2715881" y="2734838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B0A1F01-263C-6C18-1402-C7A245AEA03C}"/>
                </a:ext>
              </a:extLst>
            </p:cNvPr>
            <p:cNvSpPr/>
            <p:nvPr/>
          </p:nvSpPr>
          <p:spPr>
            <a:xfrm>
              <a:off x="2777897" y="2796854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45D88BF-E1C5-6742-461B-F48D2B3D8147}"/>
              </a:ext>
            </a:extLst>
          </p:cNvPr>
          <p:cNvSpPr txBox="1"/>
          <p:nvPr/>
        </p:nvSpPr>
        <p:spPr>
          <a:xfrm>
            <a:off x="5850796" y="3489785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2 : Key Challenges </a:t>
            </a:r>
          </a:p>
        </p:txBody>
      </p:sp>
      <p:pic>
        <p:nvPicPr>
          <p:cNvPr id="29" name="Picture 12" descr="Enhance ">
            <a:extLst>
              <a:ext uri="{FF2B5EF4-FFF2-40B4-BE49-F238E27FC236}">
                <a16:creationId xmlns:a16="http://schemas.microsoft.com/office/drawing/2014/main" id="{243AEE73-5840-403C-74BC-B7793B1C4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337" y="3405896"/>
            <a:ext cx="531875" cy="5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1237B3-4F4A-ED79-21A1-28DFFE606305}"/>
              </a:ext>
            </a:extLst>
          </p:cNvPr>
          <p:cNvSpPr/>
          <p:nvPr/>
        </p:nvSpPr>
        <p:spPr>
          <a:xfrm>
            <a:off x="10607883" y="1696376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6461C5-512C-B8B5-A8FE-EBCB52EA18E0}"/>
              </a:ext>
            </a:extLst>
          </p:cNvPr>
          <p:cNvSpPr/>
          <p:nvPr/>
        </p:nvSpPr>
        <p:spPr>
          <a:xfrm>
            <a:off x="5152215" y="1654239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5DD89-A86E-2265-70C7-E4750FC58DE9}"/>
              </a:ext>
            </a:extLst>
          </p:cNvPr>
          <p:cNvSpPr txBox="1"/>
          <p:nvPr/>
        </p:nvSpPr>
        <p:spPr>
          <a:xfrm>
            <a:off x="5850796" y="1938858"/>
            <a:ext cx="4397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 1 : Problem Statement</a:t>
            </a:r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47581F8-A9B6-606B-E2D4-B99FAA814629}"/>
              </a:ext>
            </a:extLst>
          </p:cNvPr>
          <p:cNvGrpSpPr/>
          <p:nvPr/>
        </p:nvGrpSpPr>
        <p:grpSpPr>
          <a:xfrm>
            <a:off x="4585669" y="1654239"/>
            <a:ext cx="969348" cy="969348"/>
            <a:chOff x="2715881" y="1556764"/>
            <a:chExt cx="969348" cy="96934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B66C76F-41C0-7D9E-F641-5D147EE7D5D7}"/>
                </a:ext>
              </a:extLst>
            </p:cNvPr>
            <p:cNvGrpSpPr/>
            <p:nvPr/>
          </p:nvGrpSpPr>
          <p:grpSpPr>
            <a:xfrm>
              <a:off x="2715881" y="1556764"/>
              <a:ext cx="969348" cy="969348"/>
              <a:chOff x="2715881" y="1556764"/>
              <a:chExt cx="969348" cy="96934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976E22E-71E8-0111-E198-508B72AAF1E5}"/>
                  </a:ext>
                </a:extLst>
              </p:cNvPr>
              <p:cNvSpPr/>
              <p:nvPr/>
            </p:nvSpPr>
            <p:spPr>
              <a:xfrm>
                <a:off x="2715881" y="1556764"/>
                <a:ext cx="969348" cy="969348"/>
              </a:xfrm>
              <a:prstGeom prst="ellipse">
                <a:avLst/>
              </a:prstGeom>
              <a:solidFill>
                <a:srgbClr val="507FCC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C13E92A-BDB0-3AFC-ED8A-A33817556FAF}"/>
                  </a:ext>
                </a:extLst>
              </p:cNvPr>
              <p:cNvSpPr/>
              <p:nvPr/>
            </p:nvSpPr>
            <p:spPr>
              <a:xfrm>
                <a:off x="2777897" y="1618780"/>
                <a:ext cx="845316" cy="8453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800" b="1">
                  <a:solidFill>
                    <a:srgbClr val="005A9B"/>
                  </a:solidFill>
                </a:endParaRPr>
              </a:p>
            </p:txBody>
          </p:sp>
        </p:grpSp>
        <p:pic>
          <p:nvPicPr>
            <p:cNvPr id="32" name="Picture 16" descr="Identification ">
              <a:extLst>
                <a:ext uri="{FF2B5EF4-FFF2-40B4-BE49-F238E27FC236}">
                  <a16:creationId xmlns:a16="http://schemas.microsoft.com/office/drawing/2014/main" id="{A3CC8123-91A5-8184-10FD-FE18538A3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193" y="1797951"/>
              <a:ext cx="478668" cy="478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A155518-0E36-7DAE-C712-E723F210A36C}"/>
              </a:ext>
            </a:extLst>
          </p:cNvPr>
          <p:cNvGrpSpPr/>
          <p:nvPr/>
        </p:nvGrpSpPr>
        <p:grpSpPr>
          <a:xfrm>
            <a:off x="603745" y="3226233"/>
            <a:ext cx="3331495" cy="927214"/>
            <a:chOff x="444092" y="3372792"/>
            <a:chExt cx="3331495" cy="9272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C934F5-0A89-D104-DCF3-425A540588F5}"/>
                </a:ext>
              </a:extLst>
            </p:cNvPr>
            <p:cNvGrpSpPr/>
            <p:nvPr/>
          </p:nvGrpSpPr>
          <p:grpSpPr>
            <a:xfrm>
              <a:off x="869952" y="3373020"/>
              <a:ext cx="2905635" cy="926986"/>
              <a:chOff x="-2146530" y="2798298"/>
              <a:chExt cx="6135372" cy="969349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B0EED4C0-192E-513F-7359-D5DDCC00BE8C}"/>
                  </a:ext>
                </a:extLst>
              </p:cNvPr>
              <p:cNvSpPr/>
              <p:nvPr/>
            </p:nvSpPr>
            <p:spPr>
              <a:xfrm>
                <a:off x="3309138" y="2840433"/>
                <a:ext cx="679704" cy="885075"/>
              </a:xfrm>
              <a:prstGeom prst="roundRect">
                <a:avLst/>
              </a:prstGeom>
              <a:solidFill>
                <a:srgbClr val="95BD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226B317-E9A7-27A6-D9F3-AEE63E50A6D5}"/>
                  </a:ext>
                </a:extLst>
              </p:cNvPr>
              <p:cNvSpPr/>
              <p:nvPr/>
            </p:nvSpPr>
            <p:spPr>
              <a:xfrm>
                <a:off x="-2146530" y="2798298"/>
                <a:ext cx="6043431" cy="969349"/>
              </a:xfrm>
              <a:prstGeom prst="roundRect">
                <a:avLst>
                  <a:gd name="adj" fmla="val 302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1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8205BC-C3A9-71FF-BFAE-0F0C2597AD43}"/>
                  </a:ext>
                </a:extLst>
              </p:cNvPr>
              <p:cNvSpPr txBox="1"/>
              <p:nvPr/>
            </p:nvSpPr>
            <p:spPr>
              <a:xfrm>
                <a:off x="-1262271" y="2926658"/>
                <a:ext cx="5191160" cy="611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Section 1</a:t>
                </a:r>
              </a:p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Problem &amp; Motivation</a:t>
                </a:r>
                <a:endParaRPr lang="en-IN" sz="16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D42238-F044-3C7B-D6BD-58DA40CF2C08}"/>
                </a:ext>
              </a:extLst>
            </p:cNvPr>
            <p:cNvGrpSpPr/>
            <p:nvPr/>
          </p:nvGrpSpPr>
          <p:grpSpPr>
            <a:xfrm>
              <a:off x="444092" y="3372792"/>
              <a:ext cx="900000" cy="900000"/>
              <a:chOff x="2715881" y="1556764"/>
              <a:chExt cx="969348" cy="96934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D53FFBB-5729-87D3-31C5-D56F98805E3F}"/>
                  </a:ext>
                </a:extLst>
              </p:cNvPr>
              <p:cNvGrpSpPr/>
              <p:nvPr/>
            </p:nvGrpSpPr>
            <p:grpSpPr>
              <a:xfrm>
                <a:off x="2715881" y="1556764"/>
                <a:ext cx="969348" cy="969348"/>
                <a:chOff x="2715881" y="1556764"/>
                <a:chExt cx="969348" cy="969348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7020024-AE12-47D6-DF95-6B19D113D2E4}"/>
                    </a:ext>
                  </a:extLst>
                </p:cNvPr>
                <p:cNvSpPr/>
                <p:nvPr/>
              </p:nvSpPr>
              <p:spPr>
                <a:xfrm>
                  <a:off x="2715881" y="1556764"/>
                  <a:ext cx="969348" cy="969348"/>
                </a:xfrm>
                <a:prstGeom prst="ellipse">
                  <a:avLst/>
                </a:prstGeom>
                <a:solidFill>
                  <a:srgbClr val="507FCC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B92B3C9-B0E3-3018-026C-5D93D9721063}"/>
                    </a:ext>
                  </a:extLst>
                </p:cNvPr>
                <p:cNvSpPr/>
                <p:nvPr/>
              </p:nvSpPr>
              <p:spPr>
                <a:xfrm>
                  <a:off x="2777897" y="1618780"/>
                  <a:ext cx="845316" cy="845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 b="1">
                    <a:solidFill>
                      <a:srgbClr val="005A9B"/>
                    </a:solidFill>
                  </a:endParaRPr>
                </a:p>
              </p:txBody>
            </p:sp>
          </p:grpSp>
          <p:pic>
            <p:nvPicPr>
              <p:cNvPr id="22" name="Picture 16" descr="Identification ">
                <a:extLst>
                  <a:ext uri="{FF2B5EF4-FFF2-40B4-BE49-F238E27FC236}">
                    <a16:creationId xmlns:a16="http://schemas.microsoft.com/office/drawing/2014/main" id="{02794660-A214-A4CE-817B-0338504BB9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193" y="1797951"/>
                <a:ext cx="478668" cy="4786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474946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93600" y="419875"/>
            <a:ext cx="9753600" cy="333575"/>
          </a:xfrm>
        </p:spPr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br>
              <a:rPr lang="en-IN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 Statement</a:t>
            </a:r>
            <a:br>
              <a:rPr lang="en-IN" sz="2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de-DE" sz="2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>
          <a:xfrm>
            <a:off x="393600" y="759358"/>
            <a:ext cx="9753600" cy="342054"/>
          </a:xfrm>
        </p:spPr>
        <p:txBody>
          <a:bodyPr wrap="square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What's Broken: Why Today's Models Fail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endParaRPr lang="de-DE" sz="1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4E9E765-94CE-0941-BE99-F43834E80C33}" type="slidenum">
              <a:rPr lang="de-DE" smtClean="0"/>
              <a:t>4</a:t>
            </a:fld>
            <a:endParaRPr lang="de-DE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6833469" y="5877226"/>
            <a:ext cx="5148262" cy="350837"/>
          </a:xfrm>
        </p:spPr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en-US" sz="1050" i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Visual Comparison Between Ground Truth and Generated Segmentation Mask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1050" b="0" i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Shown on ACDC and CITYSCAPE Dataset.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24" y="1600911"/>
            <a:ext cx="1660822" cy="4135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C69FE9-3B71-CE91-8D2A-5432D5D20F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720"/>
          <a:stretch>
            <a:fillRect/>
          </a:stretch>
        </p:blipFill>
        <p:spPr>
          <a:xfrm>
            <a:off x="9985542" y="1512064"/>
            <a:ext cx="1660822" cy="4235832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CA25CAB-D38F-6941-0546-9287751C2BE7}"/>
              </a:ext>
            </a:extLst>
          </p:cNvPr>
          <p:cNvGrpSpPr/>
          <p:nvPr/>
        </p:nvGrpSpPr>
        <p:grpSpPr>
          <a:xfrm>
            <a:off x="4743744" y="1488760"/>
            <a:ext cx="3638123" cy="4259136"/>
            <a:chOff x="4334340" y="1351678"/>
            <a:chExt cx="3917583" cy="458629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17E4D25-C1C6-4303-B1CD-002E268C1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A5FCC4C-B4EF-4BA6-6720-50F5D13B726E}"/>
              </a:ext>
            </a:extLst>
          </p:cNvPr>
          <p:cNvSpPr txBox="1"/>
          <p:nvPr/>
        </p:nvSpPr>
        <p:spPr>
          <a:xfrm>
            <a:off x="393600" y="1502523"/>
            <a:ext cx="4127488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What is Semantic Segmentation?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2158C-96A4-8E5D-3D28-C1BF604ED589}"/>
              </a:ext>
            </a:extLst>
          </p:cNvPr>
          <p:cNvSpPr txBox="1"/>
          <p:nvPr/>
        </p:nvSpPr>
        <p:spPr>
          <a:xfrm>
            <a:off x="205501" y="1856290"/>
            <a:ext cx="4425113" cy="16773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23850" indent="-179705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Pixel-wise classification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an image into meaningful classes (road, car, pedestrian, tree, building, …).</a:t>
            </a:r>
          </a:p>
          <a:p>
            <a:pPr marL="323850" indent="-179705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Each class is shown in a different color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the generated segmentation mask</a:t>
            </a:r>
          </a:p>
          <a:p>
            <a:pPr marL="323850" indent="-17970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Reference: </a:t>
            </a:r>
            <a:r>
              <a:rPr lang="en-IN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arxiv.org/abs/2210.05626</a:t>
            </a:r>
            <a:r>
              <a:rPr lang="en-IN" sz="11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</a:t>
            </a:r>
            <a:endParaRPr lang="en-US" altLang="en-US" sz="11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81050" lvl="1" indent="-179705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Semantic Segmentation under Adverse Conditions</a:t>
            </a:r>
            <a:endParaRPr lang="en-IN" altLang="en-US" sz="11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D5B7E-1B46-F9A8-DAAB-EBEFAD343918}"/>
              </a:ext>
            </a:extLst>
          </p:cNvPr>
          <p:cNvSpPr txBox="1"/>
          <p:nvPr/>
        </p:nvSpPr>
        <p:spPr>
          <a:xfrm>
            <a:off x="393600" y="3736308"/>
            <a:ext cx="4117440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What’s the problem?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BE261-B3A1-0680-8ECD-CDE69878BE42}"/>
              </a:ext>
            </a:extLst>
          </p:cNvPr>
          <p:cNvSpPr txBox="1"/>
          <p:nvPr/>
        </p:nvSpPr>
        <p:spPr>
          <a:xfrm>
            <a:off x="202685" y="4099741"/>
            <a:ext cx="4305538" cy="23489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Existing semantic segmentation models like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DeepLabV3+ work well in clear, daytime conditions.</a:t>
            </a:r>
          </a:p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But their performance significantly drops in adverse conditions like:</a:t>
            </a:r>
          </a:p>
          <a:p>
            <a:pPr marL="781050" lvl="1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Rain</a:t>
            </a:r>
          </a:p>
          <a:p>
            <a:pPr marL="781050" lvl="1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Fog</a:t>
            </a:r>
          </a:p>
          <a:p>
            <a:pPr marL="781050" lvl="1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Snow</a:t>
            </a:r>
          </a:p>
          <a:p>
            <a:pPr marL="781050" lvl="1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Night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18BF1-EC26-6A54-22B9-A50F4FA59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0BA7AF-10AE-8AB6-79E4-2A277FEE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6D3F25-FDA0-71A9-9943-9C57EA127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6AD11AF-314D-B73D-E559-ED8A158D651A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301A532-E22A-F94F-A8A1-1618F8299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AE9F7AF-B5D3-E0CD-B0A4-663778929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82305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8B2C-C2B4-A0A2-F996-DCF3630E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E25FF-484D-6736-EA6B-3588C3E85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6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3547A58-7542-25A6-D680-0BBF56CC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D3D40ED-F843-EA0E-2806-BD69D1DEA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D9AAA197-D409-E2AE-DDD9-B1A8212D5E03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63BDE2D-090C-B775-BC8A-87C5B1E80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FEF6222-7EF9-4355-CA37-E32F722B0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8844064-70D5-C2B1-2B3D-EC4CE391FFA8}"/>
              </a:ext>
            </a:extLst>
          </p:cNvPr>
          <p:cNvSpPr/>
          <p:nvPr/>
        </p:nvSpPr>
        <p:spPr>
          <a:xfrm>
            <a:off x="1130709" y="1122914"/>
            <a:ext cx="4473677" cy="5336879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1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ED43-1F6C-805D-7E47-30D38F16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A79E4-A524-F2E3-D1B6-60B3A148C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7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34CE215-C6B4-4B31-6872-30462CBE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671364-0EC7-A395-C2A2-AF83956549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F9B5616-3B1A-5336-19C8-0C2AD89BDC2F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9C6F03C-E16A-4F61-6836-64E1FD8AA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E781533-E9A9-7BEF-A8CF-493E68A99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3D7A60B-93AE-D787-2AE7-A54C77EDB1C8}"/>
              </a:ext>
            </a:extLst>
          </p:cNvPr>
          <p:cNvSpPr/>
          <p:nvPr/>
        </p:nvSpPr>
        <p:spPr>
          <a:xfrm flipH="1">
            <a:off x="5604386" y="1122914"/>
            <a:ext cx="2192595" cy="5336879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163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BAED-6477-4E1E-BEAF-9089D42C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4D875-B8BF-8A48-4AEB-E05B386F7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8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EF3752D-F595-9BE4-C17A-F3565B909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A6C418-525D-90D0-DA97-F3A41ED591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1A526D9-7C9B-1CC3-2C74-DC4BCFB5AD25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660FBAA-1A70-4EE8-835A-AA058B50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05E7205-2F60-32F3-09F2-5C3A77CEB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1AC7BB0-5311-3594-752D-71FFD43255C4}"/>
              </a:ext>
            </a:extLst>
          </p:cNvPr>
          <p:cNvSpPr/>
          <p:nvPr/>
        </p:nvSpPr>
        <p:spPr>
          <a:xfrm>
            <a:off x="7796980" y="1122914"/>
            <a:ext cx="2212258" cy="5336879"/>
          </a:xfrm>
          <a:prstGeom prst="rect">
            <a:avLst/>
          </a:prstGeom>
          <a:noFill/>
          <a:ln w="38100">
            <a:solidFill>
              <a:srgbClr val="E63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88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923E-3C61-274F-A0F8-E01D547F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8C67A-C056-F66C-B37C-64E9A5BC2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9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28D089C-60B0-77DA-9C33-E8CF2455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80F049-48A0-32CF-CBCD-2731A3AC9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16D1E4B-594C-328E-27BD-9D0D37BDEF36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9181478-C286-AC08-A402-D6B51256F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D321F4D-36D1-19F1-7ECD-66EB9B1AE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02C8C0E-21B6-112B-48B0-DB85726FFC05}"/>
              </a:ext>
            </a:extLst>
          </p:cNvPr>
          <p:cNvSpPr/>
          <p:nvPr/>
        </p:nvSpPr>
        <p:spPr>
          <a:xfrm>
            <a:off x="1258529" y="5348749"/>
            <a:ext cx="8750709" cy="1081548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820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AB3C-9065-8081-16CD-C5D154BF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62BE8-5132-307D-83B0-A93C602D9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10</a:t>
            </a:fld>
            <a:endParaRPr lang="de-D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F316458-33B2-01A3-5B23-2B4B00DE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500" y="1255931"/>
            <a:ext cx="2040930" cy="5082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28E35E-7EA7-8BA1-C0CE-A10BE9A0A1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20"/>
          <a:stretch>
            <a:fillRect/>
          </a:stretch>
        </p:blipFill>
        <p:spPr>
          <a:xfrm>
            <a:off x="7866380" y="1150555"/>
            <a:ext cx="2040930" cy="5205276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01CEA9A-DD20-EF2D-D239-87FF942A766C}"/>
              </a:ext>
            </a:extLst>
          </p:cNvPr>
          <p:cNvGrpSpPr/>
          <p:nvPr/>
        </p:nvGrpSpPr>
        <p:grpSpPr>
          <a:xfrm>
            <a:off x="1058780" y="1122914"/>
            <a:ext cx="4470770" cy="5233913"/>
            <a:chOff x="4334340" y="1351678"/>
            <a:chExt cx="3917583" cy="458629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11579F-42FE-938F-386E-1CA740F0C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9554" r="30166"/>
            <a:stretch>
              <a:fillRect/>
            </a:stretch>
          </p:blipFill>
          <p:spPr>
            <a:xfrm>
              <a:off x="6463526" y="1376772"/>
              <a:ext cx="1788397" cy="4561205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8642CA8-4C33-A582-1594-12C180DAA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3" r="60287"/>
            <a:stretch>
              <a:fillRect/>
            </a:stretch>
          </p:blipFill>
          <p:spPr>
            <a:xfrm>
              <a:off x="4334340" y="1351678"/>
              <a:ext cx="2163762" cy="4561205"/>
            </a:xfrm>
            <a:prstGeom prst="rect">
              <a:avLst/>
            </a:prstGeom>
            <a:noFill/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6806980-3E2B-7D7F-5874-B2DBF283E63E}"/>
              </a:ext>
            </a:extLst>
          </p:cNvPr>
          <p:cNvSpPr/>
          <p:nvPr/>
        </p:nvSpPr>
        <p:spPr>
          <a:xfrm>
            <a:off x="7787640" y="1122914"/>
            <a:ext cx="2221598" cy="4249186"/>
          </a:xfrm>
          <a:prstGeom prst="rect">
            <a:avLst/>
          </a:prstGeom>
          <a:noFill/>
          <a:ln w="38100">
            <a:solidFill>
              <a:srgbClr val="E63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9E32CD2-30D0-89B4-F872-21E46C4781C9}"/>
              </a:ext>
            </a:extLst>
          </p:cNvPr>
          <p:cNvSpPr txBox="1">
            <a:spLocks/>
          </p:cNvSpPr>
          <p:nvPr/>
        </p:nvSpPr>
        <p:spPr bwMode="auto">
          <a:xfrm>
            <a:off x="3419633" y="6432632"/>
            <a:ext cx="6296632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/>
          <a:lstStyle>
            <a:lvl1pPr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b="1">
                <a:solidFill>
                  <a:schemeClr val="tx1"/>
                </a:solidFill>
                <a:latin typeface="+mn-lt"/>
                <a:ea typeface="MS PGothic" panose="020B0600070205080204" charset="-128"/>
                <a:cs typeface="MS PGothic" panose="020B0600070205080204" charset="-128"/>
              </a:defRPr>
            </a:lvl1pPr>
            <a:lvl2pPr marL="35877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2pPr>
            <a:lvl3pPr marL="71945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3pPr>
            <a:lvl4pPr marL="107950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4pPr>
            <a:lvl5pPr marL="144018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00000"/>
              </a:lnSpc>
              <a:buFontTx/>
              <a:buNone/>
            </a:pPr>
            <a:r>
              <a:rPr lang="en-US" sz="1000" i="1" kern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Visual Comparison Between Ground Truth and Generated Segmentation Result.</a:t>
            </a:r>
            <a:endParaRPr lang="en-US" sz="1000" b="0" i="1" kern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E92DE92-BB69-5977-04E5-80A0F2D1463B}"/>
              </a:ext>
            </a:extLst>
          </p:cNvPr>
          <p:cNvSpPr/>
          <p:nvPr/>
        </p:nvSpPr>
        <p:spPr>
          <a:xfrm rot="16200000">
            <a:off x="8649478" y="1805472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65221A4-E4F2-111E-6BAE-FBFDCC3DC564}"/>
              </a:ext>
            </a:extLst>
          </p:cNvPr>
          <p:cNvSpPr/>
          <p:nvPr/>
        </p:nvSpPr>
        <p:spPr>
          <a:xfrm>
            <a:off x="8055429" y="2676329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5963FA1-5569-020E-2E1B-C69E1B9EDDE3}"/>
              </a:ext>
            </a:extLst>
          </p:cNvPr>
          <p:cNvSpPr/>
          <p:nvPr/>
        </p:nvSpPr>
        <p:spPr>
          <a:xfrm rot="16200000">
            <a:off x="8622674" y="3785902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C23B2AE-40BF-C724-F012-C9C3431A502C}"/>
              </a:ext>
            </a:extLst>
          </p:cNvPr>
          <p:cNvSpPr/>
          <p:nvPr/>
        </p:nvSpPr>
        <p:spPr>
          <a:xfrm>
            <a:off x="8055429" y="4435370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B188DC6-B7EC-4A25-0A90-2C835700F263}"/>
              </a:ext>
            </a:extLst>
          </p:cNvPr>
          <p:cNvSpPr/>
          <p:nvPr/>
        </p:nvSpPr>
        <p:spPr>
          <a:xfrm rot="16200000">
            <a:off x="6482279" y="1805472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3795759-8669-0A33-BE7B-D01BDFF39AC5}"/>
              </a:ext>
            </a:extLst>
          </p:cNvPr>
          <p:cNvSpPr/>
          <p:nvPr/>
        </p:nvSpPr>
        <p:spPr>
          <a:xfrm>
            <a:off x="5888230" y="2676329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B84FE61-195A-3566-7A47-B64918888282}"/>
              </a:ext>
            </a:extLst>
          </p:cNvPr>
          <p:cNvSpPr/>
          <p:nvPr/>
        </p:nvSpPr>
        <p:spPr>
          <a:xfrm rot="16200000">
            <a:off x="6455475" y="3785902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D002A1A-4581-457C-D6A8-C4C362719D02}"/>
              </a:ext>
            </a:extLst>
          </p:cNvPr>
          <p:cNvSpPr/>
          <p:nvPr/>
        </p:nvSpPr>
        <p:spPr>
          <a:xfrm>
            <a:off x="5888230" y="4435370"/>
            <a:ext cx="307911" cy="195943"/>
          </a:xfrm>
          <a:prstGeom prst="rightArrow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1525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Challenges in Adverse Segmentation and Motivation</a:t>
            </a: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Why training on normal data isn’t enough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4E9E765-94CE-0941-BE99-F43834E80C33}" type="slidenum">
              <a:rPr lang="de-DE" smtClean="0"/>
              <a:t>11</a:t>
            </a:fld>
            <a:endParaRPr lang="de-DE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5142925" y="5616692"/>
            <a:ext cx="6329280" cy="539187"/>
          </a:xfrm>
        </p:spPr>
        <p:txBody>
          <a:bodyPr/>
          <a:lstStyle/>
          <a:p>
            <a:pPr indent="0" algn="ctr">
              <a:lnSpc>
                <a:spcPct val="100000"/>
              </a:lnSpc>
              <a:buNone/>
            </a:pPr>
            <a:r>
              <a:rPr lang="en-US" altLang="en-US" sz="1050" i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Visual Images from ACDC dataset showing Adverse Weather Conditions</a:t>
            </a:r>
          </a:p>
          <a:p>
            <a:pPr indent="0" algn="ctr">
              <a:lnSpc>
                <a:spcPct val="100000"/>
              </a:lnSpc>
              <a:buNone/>
            </a:pPr>
            <a:r>
              <a:rPr lang="en-US" altLang="en-US" sz="1050" b="0" i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 – Fog – Snow -- Night</a:t>
            </a:r>
            <a:endParaRPr lang="en-IN" altLang="en-US" sz="1050" b="0" i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4FC3E-EBFC-B6BB-AD57-CB4EF22351A0}"/>
              </a:ext>
            </a:extLst>
          </p:cNvPr>
          <p:cNvSpPr txBox="1"/>
          <p:nvPr/>
        </p:nvSpPr>
        <p:spPr>
          <a:xfrm>
            <a:off x="531542" y="1502523"/>
            <a:ext cx="3802798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/>
                <a:ea typeface="Roboto"/>
                <a:cs typeface="Roboto"/>
              </a:rPr>
              <a:t>Domain Gap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F4156-B8FA-48AF-7FBF-8DE39D0F7236}"/>
              </a:ext>
            </a:extLst>
          </p:cNvPr>
          <p:cNvSpPr txBox="1"/>
          <p:nvPr/>
        </p:nvSpPr>
        <p:spPr>
          <a:xfrm>
            <a:off x="205502" y="1867865"/>
            <a:ext cx="4417298" cy="542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A model trained on clear-day datasets performs poorly on adverse datasets because of domain gap</a:t>
            </a:r>
            <a:endParaRPr lang="en-US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DE733-849F-7BF3-6462-A379DAC6BBF4}"/>
              </a:ext>
            </a:extLst>
          </p:cNvPr>
          <p:cNvSpPr txBox="1"/>
          <p:nvPr/>
        </p:nvSpPr>
        <p:spPr>
          <a:xfrm>
            <a:off x="531542" y="2608661"/>
            <a:ext cx="3802798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Manual annotation effort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25A7E-BB5E-F0BF-56A2-EC6C18B43611}"/>
              </a:ext>
            </a:extLst>
          </p:cNvPr>
          <p:cNvSpPr txBox="1"/>
          <p:nvPr/>
        </p:nvSpPr>
        <p:spPr>
          <a:xfrm>
            <a:off x="205502" y="2969396"/>
            <a:ext cx="3914132" cy="616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~90 min per Cityscapes image ( Normal Weather)</a:t>
            </a:r>
          </a:p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&gt;3 hours per ACDC image (Adverse Weather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55673-C7BD-4662-591F-4DECF1EBF668}"/>
              </a:ext>
            </a:extLst>
          </p:cNvPr>
          <p:cNvSpPr txBox="1"/>
          <p:nvPr/>
        </p:nvSpPr>
        <p:spPr>
          <a:xfrm>
            <a:off x="531542" y="4849968"/>
            <a:ext cx="3802798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Motivation: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C6492-3911-74BD-8EF6-BEBCC1E30478}"/>
              </a:ext>
            </a:extLst>
          </p:cNvPr>
          <p:cNvSpPr txBox="1"/>
          <p:nvPr/>
        </p:nvSpPr>
        <p:spPr>
          <a:xfrm>
            <a:off x="205502" y="5220633"/>
            <a:ext cx="4128838" cy="16441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Safety: Autonomous driving needs reliable segmentation in all conditions to increase trust and safety.</a:t>
            </a:r>
            <a:endParaRPr lang="en-US">
              <a:solidFill>
                <a:schemeClr val="tx2">
                  <a:lumMod val="95000"/>
                  <a:lumOff val="5000"/>
                </a:schemeClr>
              </a:solidFill>
              <a:latin typeface="Roboto"/>
              <a:ea typeface="Roboto"/>
              <a:cs typeface="Roboto"/>
            </a:endParaRPr>
          </a:p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Improve performance on Target Domain will make semantic segmentation more reliable for Autonomous Driving</a:t>
            </a:r>
          </a:p>
          <a:p>
            <a:pPr marL="323850" indent="-179705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100" b="1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F95E97-FEC8-A21B-60D7-145029DEC3EF}"/>
              </a:ext>
            </a:extLst>
          </p:cNvPr>
          <p:cNvSpPr txBox="1"/>
          <p:nvPr/>
        </p:nvSpPr>
        <p:spPr>
          <a:xfrm>
            <a:off x="531542" y="3770156"/>
            <a:ext cx="3802798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Adverse Data Complexity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1ACFA-6A33-B6EC-2FAE-D3F7C7683797}"/>
              </a:ext>
            </a:extLst>
          </p:cNvPr>
          <p:cNvSpPr txBox="1"/>
          <p:nvPr/>
        </p:nvSpPr>
        <p:spPr>
          <a:xfrm>
            <a:off x="205502" y="4135498"/>
            <a:ext cx="3914132" cy="53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Extreme conditions (rain, fog, snow, night) distort features and make segmentation harder.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8D5B77-5C5C-3DEF-7BE3-8F1ECF492A7A}"/>
              </a:ext>
            </a:extLst>
          </p:cNvPr>
          <p:cNvGrpSpPr/>
          <p:nvPr/>
        </p:nvGrpSpPr>
        <p:grpSpPr>
          <a:xfrm>
            <a:off x="5019680" y="1684239"/>
            <a:ext cx="6480498" cy="3834254"/>
            <a:chOff x="5019680" y="1684239"/>
            <a:chExt cx="6480498" cy="383425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73D3A4A-A439-3243-9DE3-B4DAB59D54A0}"/>
                </a:ext>
              </a:extLst>
            </p:cNvPr>
            <p:cNvGrpSpPr/>
            <p:nvPr/>
          </p:nvGrpSpPr>
          <p:grpSpPr>
            <a:xfrm>
              <a:off x="5141829" y="1832681"/>
              <a:ext cx="6236200" cy="3537370"/>
              <a:chOff x="5424258" y="1660315"/>
              <a:chExt cx="6236200" cy="3537370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E1FEB3B-0505-78BF-D3EB-112A047B8789}"/>
                  </a:ext>
                </a:extLst>
              </p:cNvPr>
              <p:cNvGrpSpPr/>
              <p:nvPr/>
            </p:nvGrpSpPr>
            <p:grpSpPr>
              <a:xfrm>
                <a:off x="5426444" y="1660315"/>
                <a:ext cx="3070464" cy="1732342"/>
                <a:chOff x="5486400" y="1775698"/>
                <a:chExt cx="3070464" cy="1732342"/>
              </a:xfrm>
            </p:grpSpPr>
            <p:pic>
              <p:nvPicPr>
                <p:cNvPr id="16" name="Picture 15" descr="image (3)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86400" y="1780040"/>
                  <a:ext cx="3070464" cy="1728000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776311BC-7ADC-7E5B-3749-982D2616DDC6}"/>
                    </a:ext>
                  </a:extLst>
                </p:cNvPr>
                <p:cNvSpPr/>
                <p:nvPr/>
              </p:nvSpPr>
              <p:spPr>
                <a:xfrm>
                  <a:off x="5487472" y="1775698"/>
                  <a:ext cx="1004768" cy="363433"/>
                </a:xfrm>
                <a:prstGeom prst="rect">
                  <a:avLst/>
                </a:prstGeom>
                <a:solidFill>
                  <a:srgbClr val="005A9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rtlCol="0" anchor="ctr"/>
                <a:lstStyle/>
                <a:p>
                  <a:r>
                    <a:rPr lang="en-US" sz="1600">
                      <a:latin typeface="Roboto" panose="02000000000000000000" pitchFamily="2" charset="0"/>
                      <a:ea typeface="Roboto" panose="02000000000000000000" pitchFamily="2" charset="0"/>
                    </a:rPr>
                    <a:t>Rain</a:t>
                  </a:r>
                  <a:endParaRPr lang="en-IN" sz="16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pic>
              <p:nvPicPr>
                <p:cNvPr id="1026" name="Picture 2" descr="Light rain">
                  <a:extLst>
                    <a:ext uri="{FF2B5EF4-FFF2-40B4-BE49-F238E27FC236}">
                      <a16:creationId xmlns:a16="http://schemas.microsoft.com/office/drawing/2014/main" id="{E4A81B81-95DB-A406-5BC9-7007E3E89A7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61281" y="1865242"/>
                  <a:ext cx="241687" cy="2416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B56D083-AE98-E0D4-5D1E-C1F2ECBA94F2}"/>
                  </a:ext>
                </a:extLst>
              </p:cNvPr>
              <p:cNvGrpSpPr/>
              <p:nvPr/>
            </p:nvGrpSpPr>
            <p:grpSpPr>
              <a:xfrm>
                <a:off x="5424258" y="3472367"/>
                <a:ext cx="3072650" cy="1725318"/>
                <a:chOff x="5486400" y="3962499"/>
                <a:chExt cx="3072650" cy="1725318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F51665B2-55EB-37BE-163D-4E0474139D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6400" y="3962499"/>
                  <a:ext cx="3072650" cy="1725318"/>
                </a:xfrm>
                <a:prstGeom prst="rect">
                  <a:avLst/>
                </a:prstGeom>
              </p:spPr>
            </p:pic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9910775-1A4E-E28E-0819-130140A1D3FB}"/>
                    </a:ext>
                  </a:extLst>
                </p:cNvPr>
                <p:cNvSpPr/>
                <p:nvPr/>
              </p:nvSpPr>
              <p:spPr>
                <a:xfrm>
                  <a:off x="5487472" y="3966720"/>
                  <a:ext cx="1004768" cy="363433"/>
                </a:xfrm>
                <a:prstGeom prst="rect">
                  <a:avLst/>
                </a:prstGeom>
                <a:solidFill>
                  <a:srgbClr val="005A9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rtlCol="0" anchor="ctr"/>
                <a:lstStyle/>
                <a:p>
                  <a:r>
                    <a:rPr lang="en-US" sz="1600">
                      <a:latin typeface="Roboto" panose="02000000000000000000" pitchFamily="2" charset="0"/>
                      <a:ea typeface="Roboto" panose="02000000000000000000" pitchFamily="2" charset="0"/>
                    </a:rPr>
                    <a:t>Snow</a:t>
                  </a:r>
                  <a:endParaRPr lang="en-IN" sz="16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pic>
              <p:nvPicPr>
                <p:cNvPr id="1030" name="Picture 6" descr="Cloud ">
                  <a:extLst>
                    <a:ext uri="{FF2B5EF4-FFF2-40B4-BE49-F238E27FC236}">
                      <a16:creationId xmlns:a16="http://schemas.microsoft.com/office/drawing/2014/main" id="{81E529E8-5765-F1B4-F57C-8A6A3E1455E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77673" y="4048137"/>
                  <a:ext cx="255421" cy="2554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67640B4-907A-4837-C7B0-E553EDE6E001}"/>
                  </a:ext>
                </a:extLst>
              </p:cNvPr>
              <p:cNvGrpSpPr/>
              <p:nvPr/>
            </p:nvGrpSpPr>
            <p:grpSpPr>
              <a:xfrm>
                <a:off x="8589994" y="1663827"/>
                <a:ext cx="3066554" cy="1725318"/>
                <a:chOff x="8700190" y="1782722"/>
                <a:chExt cx="3066554" cy="1725318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3C5F4474-AB7E-7762-9F79-BB07C0D4C5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00190" y="1782722"/>
                  <a:ext cx="3066554" cy="1725318"/>
                </a:xfrm>
                <a:prstGeom prst="rect">
                  <a:avLst/>
                </a:prstGeom>
              </p:spPr>
            </p:pic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12F1F2D-A256-58F3-E27B-8F9980C38A02}"/>
                    </a:ext>
                  </a:extLst>
                </p:cNvPr>
                <p:cNvSpPr/>
                <p:nvPr/>
              </p:nvSpPr>
              <p:spPr>
                <a:xfrm>
                  <a:off x="8700190" y="1782722"/>
                  <a:ext cx="1004768" cy="363433"/>
                </a:xfrm>
                <a:prstGeom prst="rect">
                  <a:avLst/>
                </a:prstGeom>
                <a:solidFill>
                  <a:srgbClr val="005A9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rtlCol="0" anchor="ctr"/>
                <a:lstStyle/>
                <a:p>
                  <a:r>
                    <a:rPr lang="en-US" sz="1600">
                      <a:latin typeface="Roboto" panose="02000000000000000000" pitchFamily="2" charset="0"/>
                      <a:ea typeface="Roboto" panose="02000000000000000000" pitchFamily="2" charset="0"/>
                    </a:rPr>
                    <a:t>Fog</a:t>
                  </a:r>
                  <a:endParaRPr lang="en-IN" sz="16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pic>
              <p:nvPicPr>
                <p:cNvPr id="1028" name="Picture 4" descr="Weather ">
                  <a:extLst>
                    <a:ext uri="{FF2B5EF4-FFF2-40B4-BE49-F238E27FC236}">
                      <a16:creationId xmlns:a16="http://schemas.microsoft.com/office/drawing/2014/main" id="{BDCC0356-6102-4334-B388-9A1698CD536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383925" y="1843253"/>
                  <a:ext cx="241931" cy="24193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51823CA-95A9-4654-69D2-2955854D6E98}"/>
                  </a:ext>
                </a:extLst>
              </p:cNvPr>
              <p:cNvGrpSpPr/>
              <p:nvPr/>
            </p:nvGrpSpPr>
            <p:grpSpPr>
              <a:xfrm>
                <a:off x="8589994" y="3472367"/>
                <a:ext cx="3070464" cy="1724766"/>
                <a:chOff x="8611968" y="3716702"/>
                <a:chExt cx="3070464" cy="1724766"/>
              </a:xfrm>
            </p:grpSpPr>
            <p:pic>
              <p:nvPicPr>
                <p:cNvPr id="15" name="Picture 14" descr="image (2)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11968" y="3716702"/>
                  <a:ext cx="3070464" cy="1724766"/>
                </a:xfrm>
                <a:prstGeom prst="rect">
                  <a:avLst/>
                </a:prstGeom>
              </p:spPr>
            </p:pic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8E40549-356F-D356-D4C7-76A3B3AF7923}"/>
                    </a:ext>
                  </a:extLst>
                </p:cNvPr>
                <p:cNvSpPr/>
                <p:nvPr/>
              </p:nvSpPr>
              <p:spPr>
                <a:xfrm>
                  <a:off x="8611968" y="3716702"/>
                  <a:ext cx="1004768" cy="363433"/>
                </a:xfrm>
                <a:prstGeom prst="rect">
                  <a:avLst/>
                </a:prstGeom>
                <a:solidFill>
                  <a:srgbClr val="005A9B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rtlCol="0" anchor="ctr"/>
                <a:lstStyle/>
                <a:p>
                  <a:r>
                    <a:rPr lang="en-US" sz="1600">
                      <a:latin typeface="Roboto" panose="02000000000000000000" pitchFamily="2" charset="0"/>
                      <a:ea typeface="Roboto" panose="02000000000000000000" pitchFamily="2" charset="0"/>
                    </a:rPr>
                    <a:t>Night</a:t>
                  </a:r>
                  <a:endParaRPr lang="en-IN" sz="16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pic>
              <p:nvPicPr>
                <p:cNvPr id="1032" name="Picture 8" descr="Drizzle ">
                  <a:extLst>
                    <a:ext uri="{FF2B5EF4-FFF2-40B4-BE49-F238E27FC236}">
                      <a16:creationId xmlns:a16="http://schemas.microsoft.com/office/drawing/2014/main" id="{6690FCE4-C87B-8896-81D4-DBB962EB02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87742" y="3769551"/>
                  <a:ext cx="304155" cy="3041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1C5D99B-59C5-33CE-3C59-664FB3FB490E}"/>
                </a:ext>
              </a:extLst>
            </p:cNvPr>
            <p:cNvSpPr/>
            <p:nvPr/>
          </p:nvSpPr>
          <p:spPr>
            <a:xfrm>
              <a:off x="5019680" y="1684239"/>
              <a:ext cx="6480498" cy="3834254"/>
            </a:xfrm>
            <a:prstGeom prst="rect">
              <a:avLst/>
            </a:prstGeom>
            <a:noFill/>
            <a:ln w="28575">
              <a:solidFill>
                <a:schemeClr val="tx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51E0-FDB6-92E4-9EA7-1420CDFF5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FC7F717-E2D0-29D3-58E8-EEDB59C9EAE3}"/>
              </a:ext>
            </a:extLst>
          </p:cNvPr>
          <p:cNvSpPr/>
          <p:nvPr/>
        </p:nvSpPr>
        <p:spPr>
          <a:xfrm>
            <a:off x="5884129" y="5350667"/>
            <a:ext cx="5088669" cy="775948"/>
          </a:xfrm>
          <a:prstGeom prst="roundRect">
            <a:avLst>
              <a:gd name="adj" fmla="val 3025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C5058C3-375C-EF9C-C327-8CF5D2786764}"/>
              </a:ext>
            </a:extLst>
          </p:cNvPr>
          <p:cNvSpPr/>
          <p:nvPr/>
        </p:nvSpPr>
        <p:spPr>
          <a:xfrm>
            <a:off x="6356137" y="4362775"/>
            <a:ext cx="4616662" cy="775948"/>
          </a:xfrm>
          <a:prstGeom prst="roundRect">
            <a:avLst>
              <a:gd name="adj" fmla="val 3025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0A7B669-F94A-2C24-9824-82DF39881050}"/>
              </a:ext>
            </a:extLst>
          </p:cNvPr>
          <p:cNvSpPr/>
          <p:nvPr/>
        </p:nvSpPr>
        <p:spPr>
          <a:xfrm>
            <a:off x="6356137" y="3374882"/>
            <a:ext cx="4616662" cy="775948"/>
          </a:xfrm>
          <a:prstGeom prst="roundRect">
            <a:avLst>
              <a:gd name="adj" fmla="val 3025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FA499FA-E64F-DEE7-7C16-D368A7D2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Prime Goals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E5D57242-126E-9489-9F10-6950A54AD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674498"/>
            <a:ext cx="9753600" cy="342054"/>
          </a:xfrm>
        </p:spPr>
        <p:txBody>
          <a:bodyPr wrap="square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Planned Steps to Achieve our prime goal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BF0EB0-6344-65DB-EF46-B67C97659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4E9E765-94CE-0941-BE99-F43834E80C33}" type="slidenum">
              <a:rPr lang="de-DE" smtClean="0"/>
              <a:t>12</a:t>
            </a:fld>
            <a:endParaRPr lang="de-DE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94D225A-0AF0-4810-24D0-623C5F1053F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36710" y="3794094"/>
            <a:ext cx="2725120" cy="452315"/>
          </a:xfrm>
        </p:spPr>
        <p:txBody>
          <a:bodyPr wrap="square" anchor="t">
            <a:normAutofit/>
          </a:bodyPr>
          <a:lstStyle/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endParaRPr lang="en-US" altLang="en-US" sz="1100">
              <a:solidFill>
                <a:schemeClr val="tx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en-US" sz="110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IMPLEMENTATIONS TO ACHIVE GOAL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837EE9C0-D37C-9524-4178-7E6CD1E9F2F0}"/>
              </a:ext>
            </a:extLst>
          </p:cNvPr>
          <p:cNvSpPr txBox="1"/>
          <p:nvPr/>
        </p:nvSpPr>
        <p:spPr>
          <a:xfrm>
            <a:off x="309245" y="4083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D3B576-16A0-0A5E-2359-66F92FE28B0B}"/>
              </a:ext>
            </a:extLst>
          </p:cNvPr>
          <p:cNvSpPr/>
          <p:nvPr/>
        </p:nvSpPr>
        <p:spPr>
          <a:xfrm>
            <a:off x="1073235" y="1385535"/>
            <a:ext cx="9899563" cy="697143"/>
          </a:xfrm>
          <a:prstGeom prst="roundRect">
            <a:avLst/>
          </a:prstGeom>
          <a:solidFill>
            <a:srgbClr val="F4F8FF"/>
          </a:solidFill>
          <a:ln>
            <a:solidFill>
              <a:schemeClr val="tx2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lang="en-IN" sz="1600">
                <a:latin typeface="Roboto"/>
                <a:ea typeface="Roboto"/>
                <a:cs typeface="Roboto"/>
              </a:rPr>
              <a:t>Prime </a:t>
            </a:r>
            <a:r>
              <a:rPr sz="1600">
                <a:latin typeface="Roboto"/>
                <a:ea typeface="Roboto"/>
                <a:cs typeface="Roboto"/>
              </a:rPr>
              <a:t>Goal</a:t>
            </a:r>
            <a:r>
              <a:rPr lang="en-IN" sz="1600">
                <a:latin typeface="Roboto"/>
                <a:ea typeface="Roboto"/>
                <a:cs typeface="Roboto"/>
              </a:rPr>
              <a:t> </a:t>
            </a:r>
            <a:r>
              <a:rPr sz="1600">
                <a:latin typeface="Roboto"/>
                <a:ea typeface="Roboto"/>
                <a:cs typeface="Roboto"/>
              </a:rPr>
              <a:t>: </a:t>
            </a:r>
            <a:r>
              <a:rPr sz="1400">
                <a:latin typeface="Roboto"/>
                <a:ea typeface="Roboto"/>
                <a:cs typeface="Roboto"/>
              </a:rPr>
              <a:t>A </a:t>
            </a:r>
            <a:r>
              <a:rPr lang="en-US" sz="1400">
                <a:latin typeface="Roboto"/>
                <a:ea typeface="Roboto"/>
                <a:cs typeface="Roboto"/>
              </a:rPr>
              <a:t>Single</a:t>
            </a:r>
            <a:r>
              <a:rPr sz="1400">
                <a:latin typeface="Roboto"/>
                <a:ea typeface="Roboto"/>
                <a:cs typeface="Roboto"/>
              </a:rPr>
              <a:t> </a:t>
            </a:r>
            <a:r>
              <a:rPr lang="en-IN" sz="1400">
                <a:latin typeface="Roboto"/>
                <a:ea typeface="Roboto"/>
                <a:cs typeface="Roboto"/>
              </a:rPr>
              <a:t>Semantic Segmentation </a:t>
            </a:r>
            <a:r>
              <a:rPr sz="1400">
                <a:latin typeface="Roboto"/>
                <a:ea typeface="Roboto"/>
                <a:cs typeface="Roboto"/>
              </a:rPr>
              <a:t>model that performs well on both </a:t>
            </a:r>
            <a:r>
              <a:rPr lang="en-IN" sz="1400">
                <a:latin typeface="Roboto"/>
                <a:ea typeface="Roboto"/>
                <a:cs typeface="Roboto"/>
              </a:rPr>
              <a:t>Weather Conditions </a:t>
            </a:r>
          </a:p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lang="en-IN"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NORMAL WEATHER</a:t>
            </a:r>
            <a:r>
              <a:rPr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  </a:t>
            </a:r>
            <a:r>
              <a:rPr sz="1400">
                <a:latin typeface="Roboto"/>
                <a:ea typeface="Roboto"/>
                <a:cs typeface="Roboto"/>
              </a:rPr>
              <a:t>and </a:t>
            </a:r>
            <a:r>
              <a:rPr lang="en-IN"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ADVERSE</a:t>
            </a:r>
            <a:r>
              <a:rPr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IN"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WEATHER </a:t>
            </a:r>
            <a:r>
              <a:rPr lang="en-IN" sz="1400">
                <a:latin typeface="Roboto"/>
                <a:ea typeface="Roboto"/>
                <a:cs typeface="Roboto"/>
              </a:rPr>
              <a:t>Condition like </a:t>
            </a:r>
            <a:r>
              <a:rPr lang="en-IN"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RAIN, FOG ,SNOW ,NIGHT </a:t>
            </a:r>
            <a:r>
              <a:rPr lang="en-IN" sz="1400">
                <a:latin typeface="Roboto"/>
                <a:ea typeface="Roboto"/>
                <a:cs typeface="Roboto"/>
              </a:rPr>
              <a:t>and </a:t>
            </a:r>
            <a:r>
              <a:rPr lang="en-IN" sz="1400">
                <a:solidFill>
                  <a:schemeClr val="tx1">
                    <a:lumMod val="60000"/>
                    <a:lumOff val="40000"/>
                  </a:schemeClr>
                </a:solidFill>
                <a:latin typeface="Roboto"/>
                <a:ea typeface="Roboto"/>
                <a:cs typeface="Roboto"/>
              </a:rPr>
              <a:t>CLEAR WEATHER</a:t>
            </a:r>
            <a:endParaRPr sz="1400">
              <a:solidFill>
                <a:schemeClr val="tx1">
                  <a:lumMod val="60000"/>
                  <a:lumOff val="40000"/>
                </a:schemeClr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B3E580-727F-8EB2-0E89-71BF2DBE1921}"/>
              </a:ext>
            </a:extLst>
          </p:cNvPr>
          <p:cNvGrpSpPr/>
          <p:nvPr/>
        </p:nvGrpSpPr>
        <p:grpSpPr>
          <a:xfrm>
            <a:off x="373545" y="2983863"/>
            <a:ext cx="2575775" cy="2497958"/>
            <a:chOff x="-63403" y="1796906"/>
            <a:chExt cx="3306757" cy="3206857"/>
          </a:xfrm>
        </p:grpSpPr>
        <p:sp>
          <p:nvSpPr>
            <p:cNvPr id="19" name="Rounded Rectangle 1">
              <a:extLst>
                <a:ext uri="{FF2B5EF4-FFF2-40B4-BE49-F238E27FC236}">
                  <a16:creationId xmlns:a16="http://schemas.microsoft.com/office/drawing/2014/main" id="{61CABA79-8513-3F28-5BD9-A90CE4CAD537}"/>
                </a:ext>
              </a:extLst>
            </p:cNvPr>
            <p:cNvSpPr/>
            <p:nvPr/>
          </p:nvSpPr>
          <p:spPr>
            <a:xfrm>
              <a:off x="-63403" y="1796906"/>
              <a:ext cx="3206857" cy="3206857"/>
            </a:xfrm>
            <a:custGeom>
              <a:avLst/>
              <a:gdLst/>
              <a:ahLst/>
              <a:cxnLst/>
              <a:rect l="0" t="0" r="0" b="0"/>
              <a:pathLst>
                <a:path w="3206857" h="3206857">
                  <a:moveTo>
                    <a:pt x="2606847" y="352695"/>
                  </a:moveTo>
                  <a:cubicBezTo>
                    <a:pt x="2332141" y="132035"/>
                    <a:pt x="1983206" y="0"/>
                    <a:pt x="1603428" y="0"/>
                  </a:cubicBezTo>
                  <a:cubicBezTo>
                    <a:pt x="717882" y="0"/>
                    <a:pt x="0" y="717882"/>
                    <a:pt x="0" y="1603428"/>
                  </a:cubicBezTo>
                  <a:cubicBezTo>
                    <a:pt x="0" y="2488974"/>
                    <a:pt x="717882" y="3206857"/>
                    <a:pt x="1603428" y="3206857"/>
                  </a:cubicBezTo>
                  <a:cubicBezTo>
                    <a:pt x="2488974" y="3206857"/>
                    <a:pt x="3206857" y="2488974"/>
                    <a:pt x="3206857" y="1603428"/>
                  </a:cubicBezTo>
                  <a:cubicBezTo>
                    <a:pt x="3206857" y="1289022"/>
                    <a:pt x="3116368" y="995746"/>
                    <a:pt x="2960005" y="748238"/>
                  </a:cubicBezTo>
                  <a:lnTo>
                    <a:pt x="2768424" y="700908"/>
                  </a:lnTo>
                  <a:lnTo>
                    <a:pt x="2721001" y="743017"/>
                  </a:lnTo>
                  <a:cubicBezTo>
                    <a:pt x="2904581" y="981113"/>
                    <a:pt x="3013774" y="1279519"/>
                    <a:pt x="3013774" y="1603428"/>
                  </a:cubicBezTo>
                  <a:cubicBezTo>
                    <a:pt x="3013774" y="2382342"/>
                    <a:pt x="2382342" y="3013774"/>
                    <a:pt x="1603428" y="3013774"/>
                  </a:cubicBezTo>
                  <a:cubicBezTo>
                    <a:pt x="824514" y="3013774"/>
                    <a:pt x="193083" y="2382342"/>
                    <a:pt x="193083" y="1603428"/>
                  </a:cubicBezTo>
                  <a:cubicBezTo>
                    <a:pt x="193083" y="824514"/>
                    <a:pt x="824514" y="193083"/>
                    <a:pt x="1603428" y="193083"/>
                  </a:cubicBezTo>
                  <a:cubicBezTo>
                    <a:pt x="1985943" y="193083"/>
                    <a:pt x="2332888" y="345358"/>
                    <a:pt x="2586951" y="592605"/>
                  </a:cubicBezTo>
                  <a:lnTo>
                    <a:pt x="2633031" y="551688"/>
                  </a:lnTo>
                  <a:lnTo>
                    <a:pt x="2606847" y="352695"/>
                  </a:lnTo>
                </a:path>
              </a:pathLst>
            </a:custGeom>
            <a:solidFill>
              <a:srgbClr val="95BD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7306A131-000F-5E01-0BAD-EECC628D3FB7}"/>
                </a:ext>
              </a:extLst>
            </p:cNvPr>
            <p:cNvSpPr/>
            <p:nvPr/>
          </p:nvSpPr>
          <p:spPr>
            <a:xfrm>
              <a:off x="-63403" y="1796906"/>
              <a:ext cx="3206857" cy="3206857"/>
            </a:xfrm>
            <a:custGeom>
              <a:avLst/>
              <a:gdLst/>
              <a:ahLst/>
              <a:cxnLst/>
              <a:rect l="0" t="0" r="0" b="0"/>
              <a:pathLst>
                <a:path w="3206857" h="3206857">
                  <a:moveTo>
                    <a:pt x="2606844" y="352698"/>
                  </a:moveTo>
                  <a:cubicBezTo>
                    <a:pt x="2332141" y="132032"/>
                    <a:pt x="1983204" y="0"/>
                    <a:pt x="1603428" y="0"/>
                  </a:cubicBezTo>
                  <a:cubicBezTo>
                    <a:pt x="717879" y="0"/>
                    <a:pt x="0" y="717879"/>
                    <a:pt x="0" y="1603428"/>
                  </a:cubicBezTo>
                  <a:cubicBezTo>
                    <a:pt x="0" y="2488978"/>
                    <a:pt x="717879" y="3206857"/>
                    <a:pt x="1603428" y="3206857"/>
                  </a:cubicBezTo>
                  <a:cubicBezTo>
                    <a:pt x="2488978" y="3206857"/>
                    <a:pt x="3206857" y="2488978"/>
                    <a:pt x="3206857" y="1603428"/>
                  </a:cubicBezTo>
                  <a:cubicBezTo>
                    <a:pt x="3206857" y="1289020"/>
                    <a:pt x="3116365" y="995749"/>
                    <a:pt x="2960005" y="748237"/>
                  </a:cubicBezTo>
                  <a:lnTo>
                    <a:pt x="2768427" y="700906"/>
                  </a:lnTo>
                  <a:lnTo>
                    <a:pt x="2721000" y="743018"/>
                  </a:lnTo>
                  <a:cubicBezTo>
                    <a:pt x="2904582" y="981117"/>
                    <a:pt x="3013774" y="1279521"/>
                    <a:pt x="3013774" y="1603428"/>
                  </a:cubicBezTo>
                  <a:cubicBezTo>
                    <a:pt x="3013774" y="2382340"/>
                    <a:pt x="2382340" y="3013774"/>
                    <a:pt x="1603428" y="3013774"/>
                  </a:cubicBezTo>
                  <a:cubicBezTo>
                    <a:pt x="824516" y="3013774"/>
                    <a:pt x="193083" y="2382340"/>
                    <a:pt x="193083" y="1603428"/>
                  </a:cubicBezTo>
                  <a:cubicBezTo>
                    <a:pt x="193083" y="824516"/>
                    <a:pt x="824516" y="193083"/>
                    <a:pt x="1603428" y="193083"/>
                  </a:cubicBezTo>
                  <a:cubicBezTo>
                    <a:pt x="1985940" y="193083"/>
                    <a:pt x="2332885" y="345361"/>
                    <a:pt x="2586948" y="592603"/>
                  </a:cubicBezTo>
                  <a:lnTo>
                    <a:pt x="2633030" y="551687"/>
                  </a:lnTo>
                  <a:lnTo>
                    <a:pt x="2606844" y="352698"/>
                  </a:ln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7">
              <a:extLst>
                <a:ext uri="{FF2B5EF4-FFF2-40B4-BE49-F238E27FC236}">
                  <a16:creationId xmlns:a16="http://schemas.microsoft.com/office/drawing/2014/main" id="{C1261E0C-DF41-8A34-05FF-C547C46E3ACA}"/>
                </a:ext>
              </a:extLst>
            </p:cNvPr>
            <p:cNvSpPr/>
            <p:nvPr/>
          </p:nvSpPr>
          <p:spPr>
            <a:xfrm>
              <a:off x="532636" y="2395287"/>
              <a:ext cx="2014779" cy="2014779"/>
            </a:xfrm>
            <a:custGeom>
              <a:avLst/>
              <a:gdLst/>
              <a:ahLst/>
              <a:cxnLst/>
              <a:rect l="0" t="0" r="0" b="0"/>
              <a:pathLst>
                <a:path w="2014779" h="2014779">
                  <a:moveTo>
                    <a:pt x="1821612" y="414205"/>
                  </a:moveTo>
                  <a:lnTo>
                    <a:pt x="1670504" y="549363"/>
                  </a:lnTo>
                  <a:cubicBezTo>
                    <a:pt x="1760581" y="679400"/>
                    <a:pt x="1813301" y="837224"/>
                    <a:pt x="1813301" y="1007389"/>
                  </a:cubicBezTo>
                  <a:cubicBezTo>
                    <a:pt x="1813301" y="1452488"/>
                    <a:pt x="1452488" y="1813301"/>
                    <a:pt x="1007389" y="1813301"/>
                  </a:cubicBezTo>
                  <a:cubicBezTo>
                    <a:pt x="562291" y="1813301"/>
                    <a:pt x="201477" y="1452488"/>
                    <a:pt x="201477" y="1007389"/>
                  </a:cubicBezTo>
                  <a:cubicBezTo>
                    <a:pt x="201477" y="562291"/>
                    <a:pt x="562291" y="201477"/>
                    <a:pt x="1007389" y="201477"/>
                  </a:cubicBezTo>
                  <a:cubicBezTo>
                    <a:pt x="1209791" y="201477"/>
                    <a:pt x="1394731" y="276024"/>
                    <a:pt x="1536185" y="399262"/>
                  </a:cubicBezTo>
                  <a:lnTo>
                    <a:pt x="1687294" y="264104"/>
                  </a:lnTo>
                  <a:cubicBezTo>
                    <a:pt x="1508146" y="100067"/>
                    <a:pt x="1269479" y="0"/>
                    <a:pt x="1007389" y="0"/>
                  </a:cubicBezTo>
                  <a:cubicBezTo>
                    <a:pt x="451058" y="0"/>
                    <a:pt x="0" y="451058"/>
                    <a:pt x="0" y="1007389"/>
                  </a:cubicBezTo>
                  <a:cubicBezTo>
                    <a:pt x="0" y="1563720"/>
                    <a:pt x="451058" y="2014779"/>
                    <a:pt x="1007389" y="2014779"/>
                  </a:cubicBezTo>
                  <a:cubicBezTo>
                    <a:pt x="1563720" y="2014779"/>
                    <a:pt x="2014779" y="1563720"/>
                    <a:pt x="2014779" y="1007389"/>
                  </a:cubicBezTo>
                  <a:cubicBezTo>
                    <a:pt x="2014779" y="785596"/>
                    <a:pt x="1943087" y="580592"/>
                    <a:pt x="1821612" y="414205"/>
                  </a:cubicBezTo>
                </a:path>
              </a:pathLst>
            </a:custGeom>
            <a:solidFill>
              <a:srgbClr val="4E8CF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10">
              <a:extLst>
                <a:ext uri="{FF2B5EF4-FFF2-40B4-BE49-F238E27FC236}">
                  <a16:creationId xmlns:a16="http://schemas.microsoft.com/office/drawing/2014/main" id="{E73D02D5-E4D8-5298-33C0-9515CB20DEB1}"/>
                </a:ext>
              </a:extLst>
            </p:cNvPr>
            <p:cNvSpPr/>
            <p:nvPr/>
          </p:nvSpPr>
          <p:spPr>
            <a:xfrm>
              <a:off x="532636" y="2395287"/>
              <a:ext cx="2014779" cy="2014779"/>
            </a:xfrm>
            <a:custGeom>
              <a:avLst/>
              <a:gdLst/>
              <a:ahLst/>
              <a:cxnLst/>
              <a:rect l="0" t="0" r="0" b="0"/>
              <a:pathLst>
                <a:path w="2014779" h="2014779">
                  <a:moveTo>
                    <a:pt x="1821612" y="414205"/>
                  </a:moveTo>
                  <a:lnTo>
                    <a:pt x="1670504" y="549363"/>
                  </a:lnTo>
                  <a:cubicBezTo>
                    <a:pt x="1760581" y="679400"/>
                    <a:pt x="1813301" y="837224"/>
                    <a:pt x="1813301" y="1007389"/>
                  </a:cubicBezTo>
                  <a:cubicBezTo>
                    <a:pt x="1813301" y="1452488"/>
                    <a:pt x="1452488" y="1813301"/>
                    <a:pt x="1007389" y="1813301"/>
                  </a:cubicBezTo>
                  <a:cubicBezTo>
                    <a:pt x="562291" y="1813301"/>
                    <a:pt x="201477" y="1452488"/>
                    <a:pt x="201477" y="1007389"/>
                  </a:cubicBezTo>
                  <a:cubicBezTo>
                    <a:pt x="201477" y="562291"/>
                    <a:pt x="562291" y="201477"/>
                    <a:pt x="1007389" y="201477"/>
                  </a:cubicBezTo>
                  <a:cubicBezTo>
                    <a:pt x="1209791" y="201477"/>
                    <a:pt x="1394731" y="276024"/>
                    <a:pt x="1536185" y="399262"/>
                  </a:cubicBezTo>
                  <a:lnTo>
                    <a:pt x="1687294" y="264104"/>
                  </a:lnTo>
                  <a:cubicBezTo>
                    <a:pt x="1508146" y="100067"/>
                    <a:pt x="1269479" y="0"/>
                    <a:pt x="1007389" y="0"/>
                  </a:cubicBezTo>
                  <a:cubicBezTo>
                    <a:pt x="451058" y="0"/>
                    <a:pt x="0" y="451058"/>
                    <a:pt x="0" y="1007389"/>
                  </a:cubicBezTo>
                  <a:cubicBezTo>
                    <a:pt x="0" y="1563720"/>
                    <a:pt x="451058" y="2014779"/>
                    <a:pt x="1007389" y="2014779"/>
                  </a:cubicBezTo>
                  <a:cubicBezTo>
                    <a:pt x="1563720" y="2014779"/>
                    <a:pt x="2014779" y="1563720"/>
                    <a:pt x="2014779" y="1007389"/>
                  </a:cubicBezTo>
                  <a:cubicBezTo>
                    <a:pt x="2014779" y="785596"/>
                    <a:pt x="1943087" y="580592"/>
                    <a:pt x="1821612" y="414205"/>
                  </a:cubicBez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6992E936-A0FC-CB8D-A3B6-15B4878E658D}"/>
                </a:ext>
              </a:extLst>
            </p:cNvPr>
            <p:cNvSpPr/>
            <p:nvPr/>
          </p:nvSpPr>
          <p:spPr>
            <a:xfrm>
              <a:off x="230419" y="2093070"/>
              <a:ext cx="2619213" cy="2619213"/>
            </a:xfrm>
            <a:custGeom>
              <a:avLst/>
              <a:gdLst/>
              <a:ahLst/>
              <a:cxnLst/>
              <a:rect l="0" t="0" r="0" b="0"/>
              <a:pathLst>
                <a:path w="2619213" h="2619213">
                  <a:moveTo>
                    <a:pt x="2349988" y="514104"/>
                  </a:moveTo>
                  <a:lnTo>
                    <a:pt x="2199299" y="648926"/>
                  </a:lnTo>
                  <a:cubicBezTo>
                    <a:pt x="2336472" y="833447"/>
                    <a:pt x="2417735" y="1062040"/>
                    <a:pt x="2417735" y="1309606"/>
                  </a:cubicBezTo>
                  <a:cubicBezTo>
                    <a:pt x="2417735" y="1921596"/>
                    <a:pt x="1921596" y="2417735"/>
                    <a:pt x="1309606" y="2417735"/>
                  </a:cubicBezTo>
                  <a:cubicBezTo>
                    <a:pt x="697617" y="2417735"/>
                    <a:pt x="201477" y="1921512"/>
                    <a:pt x="201477" y="1309606"/>
                  </a:cubicBezTo>
                  <a:cubicBezTo>
                    <a:pt x="201477" y="697701"/>
                    <a:pt x="697617" y="201477"/>
                    <a:pt x="1309606" y="201477"/>
                  </a:cubicBezTo>
                  <a:cubicBezTo>
                    <a:pt x="1601497" y="201477"/>
                    <a:pt x="1867029" y="314389"/>
                    <a:pt x="2064981" y="498825"/>
                  </a:cubicBezTo>
                  <a:lnTo>
                    <a:pt x="2215669" y="364003"/>
                  </a:lnTo>
                  <a:cubicBezTo>
                    <a:pt x="1980444" y="138516"/>
                    <a:pt x="1661185" y="0"/>
                    <a:pt x="1309606" y="0"/>
                  </a:cubicBezTo>
                  <a:cubicBezTo>
                    <a:pt x="586300" y="0"/>
                    <a:pt x="0" y="586216"/>
                    <a:pt x="0" y="1309606"/>
                  </a:cubicBezTo>
                  <a:cubicBezTo>
                    <a:pt x="0" y="2032996"/>
                    <a:pt x="586300" y="2619213"/>
                    <a:pt x="1309606" y="2619213"/>
                  </a:cubicBezTo>
                  <a:cubicBezTo>
                    <a:pt x="2032912" y="2619213"/>
                    <a:pt x="2619213" y="2032912"/>
                    <a:pt x="2619213" y="1309606"/>
                  </a:cubicBezTo>
                  <a:cubicBezTo>
                    <a:pt x="2619213" y="1010412"/>
                    <a:pt x="2518894" y="734639"/>
                    <a:pt x="2349988" y="514104"/>
                  </a:cubicBezTo>
                </a:path>
              </a:pathLst>
            </a:custGeom>
            <a:solidFill>
              <a:srgbClr val="5D9B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16">
              <a:extLst>
                <a:ext uri="{FF2B5EF4-FFF2-40B4-BE49-F238E27FC236}">
                  <a16:creationId xmlns:a16="http://schemas.microsoft.com/office/drawing/2014/main" id="{91854740-E913-A433-5082-625D1FF0E0E5}"/>
                </a:ext>
              </a:extLst>
            </p:cNvPr>
            <p:cNvSpPr/>
            <p:nvPr/>
          </p:nvSpPr>
          <p:spPr>
            <a:xfrm>
              <a:off x="230419" y="2093070"/>
              <a:ext cx="2619213" cy="2619213"/>
            </a:xfrm>
            <a:custGeom>
              <a:avLst/>
              <a:gdLst/>
              <a:ahLst/>
              <a:cxnLst/>
              <a:rect l="0" t="0" r="0" b="0"/>
              <a:pathLst>
                <a:path w="2619213" h="2619213">
                  <a:moveTo>
                    <a:pt x="2349988" y="514104"/>
                  </a:moveTo>
                  <a:lnTo>
                    <a:pt x="2199299" y="648926"/>
                  </a:lnTo>
                  <a:cubicBezTo>
                    <a:pt x="2336472" y="833447"/>
                    <a:pt x="2417735" y="1062040"/>
                    <a:pt x="2417735" y="1309606"/>
                  </a:cubicBezTo>
                  <a:cubicBezTo>
                    <a:pt x="2417735" y="1921596"/>
                    <a:pt x="1921596" y="2417735"/>
                    <a:pt x="1309606" y="2417735"/>
                  </a:cubicBezTo>
                  <a:cubicBezTo>
                    <a:pt x="697617" y="2417735"/>
                    <a:pt x="201477" y="1921512"/>
                    <a:pt x="201477" y="1309606"/>
                  </a:cubicBezTo>
                  <a:cubicBezTo>
                    <a:pt x="201477" y="697701"/>
                    <a:pt x="697617" y="201477"/>
                    <a:pt x="1309606" y="201477"/>
                  </a:cubicBezTo>
                  <a:cubicBezTo>
                    <a:pt x="1601497" y="201477"/>
                    <a:pt x="1867029" y="314389"/>
                    <a:pt x="2064981" y="498825"/>
                  </a:cubicBezTo>
                  <a:lnTo>
                    <a:pt x="2215669" y="364003"/>
                  </a:lnTo>
                  <a:cubicBezTo>
                    <a:pt x="1980444" y="138516"/>
                    <a:pt x="1661185" y="0"/>
                    <a:pt x="1309606" y="0"/>
                  </a:cubicBezTo>
                  <a:cubicBezTo>
                    <a:pt x="586300" y="0"/>
                    <a:pt x="0" y="586216"/>
                    <a:pt x="0" y="1309606"/>
                  </a:cubicBezTo>
                  <a:cubicBezTo>
                    <a:pt x="0" y="2032996"/>
                    <a:pt x="586300" y="2619213"/>
                    <a:pt x="1309606" y="2619213"/>
                  </a:cubicBezTo>
                  <a:cubicBezTo>
                    <a:pt x="2032912" y="2619213"/>
                    <a:pt x="2619213" y="2032912"/>
                    <a:pt x="2619213" y="1309606"/>
                  </a:cubicBezTo>
                  <a:cubicBezTo>
                    <a:pt x="2619213" y="1010412"/>
                    <a:pt x="2518894" y="734639"/>
                    <a:pt x="2349988" y="514104"/>
                  </a:cubicBez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9">
              <a:extLst>
                <a:ext uri="{FF2B5EF4-FFF2-40B4-BE49-F238E27FC236}">
                  <a16:creationId xmlns:a16="http://schemas.microsoft.com/office/drawing/2014/main" id="{844CA6D4-098C-CEF3-B557-14EC2EBAD6DD}"/>
                </a:ext>
              </a:extLst>
            </p:cNvPr>
            <p:cNvSpPr/>
            <p:nvPr/>
          </p:nvSpPr>
          <p:spPr>
            <a:xfrm>
              <a:off x="834853" y="2697504"/>
              <a:ext cx="1410345" cy="1410345"/>
            </a:xfrm>
            <a:custGeom>
              <a:avLst/>
              <a:gdLst/>
              <a:ahLst/>
              <a:cxnLst/>
              <a:rect l="0" t="0" r="0" b="0"/>
              <a:pathLst>
                <a:path w="1410345" h="1410345">
                  <a:moveTo>
                    <a:pt x="1292565" y="314893"/>
                  </a:moveTo>
                  <a:lnTo>
                    <a:pt x="1140197" y="451142"/>
                  </a:lnTo>
                  <a:cubicBezTo>
                    <a:pt x="1183850" y="525689"/>
                    <a:pt x="1208867" y="612493"/>
                    <a:pt x="1208867" y="705172"/>
                  </a:cubicBezTo>
                  <a:cubicBezTo>
                    <a:pt x="1208867" y="983380"/>
                    <a:pt x="983380" y="1208867"/>
                    <a:pt x="705172" y="1208867"/>
                  </a:cubicBezTo>
                  <a:cubicBezTo>
                    <a:pt x="426965" y="1208867"/>
                    <a:pt x="201477" y="983380"/>
                    <a:pt x="201477" y="705172"/>
                  </a:cubicBezTo>
                  <a:cubicBezTo>
                    <a:pt x="201477" y="426965"/>
                    <a:pt x="426965" y="201477"/>
                    <a:pt x="705172" y="201477"/>
                  </a:cubicBezTo>
                  <a:cubicBezTo>
                    <a:pt x="817916" y="201477"/>
                    <a:pt x="921929" y="238499"/>
                    <a:pt x="1005878" y="301041"/>
                  </a:cubicBezTo>
                  <a:lnTo>
                    <a:pt x="1158246" y="164792"/>
                  </a:lnTo>
                  <a:cubicBezTo>
                    <a:pt x="1035680" y="61870"/>
                    <a:pt x="877688" y="0"/>
                    <a:pt x="705172" y="0"/>
                  </a:cubicBezTo>
                  <a:cubicBezTo>
                    <a:pt x="315732" y="0"/>
                    <a:pt x="0" y="315732"/>
                    <a:pt x="0" y="705172"/>
                  </a:cubicBezTo>
                  <a:cubicBezTo>
                    <a:pt x="0" y="1094612"/>
                    <a:pt x="315732" y="1410345"/>
                    <a:pt x="705172" y="1410345"/>
                  </a:cubicBezTo>
                  <a:cubicBezTo>
                    <a:pt x="1094612" y="1410345"/>
                    <a:pt x="1410345" y="1094612"/>
                    <a:pt x="1410345" y="705172"/>
                  </a:cubicBezTo>
                  <a:cubicBezTo>
                    <a:pt x="1410345" y="560864"/>
                    <a:pt x="1367028" y="426629"/>
                    <a:pt x="1292565" y="314893"/>
                  </a:cubicBezTo>
                </a:path>
              </a:pathLst>
            </a:custGeom>
            <a:solidFill>
              <a:srgbClr val="4F85D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EC6A13D2-C219-3D24-0FB8-2E2B8198DECF}"/>
                </a:ext>
              </a:extLst>
            </p:cNvPr>
            <p:cNvSpPr/>
            <p:nvPr/>
          </p:nvSpPr>
          <p:spPr>
            <a:xfrm>
              <a:off x="834853" y="2697504"/>
              <a:ext cx="1410345" cy="1410345"/>
            </a:xfrm>
            <a:custGeom>
              <a:avLst/>
              <a:gdLst/>
              <a:ahLst/>
              <a:cxnLst/>
              <a:rect l="0" t="0" r="0" b="0"/>
              <a:pathLst>
                <a:path w="1410345" h="1410345">
                  <a:moveTo>
                    <a:pt x="1292565" y="314893"/>
                  </a:moveTo>
                  <a:lnTo>
                    <a:pt x="1140197" y="451142"/>
                  </a:lnTo>
                  <a:cubicBezTo>
                    <a:pt x="1183850" y="525689"/>
                    <a:pt x="1208867" y="612493"/>
                    <a:pt x="1208867" y="705172"/>
                  </a:cubicBezTo>
                  <a:cubicBezTo>
                    <a:pt x="1208867" y="983380"/>
                    <a:pt x="983380" y="1208867"/>
                    <a:pt x="705172" y="1208867"/>
                  </a:cubicBezTo>
                  <a:cubicBezTo>
                    <a:pt x="426965" y="1208867"/>
                    <a:pt x="201477" y="983380"/>
                    <a:pt x="201477" y="705172"/>
                  </a:cubicBezTo>
                  <a:cubicBezTo>
                    <a:pt x="201477" y="426965"/>
                    <a:pt x="426965" y="201477"/>
                    <a:pt x="705172" y="201477"/>
                  </a:cubicBezTo>
                  <a:cubicBezTo>
                    <a:pt x="817916" y="201477"/>
                    <a:pt x="921929" y="238499"/>
                    <a:pt x="1005878" y="301041"/>
                  </a:cubicBezTo>
                  <a:lnTo>
                    <a:pt x="1158246" y="164792"/>
                  </a:lnTo>
                  <a:cubicBezTo>
                    <a:pt x="1035680" y="61870"/>
                    <a:pt x="877688" y="0"/>
                    <a:pt x="705172" y="0"/>
                  </a:cubicBezTo>
                  <a:cubicBezTo>
                    <a:pt x="315732" y="0"/>
                    <a:pt x="0" y="315732"/>
                    <a:pt x="0" y="705172"/>
                  </a:cubicBezTo>
                  <a:cubicBezTo>
                    <a:pt x="0" y="1094613"/>
                    <a:pt x="315732" y="1410345"/>
                    <a:pt x="705172" y="1410345"/>
                  </a:cubicBezTo>
                  <a:cubicBezTo>
                    <a:pt x="1094612" y="1410345"/>
                    <a:pt x="1410345" y="1094613"/>
                    <a:pt x="1410345" y="705172"/>
                  </a:cubicBezTo>
                  <a:cubicBezTo>
                    <a:pt x="1410345" y="560864"/>
                    <a:pt x="1367028" y="426629"/>
                    <a:pt x="1292565" y="314893"/>
                  </a:cubicBez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5">
              <a:extLst>
                <a:ext uri="{FF2B5EF4-FFF2-40B4-BE49-F238E27FC236}">
                  <a16:creationId xmlns:a16="http://schemas.microsoft.com/office/drawing/2014/main" id="{0086669F-559A-EFD8-B06A-2A4BE61598C7}"/>
                </a:ext>
              </a:extLst>
            </p:cNvPr>
            <p:cNvSpPr/>
            <p:nvPr/>
          </p:nvSpPr>
          <p:spPr>
            <a:xfrm>
              <a:off x="1137070" y="2999721"/>
              <a:ext cx="805911" cy="805911"/>
            </a:xfrm>
            <a:custGeom>
              <a:avLst/>
              <a:gdLst/>
              <a:ahLst/>
              <a:cxnLst/>
              <a:rect l="0" t="0" r="0" b="0"/>
              <a:pathLst>
                <a:path w="805911" h="805911">
                  <a:moveTo>
                    <a:pt x="805911" y="402955"/>
                  </a:moveTo>
                  <a:cubicBezTo>
                    <a:pt x="805911" y="625505"/>
                    <a:pt x="625505" y="805911"/>
                    <a:pt x="402955" y="805911"/>
                  </a:cubicBezTo>
                  <a:cubicBezTo>
                    <a:pt x="180406" y="805911"/>
                    <a:pt x="0" y="625505"/>
                    <a:pt x="0" y="402955"/>
                  </a:cubicBezTo>
                  <a:cubicBezTo>
                    <a:pt x="0" y="180406"/>
                    <a:pt x="180406" y="0"/>
                    <a:pt x="402955" y="0"/>
                  </a:cubicBezTo>
                  <a:cubicBezTo>
                    <a:pt x="485729" y="0"/>
                    <a:pt x="562711" y="24932"/>
                    <a:pt x="626680" y="67746"/>
                  </a:cubicBezTo>
                  <a:lnTo>
                    <a:pt x="465833" y="211551"/>
                  </a:lnTo>
                  <a:cubicBezTo>
                    <a:pt x="446021" y="205003"/>
                    <a:pt x="424950" y="201477"/>
                    <a:pt x="402955" y="201477"/>
                  </a:cubicBezTo>
                  <a:cubicBezTo>
                    <a:pt x="291723" y="201477"/>
                    <a:pt x="201477" y="291723"/>
                    <a:pt x="201477" y="402955"/>
                  </a:cubicBezTo>
                  <a:cubicBezTo>
                    <a:pt x="201477" y="514188"/>
                    <a:pt x="291723" y="604433"/>
                    <a:pt x="402955" y="604433"/>
                  </a:cubicBezTo>
                  <a:cubicBezTo>
                    <a:pt x="514188" y="604433"/>
                    <a:pt x="604433" y="514188"/>
                    <a:pt x="604433" y="402955"/>
                  </a:cubicBezTo>
                  <a:cubicBezTo>
                    <a:pt x="604433" y="388852"/>
                    <a:pt x="603006" y="375000"/>
                    <a:pt x="600152" y="361736"/>
                  </a:cubicBezTo>
                  <a:lnTo>
                    <a:pt x="760999" y="217848"/>
                  </a:lnTo>
                  <a:cubicBezTo>
                    <a:pt x="789709" y="273254"/>
                    <a:pt x="805911" y="336216"/>
                    <a:pt x="805911" y="402955"/>
                  </a:cubicBezTo>
                </a:path>
              </a:pathLst>
            </a:custGeom>
            <a:solidFill>
              <a:srgbClr val="4877C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8">
              <a:extLst>
                <a:ext uri="{FF2B5EF4-FFF2-40B4-BE49-F238E27FC236}">
                  <a16:creationId xmlns:a16="http://schemas.microsoft.com/office/drawing/2014/main" id="{6D356151-91E1-1AAA-AE7A-4D32C326BF67}"/>
                </a:ext>
              </a:extLst>
            </p:cNvPr>
            <p:cNvSpPr/>
            <p:nvPr/>
          </p:nvSpPr>
          <p:spPr>
            <a:xfrm>
              <a:off x="1137070" y="2999724"/>
              <a:ext cx="805911" cy="805911"/>
            </a:xfrm>
            <a:custGeom>
              <a:avLst/>
              <a:gdLst/>
              <a:ahLst/>
              <a:cxnLst/>
              <a:rect l="0" t="0" r="0" b="0"/>
              <a:pathLst>
                <a:path w="805911" h="805911">
                  <a:moveTo>
                    <a:pt x="805911" y="402955"/>
                  </a:moveTo>
                  <a:cubicBezTo>
                    <a:pt x="805911" y="625505"/>
                    <a:pt x="625505" y="805911"/>
                    <a:pt x="402955" y="805911"/>
                  </a:cubicBezTo>
                  <a:cubicBezTo>
                    <a:pt x="180406" y="805911"/>
                    <a:pt x="0" y="625505"/>
                    <a:pt x="0" y="402955"/>
                  </a:cubicBezTo>
                  <a:cubicBezTo>
                    <a:pt x="0" y="180406"/>
                    <a:pt x="180406" y="0"/>
                    <a:pt x="402955" y="0"/>
                  </a:cubicBezTo>
                  <a:cubicBezTo>
                    <a:pt x="485729" y="0"/>
                    <a:pt x="562711" y="24932"/>
                    <a:pt x="626680" y="67746"/>
                  </a:cubicBezTo>
                  <a:lnTo>
                    <a:pt x="465833" y="211551"/>
                  </a:lnTo>
                  <a:cubicBezTo>
                    <a:pt x="446021" y="205003"/>
                    <a:pt x="424950" y="201477"/>
                    <a:pt x="402955" y="201477"/>
                  </a:cubicBezTo>
                  <a:cubicBezTo>
                    <a:pt x="291723" y="201477"/>
                    <a:pt x="201477" y="291723"/>
                    <a:pt x="201477" y="402955"/>
                  </a:cubicBezTo>
                  <a:cubicBezTo>
                    <a:pt x="201477" y="514188"/>
                    <a:pt x="291723" y="604433"/>
                    <a:pt x="402955" y="604433"/>
                  </a:cubicBezTo>
                  <a:cubicBezTo>
                    <a:pt x="514188" y="604433"/>
                    <a:pt x="604433" y="514188"/>
                    <a:pt x="604433" y="402955"/>
                  </a:cubicBezTo>
                  <a:cubicBezTo>
                    <a:pt x="604433" y="388852"/>
                    <a:pt x="603006" y="375000"/>
                    <a:pt x="600152" y="361736"/>
                  </a:cubicBezTo>
                  <a:lnTo>
                    <a:pt x="760999" y="217848"/>
                  </a:lnTo>
                  <a:cubicBezTo>
                    <a:pt x="789709" y="273254"/>
                    <a:pt x="805911" y="336216"/>
                    <a:pt x="805911" y="402955"/>
                  </a:cubicBez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31">
              <a:extLst>
                <a:ext uri="{FF2B5EF4-FFF2-40B4-BE49-F238E27FC236}">
                  <a16:creationId xmlns:a16="http://schemas.microsoft.com/office/drawing/2014/main" id="{A6C3A6CB-C890-1A60-A96F-41C72B745107}"/>
                </a:ext>
              </a:extLst>
            </p:cNvPr>
            <p:cNvSpPr/>
            <p:nvPr/>
          </p:nvSpPr>
          <p:spPr>
            <a:xfrm>
              <a:off x="1439287" y="1846855"/>
              <a:ext cx="1804067" cy="1654218"/>
            </a:xfrm>
            <a:custGeom>
              <a:avLst/>
              <a:gdLst/>
              <a:ahLst/>
              <a:cxnLst/>
              <a:rect l="0" t="0" r="0" b="0"/>
              <a:pathLst>
                <a:path w="1804067" h="1654218">
                  <a:moveTo>
                    <a:pt x="1804067" y="330088"/>
                  </a:moveTo>
                  <a:lnTo>
                    <a:pt x="1653882" y="464406"/>
                  </a:lnTo>
                  <a:lnTo>
                    <a:pt x="1454083" y="415044"/>
                  </a:lnTo>
                  <a:lnTo>
                    <a:pt x="1402202" y="461384"/>
                  </a:lnTo>
                  <a:lnTo>
                    <a:pt x="1602001" y="510746"/>
                  </a:lnTo>
                  <a:lnTo>
                    <a:pt x="1451900" y="645065"/>
                  </a:lnTo>
                  <a:lnTo>
                    <a:pt x="1252101" y="595703"/>
                  </a:lnTo>
                  <a:lnTo>
                    <a:pt x="199757" y="1534825"/>
                  </a:lnTo>
                  <a:cubicBezTo>
                    <a:pt x="200890" y="1540869"/>
                    <a:pt x="201477" y="1547107"/>
                    <a:pt x="201477" y="1553479"/>
                  </a:cubicBezTo>
                  <a:cubicBezTo>
                    <a:pt x="201477" y="1609112"/>
                    <a:pt x="156372" y="1654218"/>
                    <a:pt x="100738" y="1654218"/>
                  </a:cubicBezTo>
                  <a:cubicBezTo>
                    <a:pt x="45105" y="1654218"/>
                    <a:pt x="0" y="1609112"/>
                    <a:pt x="0" y="1553479"/>
                  </a:cubicBezTo>
                  <a:cubicBezTo>
                    <a:pt x="0" y="1497837"/>
                    <a:pt x="45105" y="1452740"/>
                    <a:pt x="100738" y="1452740"/>
                  </a:cubicBezTo>
                  <a:cubicBezTo>
                    <a:pt x="112416" y="1452740"/>
                    <a:pt x="123631" y="1454721"/>
                    <a:pt x="134058" y="1458381"/>
                  </a:cubicBezTo>
                  <a:lnTo>
                    <a:pt x="1183767" y="521660"/>
                  </a:lnTo>
                  <a:lnTo>
                    <a:pt x="1156567" y="314977"/>
                  </a:lnTo>
                  <a:lnTo>
                    <a:pt x="1306752" y="180658"/>
                  </a:lnTo>
                  <a:lnTo>
                    <a:pt x="1333952" y="387341"/>
                  </a:lnTo>
                  <a:lnTo>
                    <a:pt x="1385832" y="340917"/>
                  </a:lnTo>
                  <a:lnTo>
                    <a:pt x="1358549" y="134318"/>
                  </a:lnTo>
                  <a:lnTo>
                    <a:pt x="1508734" y="0"/>
                  </a:lnTo>
                  <a:lnTo>
                    <a:pt x="1543740" y="265783"/>
                  </a:lnTo>
                  <a:lnTo>
                    <a:pt x="1804067" y="330088"/>
                  </a:lnTo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34">
              <a:extLst>
                <a:ext uri="{FF2B5EF4-FFF2-40B4-BE49-F238E27FC236}">
                  <a16:creationId xmlns:a16="http://schemas.microsoft.com/office/drawing/2014/main" id="{D8EDE50A-D3C4-F20D-02B3-C00377FDBDF6}"/>
                </a:ext>
              </a:extLst>
            </p:cNvPr>
            <p:cNvSpPr/>
            <p:nvPr/>
          </p:nvSpPr>
          <p:spPr>
            <a:xfrm>
              <a:off x="1439287" y="1846855"/>
              <a:ext cx="1804067" cy="1654216"/>
            </a:xfrm>
            <a:custGeom>
              <a:avLst/>
              <a:gdLst/>
              <a:ahLst/>
              <a:cxnLst/>
              <a:rect l="0" t="0" r="0" b="0"/>
              <a:pathLst>
                <a:path w="1804067" h="1654216">
                  <a:moveTo>
                    <a:pt x="1804067" y="330088"/>
                  </a:moveTo>
                  <a:lnTo>
                    <a:pt x="1653882" y="464406"/>
                  </a:lnTo>
                  <a:lnTo>
                    <a:pt x="1454083" y="415044"/>
                  </a:lnTo>
                  <a:lnTo>
                    <a:pt x="1402202" y="461384"/>
                  </a:lnTo>
                  <a:lnTo>
                    <a:pt x="1602001" y="510746"/>
                  </a:lnTo>
                  <a:lnTo>
                    <a:pt x="1451900" y="645065"/>
                  </a:lnTo>
                  <a:lnTo>
                    <a:pt x="1252101" y="595703"/>
                  </a:lnTo>
                  <a:lnTo>
                    <a:pt x="199754" y="1534823"/>
                  </a:lnTo>
                  <a:cubicBezTo>
                    <a:pt x="200886" y="1540868"/>
                    <a:pt x="201477" y="1547103"/>
                    <a:pt x="201477" y="1553477"/>
                  </a:cubicBezTo>
                  <a:cubicBezTo>
                    <a:pt x="201477" y="1609113"/>
                    <a:pt x="156375" y="1654216"/>
                    <a:pt x="100738" y="1654216"/>
                  </a:cubicBezTo>
                  <a:cubicBezTo>
                    <a:pt x="45102" y="1654216"/>
                    <a:pt x="0" y="1609113"/>
                    <a:pt x="0" y="1553477"/>
                  </a:cubicBezTo>
                  <a:cubicBezTo>
                    <a:pt x="0" y="1497840"/>
                    <a:pt x="45102" y="1452738"/>
                    <a:pt x="100738" y="1452738"/>
                  </a:cubicBezTo>
                  <a:cubicBezTo>
                    <a:pt x="112417" y="1452738"/>
                    <a:pt x="123631" y="1454725"/>
                    <a:pt x="134060" y="1458379"/>
                  </a:cubicBezTo>
                  <a:lnTo>
                    <a:pt x="1183767" y="521660"/>
                  </a:lnTo>
                  <a:lnTo>
                    <a:pt x="1156567" y="314977"/>
                  </a:lnTo>
                  <a:lnTo>
                    <a:pt x="1306752" y="180658"/>
                  </a:lnTo>
                  <a:lnTo>
                    <a:pt x="1333952" y="387341"/>
                  </a:lnTo>
                  <a:lnTo>
                    <a:pt x="1385832" y="340917"/>
                  </a:lnTo>
                  <a:lnTo>
                    <a:pt x="1358549" y="134318"/>
                  </a:lnTo>
                  <a:lnTo>
                    <a:pt x="1508734" y="0"/>
                  </a:lnTo>
                  <a:lnTo>
                    <a:pt x="1543740" y="265783"/>
                  </a:lnTo>
                  <a:lnTo>
                    <a:pt x="1804067" y="330088"/>
                  </a:lnTo>
                  <a:close/>
                </a:path>
              </a:pathLst>
            </a:custGeom>
            <a:noFill/>
            <a:ln w="629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885F2A-1F5E-0A65-057E-6FC7145E34EA}"/>
              </a:ext>
            </a:extLst>
          </p:cNvPr>
          <p:cNvCxnSpPr>
            <a:cxnSpLocks/>
          </p:cNvCxnSpPr>
          <p:nvPr/>
        </p:nvCxnSpPr>
        <p:spPr>
          <a:xfrm>
            <a:off x="3004406" y="4267835"/>
            <a:ext cx="2725120" cy="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6D324E6-47C4-6831-474C-2E10DD254E0E}"/>
              </a:ext>
            </a:extLst>
          </p:cNvPr>
          <p:cNvSpPr/>
          <p:nvPr/>
        </p:nvSpPr>
        <p:spPr>
          <a:xfrm>
            <a:off x="5812774" y="2386989"/>
            <a:ext cx="5160025" cy="775948"/>
          </a:xfrm>
          <a:prstGeom prst="roundRect">
            <a:avLst>
              <a:gd name="adj" fmla="val 3025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6F21BA-8180-9FEA-0D65-DF4AD400CD50}"/>
              </a:ext>
            </a:extLst>
          </p:cNvPr>
          <p:cNvSpPr txBox="1"/>
          <p:nvPr/>
        </p:nvSpPr>
        <p:spPr>
          <a:xfrm>
            <a:off x="6356137" y="2558686"/>
            <a:ext cx="40447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 Architecture</a:t>
            </a:r>
          </a:p>
          <a:p>
            <a:pPr marL="171450" indent="-171450">
              <a:buFont typeface="Roboto" panose="02000000000000000000" pitchFamily="2" charset="0"/>
              <a:buChar char="»"/>
            </a:pPr>
            <a:r>
              <a:rPr lang="en-IN" sz="1200" b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 SOTA Model for Semantic Segmentation</a:t>
            </a:r>
            <a:endParaRPr lang="en-US" sz="1200" b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1600" b="1" dirty="0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01BD6EA-D505-F9BB-19BA-F80C198FB060}"/>
              </a:ext>
            </a:extLst>
          </p:cNvPr>
          <p:cNvGrpSpPr/>
          <p:nvPr/>
        </p:nvGrpSpPr>
        <p:grpSpPr>
          <a:xfrm>
            <a:off x="5397481" y="2344451"/>
            <a:ext cx="861024" cy="861024"/>
            <a:chOff x="2715881" y="1556764"/>
            <a:chExt cx="969348" cy="96934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5E0FC5C-D2BA-032E-BDBD-04FAFB08C1C2}"/>
                </a:ext>
              </a:extLst>
            </p:cNvPr>
            <p:cNvSpPr/>
            <p:nvPr/>
          </p:nvSpPr>
          <p:spPr>
            <a:xfrm>
              <a:off x="2715881" y="1556764"/>
              <a:ext cx="969348" cy="969348"/>
            </a:xfrm>
            <a:prstGeom prst="ellipse">
              <a:avLst/>
            </a:prstGeom>
            <a:solidFill>
              <a:srgbClr val="507F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BEC9097-FC3D-DB5C-F081-2D499D766AB4}"/>
                </a:ext>
              </a:extLst>
            </p:cNvPr>
            <p:cNvSpPr/>
            <p:nvPr/>
          </p:nvSpPr>
          <p:spPr>
            <a:xfrm>
              <a:off x="2777897" y="1618780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rgbClr val="005A9B"/>
                  </a:solidFill>
                </a:rPr>
                <a:t>1</a:t>
              </a:r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DDBE53D-0CAF-AD01-9301-35EB41DE588D}"/>
              </a:ext>
            </a:extLst>
          </p:cNvPr>
          <p:cNvSpPr txBox="1"/>
          <p:nvPr/>
        </p:nvSpPr>
        <p:spPr>
          <a:xfrm>
            <a:off x="6898400" y="3503147"/>
            <a:ext cx="52859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 using 2 Datasets</a:t>
            </a:r>
          </a:p>
          <a:p>
            <a:pPr marL="171450" indent="-171450">
              <a:buFont typeface="Roboto" panose="02000000000000000000" pitchFamily="2" charset="0"/>
              <a:buChar char="»"/>
            </a:pPr>
            <a:r>
              <a:rPr lang="en-IN" sz="1200" b="1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Implement Alternate training (ACDC – CS)</a:t>
            </a:r>
            <a:endParaRPr lang="en-US" sz="1200" b="1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A4B54D-514A-98BF-9CBA-A76A2564BD4D}"/>
              </a:ext>
            </a:extLst>
          </p:cNvPr>
          <p:cNvGrpSpPr/>
          <p:nvPr/>
        </p:nvGrpSpPr>
        <p:grpSpPr>
          <a:xfrm>
            <a:off x="5916655" y="3332344"/>
            <a:ext cx="861024" cy="861024"/>
            <a:chOff x="2715881" y="1556764"/>
            <a:chExt cx="969348" cy="96934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9A8BDD3-12F7-0523-237B-2D5001B3D723}"/>
                </a:ext>
              </a:extLst>
            </p:cNvPr>
            <p:cNvSpPr/>
            <p:nvPr/>
          </p:nvSpPr>
          <p:spPr>
            <a:xfrm>
              <a:off x="2715881" y="1556764"/>
              <a:ext cx="969348" cy="969348"/>
            </a:xfrm>
            <a:prstGeom prst="ellipse">
              <a:avLst/>
            </a:prstGeom>
            <a:solidFill>
              <a:srgbClr val="507F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39D5C54-35D7-53F3-506D-FA0118815E6A}"/>
                </a:ext>
              </a:extLst>
            </p:cNvPr>
            <p:cNvSpPr/>
            <p:nvPr/>
          </p:nvSpPr>
          <p:spPr>
            <a:xfrm>
              <a:off x="2777897" y="1618780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rgbClr val="005A9B"/>
                  </a:solidFill>
                </a:rPr>
                <a:t>2</a:t>
              </a:r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FC91490-5AAF-E425-D8F0-2BEF42B61BB3}"/>
              </a:ext>
            </a:extLst>
          </p:cNvPr>
          <p:cNvSpPr txBox="1"/>
          <p:nvPr/>
        </p:nvSpPr>
        <p:spPr>
          <a:xfrm>
            <a:off x="6898400" y="4511136"/>
            <a:ext cx="528599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>
                <a:solidFill>
                  <a:srgbClr val="005A9B"/>
                </a:solidFill>
                <a:latin typeface="Roboto"/>
                <a:ea typeface="Roboto"/>
                <a:cs typeface="Roboto"/>
              </a:rPr>
              <a:t>Targeted encoder freezing (CS only)</a:t>
            </a:r>
          </a:p>
          <a:p>
            <a:pPr marL="171450" indent="-171450">
              <a:buFont typeface="Roboto" panose="02000000000000000000" pitchFamily="2" charset="0"/>
              <a:buChar char="»"/>
            </a:pPr>
            <a:r>
              <a:rPr lang="en-US" sz="1200" b="1">
                <a:solidFill>
                  <a:schemeClr val="tx2">
                    <a:lumMod val="85000"/>
                    <a:lumOff val="15000"/>
                  </a:schemeClr>
                </a:solidFill>
                <a:latin typeface="Roboto"/>
                <a:ea typeface="Roboto"/>
                <a:cs typeface="Roboto"/>
              </a:rPr>
              <a:t>Preserves clear-weather features </a:t>
            </a:r>
            <a:endParaRPr lang="en-US" sz="1600" b="1">
              <a:solidFill>
                <a:schemeClr val="tx2">
                  <a:lumMod val="85000"/>
                  <a:lumOff val="15000"/>
                </a:schemeClr>
              </a:solidFill>
              <a:latin typeface="Roboto"/>
              <a:ea typeface="Roboto"/>
              <a:cs typeface="Roboto"/>
            </a:endParaRPr>
          </a:p>
          <a:p>
            <a:endParaRPr lang="en-US" sz="16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12FF1C-AA27-E2C0-6E53-09F89C4A4327}"/>
              </a:ext>
            </a:extLst>
          </p:cNvPr>
          <p:cNvGrpSpPr/>
          <p:nvPr/>
        </p:nvGrpSpPr>
        <p:grpSpPr>
          <a:xfrm>
            <a:off x="5916655" y="4320237"/>
            <a:ext cx="861024" cy="861024"/>
            <a:chOff x="2715881" y="1556764"/>
            <a:chExt cx="969348" cy="969348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55CFE17-C1D6-0B25-8A9E-093C9EB25854}"/>
                </a:ext>
              </a:extLst>
            </p:cNvPr>
            <p:cNvSpPr/>
            <p:nvPr/>
          </p:nvSpPr>
          <p:spPr>
            <a:xfrm>
              <a:off x="2715881" y="1556764"/>
              <a:ext cx="969348" cy="969348"/>
            </a:xfrm>
            <a:prstGeom prst="ellipse">
              <a:avLst/>
            </a:prstGeom>
            <a:solidFill>
              <a:srgbClr val="507F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C64DC25-3DC6-1D2C-DFE6-2330A826B85D}"/>
                </a:ext>
              </a:extLst>
            </p:cNvPr>
            <p:cNvSpPr/>
            <p:nvPr/>
          </p:nvSpPr>
          <p:spPr>
            <a:xfrm>
              <a:off x="2777897" y="1618780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rgbClr val="005A9B"/>
                  </a:solidFill>
                </a:rPr>
                <a:t>3</a:t>
              </a:r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7DF6B415-350D-E030-344A-1BBC46A41D3D}"/>
              </a:ext>
            </a:extLst>
          </p:cNvPr>
          <p:cNvSpPr txBox="1"/>
          <p:nvPr/>
        </p:nvSpPr>
        <p:spPr>
          <a:xfrm>
            <a:off x="6379226" y="5488980"/>
            <a:ext cx="52859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Auxiliary supervision (WAS/TAS)</a:t>
            </a:r>
          </a:p>
          <a:p>
            <a:pPr marL="171450" indent="-171450">
              <a:buFont typeface="Roboto" panose="02000000000000000000" pitchFamily="2" charset="0"/>
              <a:buChar char="»"/>
            </a:pPr>
            <a:r>
              <a:rPr lang="en-US" sz="1200" b="1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Weather &amp; Time-aware heads guide the encoder (training only)</a:t>
            </a:r>
          </a:p>
          <a:p>
            <a:endParaRPr lang="en-US" sz="16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222883-0445-DAF8-8A6B-D45E5CF8EA94}"/>
              </a:ext>
            </a:extLst>
          </p:cNvPr>
          <p:cNvGrpSpPr/>
          <p:nvPr/>
        </p:nvGrpSpPr>
        <p:grpSpPr>
          <a:xfrm>
            <a:off x="5397481" y="5308129"/>
            <a:ext cx="861024" cy="861024"/>
            <a:chOff x="2715881" y="1556764"/>
            <a:chExt cx="969348" cy="969348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463A9B7-BE16-2BC3-42E7-EE870ED6E428}"/>
                </a:ext>
              </a:extLst>
            </p:cNvPr>
            <p:cNvSpPr/>
            <p:nvPr/>
          </p:nvSpPr>
          <p:spPr>
            <a:xfrm>
              <a:off x="2715881" y="1556764"/>
              <a:ext cx="969348" cy="969348"/>
            </a:xfrm>
            <a:prstGeom prst="ellipse">
              <a:avLst/>
            </a:prstGeom>
            <a:solidFill>
              <a:srgbClr val="507FC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0298457-935A-51B9-4BF3-592E20578FDD}"/>
                </a:ext>
              </a:extLst>
            </p:cNvPr>
            <p:cNvSpPr/>
            <p:nvPr/>
          </p:nvSpPr>
          <p:spPr>
            <a:xfrm>
              <a:off x="2777897" y="1618780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rgbClr val="005A9B"/>
                  </a:solidFill>
                </a:rPr>
                <a:t>4</a:t>
              </a:r>
              <a:endParaRPr lang="en-IN" sz="2800" b="1">
                <a:solidFill>
                  <a:srgbClr val="005A9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248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CAD1-7007-9759-E7CF-EC1EDFF6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0C27F-0451-8B19-3D94-3AB0447CD1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13</a:t>
            </a:fld>
            <a:endParaRPr lang="de-DE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13F5120-94BC-DFD9-DE99-1F2AE396DDEC}"/>
              </a:ext>
            </a:extLst>
          </p:cNvPr>
          <p:cNvSpPr/>
          <p:nvPr/>
        </p:nvSpPr>
        <p:spPr>
          <a:xfrm>
            <a:off x="10635721" y="1782119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9B40989-C5FC-B7AA-654C-69A4B94412CC}"/>
              </a:ext>
            </a:extLst>
          </p:cNvPr>
          <p:cNvSpPr/>
          <p:nvPr/>
        </p:nvSpPr>
        <p:spPr>
          <a:xfrm>
            <a:off x="5180053" y="1739982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56C2FD2-8AB5-55E2-C8CC-4E44A732446E}"/>
              </a:ext>
            </a:extLst>
          </p:cNvPr>
          <p:cNvSpPr txBox="1"/>
          <p:nvPr/>
        </p:nvSpPr>
        <p:spPr>
          <a:xfrm>
            <a:off x="5878634" y="2024601"/>
            <a:ext cx="4397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 4 : Proposed Architecture</a:t>
            </a:r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845968C2-BACB-C19F-0D6D-AD3637E68A43}"/>
              </a:ext>
            </a:extLst>
          </p:cNvPr>
          <p:cNvSpPr/>
          <p:nvPr/>
        </p:nvSpPr>
        <p:spPr>
          <a:xfrm>
            <a:off x="10635721" y="2960193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72648758-AF18-DA7B-11EC-0B30CF4D2643}"/>
              </a:ext>
            </a:extLst>
          </p:cNvPr>
          <p:cNvSpPr/>
          <p:nvPr/>
        </p:nvSpPr>
        <p:spPr>
          <a:xfrm>
            <a:off x="5180053" y="2918056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F9920CBD-8D80-0689-21F8-BD910EC63B65}"/>
              </a:ext>
            </a:extLst>
          </p:cNvPr>
          <p:cNvGrpSpPr/>
          <p:nvPr/>
        </p:nvGrpSpPr>
        <p:grpSpPr>
          <a:xfrm>
            <a:off x="4613507" y="2918056"/>
            <a:ext cx="969348" cy="969348"/>
            <a:chOff x="2715881" y="2734838"/>
            <a:chExt cx="969348" cy="969348"/>
          </a:xfrm>
        </p:grpSpPr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DEB2B8F8-DEE1-49FD-3816-E7E1E150C67F}"/>
                </a:ext>
              </a:extLst>
            </p:cNvPr>
            <p:cNvSpPr/>
            <p:nvPr/>
          </p:nvSpPr>
          <p:spPr>
            <a:xfrm>
              <a:off x="2715881" y="2734838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F87AAB7A-0AA1-21EE-52AF-378502792F81}"/>
                </a:ext>
              </a:extLst>
            </p:cNvPr>
            <p:cNvSpPr/>
            <p:nvPr/>
          </p:nvSpPr>
          <p:spPr>
            <a:xfrm>
              <a:off x="2777897" y="2796854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51" name="TextBox 1050">
            <a:extLst>
              <a:ext uri="{FF2B5EF4-FFF2-40B4-BE49-F238E27FC236}">
                <a16:creationId xmlns:a16="http://schemas.microsoft.com/office/drawing/2014/main" id="{851A4CDD-D425-2B83-DB76-B95D782A45CC}"/>
              </a:ext>
            </a:extLst>
          </p:cNvPr>
          <p:cNvSpPr txBox="1"/>
          <p:nvPr/>
        </p:nvSpPr>
        <p:spPr>
          <a:xfrm>
            <a:off x="5878634" y="3202675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5 : Dataset Used</a:t>
            </a: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6101F4DB-861C-3A61-C0A4-A781D1A077E0}"/>
              </a:ext>
            </a:extLst>
          </p:cNvPr>
          <p:cNvSpPr/>
          <p:nvPr/>
        </p:nvSpPr>
        <p:spPr>
          <a:xfrm>
            <a:off x="10635721" y="4138267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A80C483A-5F76-BD7C-E565-241784228DC7}"/>
              </a:ext>
            </a:extLst>
          </p:cNvPr>
          <p:cNvSpPr/>
          <p:nvPr/>
        </p:nvSpPr>
        <p:spPr>
          <a:xfrm>
            <a:off x="5180053" y="4096130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271A9AB3-7D56-A636-2640-AD4A5797AA8A}"/>
              </a:ext>
            </a:extLst>
          </p:cNvPr>
          <p:cNvGrpSpPr/>
          <p:nvPr/>
        </p:nvGrpSpPr>
        <p:grpSpPr>
          <a:xfrm>
            <a:off x="4613507" y="4096130"/>
            <a:ext cx="969348" cy="969348"/>
            <a:chOff x="2715881" y="3912912"/>
            <a:chExt cx="969348" cy="969348"/>
          </a:xfrm>
        </p:grpSpPr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24F2BBC8-2572-49CF-3B39-EC3C9A6DEB74}"/>
                </a:ext>
              </a:extLst>
            </p:cNvPr>
            <p:cNvSpPr/>
            <p:nvPr/>
          </p:nvSpPr>
          <p:spPr>
            <a:xfrm>
              <a:off x="2715881" y="3912912"/>
              <a:ext cx="969348" cy="969348"/>
            </a:xfrm>
            <a:prstGeom prst="ellipse">
              <a:avLst/>
            </a:prstGeom>
            <a:solidFill>
              <a:srgbClr val="4F92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0886F37B-4870-6F1F-EEAB-5D6EDE3B69E9}"/>
                </a:ext>
              </a:extLst>
            </p:cNvPr>
            <p:cNvSpPr/>
            <p:nvPr/>
          </p:nvSpPr>
          <p:spPr>
            <a:xfrm>
              <a:off x="2777897" y="3974928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422F3D36-51BC-2E99-C22C-30DA8BC00E98}"/>
              </a:ext>
            </a:extLst>
          </p:cNvPr>
          <p:cNvSpPr txBox="1"/>
          <p:nvPr/>
        </p:nvSpPr>
        <p:spPr>
          <a:xfrm>
            <a:off x="5878634" y="4380749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6 : Training Strategy</a:t>
            </a:r>
          </a:p>
        </p:txBody>
      </p:sp>
      <p:sp>
        <p:nvSpPr>
          <p:cNvPr id="1060" name="Rectangle: Rounded Corners 1059">
            <a:extLst>
              <a:ext uri="{FF2B5EF4-FFF2-40B4-BE49-F238E27FC236}">
                <a16:creationId xmlns:a16="http://schemas.microsoft.com/office/drawing/2014/main" id="{04F90744-032D-2A98-67BE-6989BA90D892}"/>
              </a:ext>
            </a:extLst>
          </p:cNvPr>
          <p:cNvSpPr/>
          <p:nvPr/>
        </p:nvSpPr>
        <p:spPr>
          <a:xfrm>
            <a:off x="10635721" y="5327908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2980D11F-8830-E347-ABFD-319C93D818BF}"/>
              </a:ext>
            </a:extLst>
          </p:cNvPr>
          <p:cNvSpPr/>
          <p:nvPr/>
        </p:nvSpPr>
        <p:spPr>
          <a:xfrm>
            <a:off x="5238373" y="5274205"/>
            <a:ext cx="598511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A6F80199-51E0-4745-0EC6-50D65CD4E358}"/>
              </a:ext>
            </a:extLst>
          </p:cNvPr>
          <p:cNvGrpSpPr/>
          <p:nvPr/>
        </p:nvGrpSpPr>
        <p:grpSpPr>
          <a:xfrm>
            <a:off x="4671827" y="5274205"/>
            <a:ext cx="969348" cy="969348"/>
            <a:chOff x="2774201" y="5090987"/>
            <a:chExt cx="969348" cy="969348"/>
          </a:xfrm>
        </p:grpSpPr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27C9D516-AB1C-D9C8-B964-5F576754B48F}"/>
                </a:ext>
              </a:extLst>
            </p:cNvPr>
            <p:cNvSpPr/>
            <p:nvPr/>
          </p:nvSpPr>
          <p:spPr>
            <a:xfrm>
              <a:off x="2774201" y="5090987"/>
              <a:ext cx="969348" cy="969348"/>
            </a:xfrm>
            <a:prstGeom prst="ellipse">
              <a:avLst/>
            </a:prstGeom>
            <a:solidFill>
              <a:srgbClr val="95BD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18C20401-32A8-4793-411A-0AE899A07465}"/>
                </a:ext>
              </a:extLst>
            </p:cNvPr>
            <p:cNvSpPr/>
            <p:nvPr/>
          </p:nvSpPr>
          <p:spPr>
            <a:xfrm>
              <a:off x="2836217" y="5153003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065" name="TextBox 1064">
            <a:extLst>
              <a:ext uri="{FF2B5EF4-FFF2-40B4-BE49-F238E27FC236}">
                <a16:creationId xmlns:a16="http://schemas.microsoft.com/office/drawing/2014/main" id="{FCCDB2ED-AA91-DDDB-ED7C-70F27E9FDCC2}"/>
              </a:ext>
            </a:extLst>
          </p:cNvPr>
          <p:cNvSpPr txBox="1"/>
          <p:nvPr/>
        </p:nvSpPr>
        <p:spPr>
          <a:xfrm>
            <a:off x="5878634" y="5558824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7 : Loss Calculation</a:t>
            </a:r>
          </a:p>
        </p:txBody>
      </p:sp>
      <p:pic>
        <p:nvPicPr>
          <p:cNvPr id="1068" name="Picture 8" descr="Search">
            <a:extLst>
              <a:ext uri="{FF2B5EF4-FFF2-40B4-BE49-F238E27FC236}">
                <a16:creationId xmlns:a16="http://schemas.microsoft.com/office/drawing/2014/main" id="{4B0F932A-F18E-F47F-FDD8-7C404B1EC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005A9B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40125" y="5558824"/>
            <a:ext cx="482727" cy="48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10" descr="Evaluation">
            <a:extLst>
              <a:ext uri="{FF2B5EF4-FFF2-40B4-BE49-F238E27FC236}">
                <a16:creationId xmlns:a16="http://schemas.microsoft.com/office/drawing/2014/main" id="{F8AB437E-A389-EB6F-8438-80C56CDB6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787" y="4359555"/>
            <a:ext cx="484811" cy="48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12" descr="Enhance ">
            <a:extLst>
              <a:ext uri="{FF2B5EF4-FFF2-40B4-BE49-F238E27FC236}">
                <a16:creationId xmlns:a16="http://schemas.microsoft.com/office/drawing/2014/main" id="{042F3BD6-45ED-07DE-5D16-427D50617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175" y="3118786"/>
            <a:ext cx="531875" cy="5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EAABC6ED-CB8B-BEB8-A3B5-71B12834F3C0}"/>
              </a:ext>
            </a:extLst>
          </p:cNvPr>
          <p:cNvGrpSpPr/>
          <p:nvPr/>
        </p:nvGrpSpPr>
        <p:grpSpPr>
          <a:xfrm>
            <a:off x="4613507" y="1739982"/>
            <a:ext cx="969348" cy="969348"/>
            <a:chOff x="2715881" y="1556764"/>
            <a:chExt cx="969348" cy="969348"/>
          </a:xfrm>
        </p:grpSpPr>
        <p:grpSp>
          <p:nvGrpSpPr>
            <p:cNvPr id="1074" name="Group 1073">
              <a:extLst>
                <a:ext uri="{FF2B5EF4-FFF2-40B4-BE49-F238E27FC236}">
                  <a16:creationId xmlns:a16="http://schemas.microsoft.com/office/drawing/2014/main" id="{809CF883-A84B-E43A-3CEB-9CDE5E753E7B}"/>
                </a:ext>
              </a:extLst>
            </p:cNvPr>
            <p:cNvGrpSpPr/>
            <p:nvPr/>
          </p:nvGrpSpPr>
          <p:grpSpPr>
            <a:xfrm>
              <a:off x="2715881" y="1556764"/>
              <a:ext cx="969348" cy="969348"/>
              <a:chOff x="2715881" y="1556764"/>
              <a:chExt cx="969348" cy="969348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C068878-CA79-1103-24BF-6B25C9C3F161}"/>
                  </a:ext>
                </a:extLst>
              </p:cNvPr>
              <p:cNvSpPr/>
              <p:nvPr/>
            </p:nvSpPr>
            <p:spPr>
              <a:xfrm>
                <a:off x="2715881" y="1556764"/>
                <a:ext cx="969348" cy="969348"/>
              </a:xfrm>
              <a:prstGeom prst="ellipse">
                <a:avLst/>
              </a:prstGeom>
              <a:solidFill>
                <a:srgbClr val="507FCC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FA26A80-13F4-1E1B-7ECA-90492271390F}"/>
                  </a:ext>
                </a:extLst>
              </p:cNvPr>
              <p:cNvSpPr/>
              <p:nvPr/>
            </p:nvSpPr>
            <p:spPr>
              <a:xfrm>
                <a:off x="2777897" y="1618780"/>
                <a:ext cx="845316" cy="8453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800" b="1">
                  <a:solidFill>
                    <a:srgbClr val="005A9B"/>
                  </a:solidFill>
                </a:endParaRPr>
              </a:p>
            </p:txBody>
          </p:sp>
        </p:grpSp>
        <p:pic>
          <p:nvPicPr>
            <p:cNvPr id="1072" name="Picture 16" descr="Identification ">
              <a:extLst>
                <a:ext uri="{FF2B5EF4-FFF2-40B4-BE49-F238E27FC236}">
                  <a16:creationId xmlns:a16="http://schemas.microsoft.com/office/drawing/2014/main" id="{C70870BD-810D-BE45-C9DF-6DAB1AD35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193" y="1797951"/>
              <a:ext cx="478668" cy="478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32D493C-A9DF-DC4C-FAA9-4057E5F1CC16}"/>
              </a:ext>
            </a:extLst>
          </p:cNvPr>
          <p:cNvGrpSpPr/>
          <p:nvPr/>
        </p:nvGrpSpPr>
        <p:grpSpPr>
          <a:xfrm>
            <a:off x="364444" y="3453537"/>
            <a:ext cx="3331495" cy="927212"/>
            <a:chOff x="444092" y="3372792"/>
            <a:chExt cx="3331495" cy="9272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8E86BA0-357C-9BB8-F96B-43B4767CD6FB}"/>
                </a:ext>
              </a:extLst>
            </p:cNvPr>
            <p:cNvGrpSpPr/>
            <p:nvPr/>
          </p:nvGrpSpPr>
          <p:grpSpPr>
            <a:xfrm>
              <a:off x="869952" y="3373018"/>
              <a:ext cx="2905635" cy="926986"/>
              <a:chOff x="-2146530" y="2798296"/>
              <a:chExt cx="6135372" cy="969349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F5CDF3B-3012-D6DE-3872-84B6D4105ECB}"/>
                  </a:ext>
                </a:extLst>
              </p:cNvPr>
              <p:cNvSpPr/>
              <p:nvPr/>
            </p:nvSpPr>
            <p:spPr>
              <a:xfrm>
                <a:off x="3309138" y="2840433"/>
                <a:ext cx="679704" cy="885075"/>
              </a:xfrm>
              <a:prstGeom prst="roundRect">
                <a:avLst/>
              </a:prstGeom>
              <a:solidFill>
                <a:srgbClr val="95BD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7E0FD2F-F2F4-574D-03BA-0AB47E13AC5D}"/>
                  </a:ext>
                </a:extLst>
              </p:cNvPr>
              <p:cNvSpPr/>
              <p:nvPr/>
            </p:nvSpPr>
            <p:spPr>
              <a:xfrm>
                <a:off x="-2146530" y="2798296"/>
                <a:ext cx="6043432" cy="969349"/>
              </a:xfrm>
              <a:prstGeom prst="roundRect">
                <a:avLst>
                  <a:gd name="adj" fmla="val 302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1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456A11-1548-683E-AD5C-2F267054157D}"/>
                  </a:ext>
                </a:extLst>
              </p:cNvPr>
              <p:cNvSpPr txBox="1"/>
              <p:nvPr/>
            </p:nvSpPr>
            <p:spPr>
              <a:xfrm>
                <a:off x="-1248288" y="2945036"/>
                <a:ext cx="5191160" cy="675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Section 2</a:t>
                </a:r>
              </a:p>
              <a:p>
                <a:pPr algn="ctr"/>
                <a:r>
                  <a:rPr lang="en-US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Proposed Method</a:t>
                </a:r>
                <a:endParaRPr lang="en-IN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75D566-5704-C587-78F3-47561187C220}"/>
                </a:ext>
              </a:extLst>
            </p:cNvPr>
            <p:cNvGrpSpPr/>
            <p:nvPr/>
          </p:nvGrpSpPr>
          <p:grpSpPr>
            <a:xfrm>
              <a:off x="444092" y="3372792"/>
              <a:ext cx="900000" cy="900000"/>
              <a:chOff x="2715881" y="1556764"/>
              <a:chExt cx="969348" cy="96934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110CA7-AB33-1E7A-6D0E-680C3DF5E3CA}"/>
                  </a:ext>
                </a:extLst>
              </p:cNvPr>
              <p:cNvGrpSpPr/>
              <p:nvPr/>
            </p:nvGrpSpPr>
            <p:grpSpPr>
              <a:xfrm>
                <a:off x="2715881" y="1556764"/>
                <a:ext cx="969348" cy="969348"/>
                <a:chOff x="2715881" y="1556764"/>
                <a:chExt cx="969348" cy="969348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E02A41AD-824E-5D89-525D-F7FAFC7E1D64}"/>
                    </a:ext>
                  </a:extLst>
                </p:cNvPr>
                <p:cNvSpPr/>
                <p:nvPr/>
              </p:nvSpPr>
              <p:spPr>
                <a:xfrm>
                  <a:off x="2715881" y="1556764"/>
                  <a:ext cx="969348" cy="969348"/>
                </a:xfrm>
                <a:prstGeom prst="ellipse">
                  <a:avLst/>
                </a:prstGeom>
                <a:solidFill>
                  <a:srgbClr val="507FCC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F6537E48-E563-ABCB-D781-C3881A08D350}"/>
                    </a:ext>
                  </a:extLst>
                </p:cNvPr>
                <p:cNvSpPr/>
                <p:nvPr/>
              </p:nvSpPr>
              <p:spPr>
                <a:xfrm>
                  <a:off x="2777897" y="1618780"/>
                  <a:ext cx="845316" cy="845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 b="1">
                    <a:solidFill>
                      <a:srgbClr val="005A9B"/>
                    </a:solidFill>
                  </a:endParaRPr>
                </a:p>
              </p:txBody>
            </p:sp>
          </p:grpSp>
          <p:pic>
            <p:nvPicPr>
              <p:cNvPr id="8" name="Picture 16" descr="Identification ">
                <a:extLst>
                  <a:ext uri="{FF2B5EF4-FFF2-40B4-BE49-F238E27FC236}">
                    <a16:creationId xmlns:a16="http://schemas.microsoft.com/office/drawing/2014/main" id="{1ACB1D4D-A608-C435-7588-C3EA6CF261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193" y="1797951"/>
                <a:ext cx="478668" cy="4786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6" name="Titel 2">
            <a:extLst>
              <a:ext uri="{FF2B5EF4-FFF2-40B4-BE49-F238E27FC236}">
                <a16:creationId xmlns:a16="http://schemas.microsoft.com/office/drawing/2014/main" id="{C4B6E2B0-6C8B-88EC-B389-CD32377A90B6}"/>
              </a:ext>
            </a:extLst>
          </p:cNvPr>
          <p:cNvSpPr txBox="1">
            <a:spLocks/>
          </p:cNvSpPr>
          <p:nvPr/>
        </p:nvSpPr>
        <p:spPr bwMode="auto">
          <a:xfrm>
            <a:off x="393600" y="425850"/>
            <a:ext cx="9753600" cy="327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no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>
              <a:lnSpc>
                <a:spcPct val="90000"/>
              </a:lnSpc>
            </a:pPr>
            <a:br>
              <a:rPr lang="en-IN" sz="2000" b="1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000" b="1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Presentation Structure</a:t>
            </a:r>
            <a:br>
              <a:rPr lang="en-IN" sz="2000" b="1">
                <a:solidFill>
                  <a:srgbClr val="4848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de-DE" sz="2000" b="1" ker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Untertitel 3">
            <a:extLst>
              <a:ext uri="{FF2B5EF4-FFF2-40B4-BE49-F238E27FC236}">
                <a16:creationId xmlns:a16="http://schemas.microsoft.com/office/drawing/2014/main" id="{FE5854DD-6AB2-50CE-10AD-B8876B510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 wrap="square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Proposed Method </a:t>
            </a:r>
          </a:p>
        </p:txBody>
      </p:sp>
    </p:spTree>
    <p:extLst>
      <p:ext uri="{BB962C8B-B14F-4D97-AF65-F5344CB8AC3E}">
        <p14:creationId xmlns:p14="http://schemas.microsoft.com/office/powerpoint/2010/main" val="1941541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Proposed Architecture – Weather &amp; Time Aware Mask2former </a:t>
            </a:r>
          </a:p>
        </p:txBody>
      </p:sp>
      <p:sp>
        <p:nvSpPr>
          <p:cNvPr id="11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Alternate training with Mask2Former, WAS/TAS &amp; real datasets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4E9E765-94CE-0941-BE99-F43834E80C33}" type="slidenum">
              <a:rPr lang="de-DE" smtClean="0"/>
              <a:t>14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E58F4-2BC2-91BB-D3EA-34FC1E8EB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8295111" y="3790906"/>
            <a:ext cx="692666" cy="721269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C034B-CC5F-3E67-D73D-54EC9113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7594669" y="1887368"/>
            <a:ext cx="2887409" cy="602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EF4458-69CF-7530-9C37-7A629830F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811" y="4846908"/>
            <a:ext cx="2887409" cy="6023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0A3736-507D-479C-0FAF-FD61CA6C1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557" y="2759692"/>
            <a:ext cx="909616" cy="702744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FE5E9A-54CC-89C1-53B8-3264FEB7FDA1}"/>
              </a:ext>
            </a:extLst>
          </p:cNvPr>
          <p:cNvCxnSpPr>
            <a:endCxn id="15" idx="1"/>
          </p:cNvCxnSpPr>
          <p:nvPr/>
        </p:nvCxnSpPr>
        <p:spPr>
          <a:xfrm>
            <a:off x="10582415" y="3111063"/>
            <a:ext cx="180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69F5076-5AE4-15F0-4B27-7B412C1721BE}"/>
              </a:ext>
            </a:extLst>
          </p:cNvPr>
          <p:cNvCxnSpPr>
            <a:endCxn id="15" idx="0"/>
          </p:cNvCxnSpPr>
          <p:nvPr/>
        </p:nvCxnSpPr>
        <p:spPr>
          <a:xfrm>
            <a:off x="10582415" y="2196240"/>
            <a:ext cx="634950" cy="563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435562B-F7C9-0B85-C0F7-650F55DEA089}"/>
              </a:ext>
            </a:extLst>
          </p:cNvPr>
          <p:cNvCxnSpPr>
            <a:stCxn id="9" idx="3"/>
          </p:cNvCxnSpPr>
          <p:nvPr/>
        </p:nvCxnSpPr>
        <p:spPr>
          <a:xfrm flipV="1">
            <a:off x="10662219" y="3545720"/>
            <a:ext cx="593638" cy="16023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083012D-C3C2-0920-759B-EF036A3EC8B7}"/>
              </a:ext>
            </a:extLst>
          </p:cNvPr>
          <p:cNvCxnSpPr>
            <a:endCxn id="7" idx="1"/>
          </p:cNvCxnSpPr>
          <p:nvPr/>
        </p:nvCxnSpPr>
        <p:spPr>
          <a:xfrm rot="16200000" flipV="1">
            <a:off x="7300700" y="2482514"/>
            <a:ext cx="1955414" cy="1367474"/>
          </a:xfrm>
          <a:prstGeom prst="bentConnector4">
            <a:avLst>
              <a:gd name="adj1" fmla="val 20787"/>
              <a:gd name="adj2" fmla="val 113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721256D-09FA-358F-43DF-1D02FC554C4C}"/>
              </a:ext>
            </a:extLst>
          </p:cNvPr>
          <p:cNvCxnSpPr>
            <a:endCxn id="9" idx="1"/>
          </p:cNvCxnSpPr>
          <p:nvPr/>
        </p:nvCxnSpPr>
        <p:spPr>
          <a:xfrm rot="10800000" flipV="1">
            <a:off x="7774811" y="4576935"/>
            <a:ext cx="1187330" cy="571148"/>
          </a:xfrm>
          <a:prstGeom prst="bentConnector3">
            <a:avLst>
              <a:gd name="adj1" fmla="val 126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84934C-5FD7-E24D-FABD-FB7D13CA530C}"/>
              </a:ext>
            </a:extLst>
          </p:cNvPr>
          <p:cNvCxnSpPr/>
          <p:nvPr/>
        </p:nvCxnSpPr>
        <p:spPr>
          <a:xfrm>
            <a:off x="8962142" y="4143958"/>
            <a:ext cx="0" cy="4329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1C8166-D939-CC6A-02B3-A02A1EBED282}"/>
              </a:ext>
            </a:extLst>
          </p:cNvPr>
          <p:cNvCxnSpPr>
            <a:cxnSpLocks/>
          </p:cNvCxnSpPr>
          <p:nvPr/>
        </p:nvCxnSpPr>
        <p:spPr>
          <a:xfrm>
            <a:off x="7354775" y="4169647"/>
            <a:ext cx="907593" cy="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ED1EFD5-65C2-4610-EB72-1F267573D278}"/>
              </a:ext>
            </a:extLst>
          </p:cNvPr>
          <p:cNvSpPr txBox="1"/>
          <p:nvPr/>
        </p:nvSpPr>
        <p:spPr>
          <a:xfrm>
            <a:off x="5947745" y="4567489"/>
            <a:ext cx="136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 Image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080CC13-32B8-42F2-5DD5-94D569E7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8338486" y="2486822"/>
            <a:ext cx="2186967" cy="975614"/>
          </a:xfrm>
          <a:prstGeom prst="rect">
            <a:avLst/>
          </a:prstGeom>
          <a:noFill/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9012E84-F7C9-645D-8437-D25BD411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9032300" y="3462436"/>
            <a:ext cx="1493154" cy="1367198"/>
          </a:xfrm>
          <a:prstGeom prst="rect">
            <a:avLst/>
          </a:prstGeom>
          <a:noFill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C77190-8B36-9EBF-3E7D-808526D5A6E0}"/>
              </a:ext>
            </a:extLst>
          </p:cNvPr>
          <p:cNvSpPr txBox="1"/>
          <p:nvPr/>
        </p:nvSpPr>
        <p:spPr>
          <a:xfrm>
            <a:off x="393600" y="1689639"/>
            <a:ext cx="513344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Mask2Former Architecture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CF1FE9-F2BF-4DE9-7528-FF55507F3147}"/>
              </a:ext>
            </a:extLst>
          </p:cNvPr>
          <p:cNvSpPr txBox="1"/>
          <p:nvPr/>
        </p:nvSpPr>
        <p:spPr>
          <a:xfrm>
            <a:off x="205502" y="2103410"/>
            <a:ext cx="5321538" cy="117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state-of-the-art architecture that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achieving top performance on the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dataset for semantic segmentation</a:t>
            </a:r>
          </a:p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Backbone cho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 from Hugging Face Platform:</a:t>
            </a:r>
          </a:p>
          <a:p>
            <a:pPr marL="772650" lvl="1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 err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facebook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/mask2former-swin-large-cityscapes-semantic</a:t>
            </a:r>
            <a:endParaRPr lang="en-US" altLang="en-US" sz="11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09A6CF-4B63-48DF-BF2A-7F6003AC1B28}"/>
              </a:ext>
            </a:extLst>
          </p:cNvPr>
          <p:cNvSpPr txBox="1"/>
          <p:nvPr/>
        </p:nvSpPr>
        <p:spPr>
          <a:xfrm>
            <a:off x="393600" y="3902624"/>
            <a:ext cx="513344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Multi-task Learning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EAB1DA-BD8E-9583-2E30-E73796919469}"/>
              </a:ext>
            </a:extLst>
          </p:cNvPr>
          <p:cNvSpPr txBox="1"/>
          <p:nvPr/>
        </p:nvSpPr>
        <p:spPr>
          <a:xfrm>
            <a:off x="205502" y="4336715"/>
            <a:ext cx="5575538" cy="117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auxiliary branches added to the encoder output:</a:t>
            </a:r>
          </a:p>
          <a:p>
            <a:pPr marL="781200" lvl="1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 – Weather-Aware Supervisor (Rain / Fog / Snow / Clear)</a:t>
            </a:r>
          </a:p>
          <a:p>
            <a:pPr marL="781200" lvl="1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TAS – Time-Aware Supervisor (Day / Night)</a:t>
            </a:r>
            <a:b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altLang="en-US" sz="1100" b="1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A936366-6DAD-5971-45F6-770AA3716608}"/>
              </a:ext>
            </a:extLst>
          </p:cNvPr>
          <p:cNvSpPr txBox="1">
            <a:spLocks/>
          </p:cNvSpPr>
          <p:nvPr/>
        </p:nvSpPr>
        <p:spPr bwMode="auto">
          <a:xfrm>
            <a:off x="7415972" y="5648467"/>
            <a:ext cx="5148262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/>
          <a:lstStyle>
            <a:lvl1pPr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b="1">
                <a:solidFill>
                  <a:schemeClr val="tx1"/>
                </a:solidFill>
                <a:latin typeface="+mn-lt"/>
                <a:ea typeface="MS PGothic" panose="020B0600070205080204" charset="-128"/>
                <a:cs typeface="MS PGothic" panose="020B0600070205080204" charset="-128"/>
              </a:defRPr>
            </a:lvl1pPr>
            <a:lvl2pPr marL="35877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2pPr>
            <a:lvl3pPr marL="71945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3pPr>
            <a:lvl4pPr marL="107950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4pPr>
            <a:lvl5pPr marL="144018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Tx/>
              <a:buNone/>
            </a:pPr>
            <a:r>
              <a:rPr lang="en-US" sz="1050" i="1" kern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Proposed Transformer-based Mask2Former Architecture </a:t>
            </a:r>
          </a:p>
          <a:p>
            <a:pPr indent="0">
              <a:lnSpc>
                <a:spcPct val="100000"/>
              </a:lnSpc>
              <a:buFontTx/>
              <a:buNone/>
            </a:pPr>
            <a:r>
              <a:rPr lang="en-US" sz="1050" b="0" i="1" kern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 Weather- and Time-Aware Supervision</a:t>
            </a:r>
          </a:p>
        </p:txBody>
      </p:sp>
      <p:pic>
        <p:nvPicPr>
          <p:cNvPr id="2" name="Picture 1" descr="A car on the road&#10;&#10;AI-generated content may be incorrect.">
            <a:extLst>
              <a:ext uri="{FF2B5EF4-FFF2-40B4-BE49-F238E27FC236}">
                <a16:creationId xmlns:a16="http://schemas.microsoft.com/office/drawing/2014/main" id="{5A6D9315-D2E4-1217-FF7E-3806129736CA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019" y="3811810"/>
            <a:ext cx="1360373" cy="750706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6EE0B40-23D0-6530-2091-488BE375B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5111294" y="3742910"/>
            <a:ext cx="966618" cy="1006534"/>
          </a:xfrm>
          <a:prstGeom prst="rect">
            <a:avLst/>
          </a:prstGeom>
          <a:noFill/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851A180-2A1C-FF86-5478-20232E6C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4133826" y="1086515"/>
            <a:ext cx="4029389" cy="84058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9D96C37-9959-6925-0922-7BEAC671B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214" y="5216563"/>
            <a:ext cx="4029389" cy="8405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6D1A7DD-7267-10A5-C801-1AB6C5DFF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625" y="2303847"/>
            <a:ext cx="1269372" cy="98068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EF6197-1CE9-F8A8-9487-662565ED8695}"/>
              </a:ext>
            </a:extLst>
          </p:cNvPr>
          <p:cNvCxnSpPr>
            <a:endCxn id="43" idx="1"/>
          </p:cNvCxnSpPr>
          <p:nvPr/>
        </p:nvCxnSpPr>
        <p:spPr>
          <a:xfrm>
            <a:off x="8303236" y="2794186"/>
            <a:ext cx="2513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772CB0A-31DF-7916-AFB9-4D6471CF180C}"/>
              </a:ext>
            </a:extLst>
          </p:cNvPr>
          <p:cNvCxnSpPr>
            <a:endCxn id="43" idx="0"/>
          </p:cNvCxnSpPr>
          <p:nvPr/>
        </p:nvCxnSpPr>
        <p:spPr>
          <a:xfrm>
            <a:off x="8303235" y="1517546"/>
            <a:ext cx="886076" cy="786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C40FCDE-3D76-6942-24A4-3CD76E4D99A3}"/>
              </a:ext>
            </a:extLst>
          </p:cNvPr>
          <p:cNvCxnSpPr>
            <a:stCxn id="42" idx="3"/>
          </p:cNvCxnSpPr>
          <p:nvPr/>
        </p:nvCxnSpPr>
        <p:spPr>
          <a:xfrm flipV="1">
            <a:off x="8414603" y="3400751"/>
            <a:ext cx="828424" cy="22361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69F508C-E5B0-7504-FB98-DBAB8C243799}"/>
              </a:ext>
            </a:extLst>
          </p:cNvPr>
          <p:cNvCxnSpPr>
            <a:endCxn id="41" idx="1"/>
          </p:cNvCxnSpPr>
          <p:nvPr/>
        </p:nvCxnSpPr>
        <p:spPr>
          <a:xfrm rot="16200000" flipV="1">
            <a:off x="3723591" y="1917043"/>
            <a:ext cx="2728787" cy="1908316"/>
          </a:xfrm>
          <a:prstGeom prst="bentConnector4">
            <a:avLst>
              <a:gd name="adj1" fmla="val 20787"/>
              <a:gd name="adj2" fmla="val 113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B5B7C71-C623-A82C-6819-4E3AC3BFAA95}"/>
              </a:ext>
            </a:extLst>
          </p:cNvPr>
          <p:cNvCxnSpPr>
            <a:endCxn id="42" idx="1"/>
          </p:cNvCxnSpPr>
          <p:nvPr/>
        </p:nvCxnSpPr>
        <p:spPr>
          <a:xfrm rot="10800000" flipV="1">
            <a:off x="4385215" y="4839815"/>
            <a:ext cx="1656924" cy="797039"/>
          </a:xfrm>
          <a:prstGeom prst="bentConnector3">
            <a:avLst>
              <a:gd name="adj1" fmla="val 126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52BE08D-4E69-843E-03F4-D7AB6DCCD429}"/>
              </a:ext>
            </a:extLst>
          </p:cNvPr>
          <p:cNvCxnSpPr/>
          <p:nvPr/>
        </p:nvCxnSpPr>
        <p:spPr>
          <a:xfrm>
            <a:off x="6042138" y="4235594"/>
            <a:ext cx="0" cy="604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E2A36C-B893-33BE-9582-1C8813C0A582}"/>
              </a:ext>
            </a:extLst>
          </p:cNvPr>
          <p:cNvCxnSpPr>
            <a:cxnSpLocks/>
          </p:cNvCxnSpPr>
          <p:nvPr/>
        </p:nvCxnSpPr>
        <p:spPr>
          <a:xfrm>
            <a:off x="3799052" y="4271444"/>
            <a:ext cx="1266549" cy="4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80620E-C63F-958B-0B8E-CBD4FEB0BFF3}"/>
              </a:ext>
            </a:extLst>
          </p:cNvPr>
          <p:cNvSpPr txBox="1"/>
          <p:nvPr/>
        </p:nvSpPr>
        <p:spPr>
          <a:xfrm>
            <a:off x="1442173" y="4898847"/>
            <a:ext cx="1898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 Image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80D61E4-D90D-F518-3731-B641CAFCE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5171825" y="1923055"/>
            <a:ext cx="3051921" cy="1361473"/>
          </a:xfrm>
          <a:prstGeom prst="rect">
            <a:avLst/>
          </a:prstGeom>
          <a:noFill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46B9651-2F55-B985-63ED-33AAD9A596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6140044" y="3284528"/>
            <a:ext cx="2083701" cy="1907930"/>
          </a:xfrm>
          <a:prstGeom prst="rect">
            <a:avLst/>
          </a:prstGeom>
          <a:noFill/>
        </p:spPr>
      </p:pic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F976871-7F71-D2CE-2A58-1752BC4605EB}"/>
              </a:ext>
            </a:extLst>
          </p:cNvPr>
          <p:cNvSpPr txBox="1">
            <a:spLocks/>
          </p:cNvSpPr>
          <p:nvPr/>
        </p:nvSpPr>
        <p:spPr bwMode="auto">
          <a:xfrm>
            <a:off x="3929194" y="6171684"/>
            <a:ext cx="5148262" cy="350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/>
          <a:lstStyle>
            <a:lvl1pPr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b="1">
                <a:solidFill>
                  <a:schemeClr val="tx1"/>
                </a:solidFill>
                <a:latin typeface="+mn-lt"/>
                <a:ea typeface="MS PGothic" panose="020B0600070205080204" charset="-128"/>
                <a:cs typeface="MS PGothic" panose="020B0600070205080204" charset="-128"/>
              </a:defRPr>
            </a:lvl1pPr>
            <a:lvl2pPr marL="35877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2pPr>
            <a:lvl3pPr marL="719455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3pPr>
            <a:lvl4pPr marL="107950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4pPr>
            <a:lvl5pPr marL="1440180" indent="358775" algn="l" defTabSz="457200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  <a:ea typeface="MS PGothic" panose="020B060007020508020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00000"/>
              </a:lnSpc>
              <a:buFontTx/>
              <a:buNone/>
            </a:pPr>
            <a:r>
              <a:rPr lang="en-US" sz="1050" i="1" kern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Proposed Transformer-based Mask2Former Architecture </a:t>
            </a:r>
          </a:p>
          <a:p>
            <a:pPr indent="0" algn="ctr">
              <a:lnSpc>
                <a:spcPct val="100000"/>
              </a:lnSpc>
              <a:buFontTx/>
              <a:buNone/>
            </a:pPr>
            <a:r>
              <a:rPr lang="en-US" sz="1050" b="0" i="1" kern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 Weather- and Time-Aware Supervision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81E925-255F-5351-772B-DEFBA0CC3AA4}"/>
              </a:ext>
            </a:extLst>
          </p:cNvPr>
          <p:cNvGrpSpPr/>
          <p:nvPr/>
        </p:nvGrpSpPr>
        <p:grpSpPr>
          <a:xfrm>
            <a:off x="680773" y="818813"/>
            <a:ext cx="1867443" cy="1706045"/>
            <a:chOff x="603205" y="326187"/>
            <a:chExt cx="3654453" cy="39163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1743F5C-2BFC-7E57-B0B0-E4CE30A6E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9421" r="68328" b="12863"/>
            <a:stretch>
              <a:fillRect/>
            </a:stretch>
          </p:blipFill>
          <p:spPr>
            <a:xfrm>
              <a:off x="606170" y="2498130"/>
              <a:ext cx="1157123" cy="1204906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18F0F7-B2B7-22BC-0603-FDE7ECDB2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861" b="52649"/>
            <a:stretch>
              <a:fillRect/>
            </a:stretch>
          </p:blipFill>
          <p:spPr>
            <a:xfrm>
              <a:off x="603205" y="326187"/>
              <a:ext cx="3653406" cy="1629798"/>
            </a:xfrm>
            <a:prstGeom prst="rect">
              <a:avLst/>
            </a:prstGeom>
            <a:noFill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224289-666B-CAD5-8AFC-4417BBEE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1725" t="47464" r="-1"/>
            <a:stretch>
              <a:fillRect/>
            </a:stretch>
          </p:blipFill>
          <p:spPr>
            <a:xfrm>
              <a:off x="1763293" y="1958607"/>
              <a:ext cx="2494365" cy="2283952"/>
            </a:xfrm>
            <a:prstGeom prst="rect">
              <a:avLst/>
            </a:prstGeom>
            <a:noFill/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32BD7A-3215-4F75-BBF6-CD2632F57894}"/>
              </a:ext>
            </a:extLst>
          </p:cNvPr>
          <p:cNvSpPr/>
          <p:nvPr/>
        </p:nvSpPr>
        <p:spPr>
          <a:xfrm>
            <a:off x="552660" y="330373"/>
            <a:ext cx="2450029" cy="2293746"/>
          </a:xfrm>
          <a:prstGeom prst="roundRect">
            <a:avLst>
              <a:gd name="adj" fmla="val 922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49FBC-06E8-3085-DB44-73472043A833}"/>
              </a:ext>
            </a:extLst>
          </p:cNvPr>
          <p:cNvSpPr txBox="1"/>
          <p:nvPr/>
        </p:nvSpPr>
        <p:spPr>
          <a:xfrm>
            <a:off x="340129" y="359150"/>
            <a:ext cx="29155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Original Mask2fomer Architecture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9DE522-07A0-F3E7-5619-AE49F0C88AF4}"/>
              </a:ext>
            </a:extLst>
          </p:cNvPr>
          <p:cNvCxnSpPr>
            <a:cxnSpLocks/>
          </p:cNvCxnSpPr>
          <p:nvPr/>
        </p:nvCxnSpPr>
        <p:spPr>
          <a:xfrm flipV="1">
            <a:off x="552660" y="620760"/>
            <a:ext cx="2450029" cy="2238"/>
          </a:xfrm>
          <a:prstGeom prst="line">
            <a:avLst/>
          </a:prstGeom>
          <a:ln>
            <a:solidFill>
              <a:schemeClr val="tx2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Picture 1" descr="A car on the road&#10;&#10;AI-generated content may be incorrect.">
            <a:extLst>
              <a:ext uri="{FF2B5EF4-FFF2-40B4-BE49-F238E27FC236}">
                <a16:creationId xmlns:a16="http://schemas.microsoft.com/office/drawing/2014/main" id="{CE8BDB35-02F7-ECE9-4618-081576418F64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6" y="3620852"/>
            <a:ext cx="2551902" cy="125065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74412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BE3BD-0E8D-11FB-9E3F-2DC68EB82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16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4F907-60D5-A186-0F88-A57DF0F88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9421" r="70719" b="12863"/>
          <a:stretch>
            <a:fillRect/>
          </a:stretch>
        </p:blipFill>
        <p:spPr>
          <a:xfrm>
            <a:off x="3980579" y="3429000"/>
            <a:ext cx="2327844" cy="2621839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A7D317-5B52-C131-9C69-AF56953E95C7}"/>
              </a:ext>
            </a:extLst>
          </p:cNvPr>
          <p:cNvSpPr txBox="1"/>
          <p:nvPr/>
        </p:nvSpPr>
        <p:spPr>
          <a:xfrm>
            <a:off x="550863" y="1529465"/>
            <a:ext cx="499549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BACKBONE USED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DC0F1-5276-350D-57EC-A24A09ECEB6F}"/>
              </a:ext>
            </a:extLst>
          </p:cNvPr>
          <p:cNvSpPr txBox="1"/>
          <p:nvPr/>
        </p:nvSpPr>
        <p:spPr>
          <a:xfrm>
            <a:off x="550862" y="1943236"/>
            <a:ext cx="4995498" cy="1269432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Transformer based backbone for Mask2former-swin-large- pretrained on cityscapes for semantic Segmentation task.</a:t>
            </a:r>
          </a:p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0" err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Avaliable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on Hugging Face interface</a:t>
            </a:r>
          </a:p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endParaRPr lang="en-US" altLang="en-US" sz="11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8BC94-2BCA-1860-50F2-EB35401CF8C8}"/>
              </a:ext>
            </a:extLst>
          </p:cNvPr>
          <p:cNvSpPr txBox="1"/>
          <p:nvPr/>
        </p:nvSpPr>
        <p:spPr>
          <a:xfrm>
            <a:off x="5880320" y="1529465"/>
            <a:ext cx="499549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FUNCTION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CFE000-5F1B-ADA3-586C-80CCD531FEBF}"/>
              </a:ext>
            </a:extLst>
          </p:cNvPr>
          <p:cNvSpPr txBox="1"/>
          <p:nvPr/>
        </p:nvSpPr>
        <p:spPr>
          <a:xfrm>
            <a:off x="5880319" y="1943236"/>
            <a:ext cx="4995498" cy="1269432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Acts as feature Extractor for the model</a:t>
            </a:r>
          </a:p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Extracts low-level (edges, textures) and high-level (objects, regions) features.</a:t>
            </a:r>
          </a:p>
          <a:p>
            <a:pPr marL="324000" indent="-180000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100" b="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A6752B-6E4B-F2CC-EBF7-D46CE5E5FCAE}"/>
              </a:ext>
            </a:extLst>
          </p:cNvPr>
          <p:cNvCxnSpPr>
            <a:cxnSpLocks/>
          </p:cNvCxnSpPr>
          <p:nvPr/>
        </p:nvCxnSpPr>
        <p:spPr>
          <a:xfrm>
            <a:off x="3642360" y="4739919"/>
            <a:ext cx="801820" cy="0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48C028-1FA9-5458-ECFE-D510CC7B92D2}"/>
              </a:ext>
            </a:extLst>
          </p:cNvPr>
          <p:cNvCxnSpPr/>
          <p:nvPr/>
        </p:nvCxnSpPr>
        <p:spPr>
          <a:xfrm>
            <a:off x="6308422" y="4728489"/>
            <a:ext cx="658761" cy="0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A0CF71-74FC-C7E4-D8F1-F11A48DC8098}"/>
              </a:ext>
            </a:extLst>
          </p:cNvPr>
          <p:cNvSpPr/>
          <p:nvPr/>
        </p:nvSpPr>
        <p:spPr>
          <a:xfrm>
            <a:off x="7072846" y="4255245"/>
            <a:ext cx="3802971" cy="1111692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6000" tIns="180000" bIns="0" rtlCol="0" anchor="ctr"/>
          <a:lstStyle/>
          <a:p>
            <a:endParaRPr lang="en-US" sz="140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Multi-scale feature maps</a:t>
            </a:r>
          </a:p>
          <a:p>
            <a:r>
              <a:rPr lang="en-US" sz="14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the Pixel decoder. (low Resolution)</a:t>
            </a:r>
          </a:p>
          <a:p>
            <a:endParaRPr lang="en-IN" sz="1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0C6A52-739F-CF1A-338B-31960C9E4851}"/>
              </a:ext>
            </a:extLst>
          </p:cNvPr>
          <p:cNvSpPr txBox="1"/>
          <p:nvPr/>
        </p:nvSpPr>
        <p:spPr>
          <a:xfrm>
            <a:off x="7072847" y="4255245"/>
            <a:ext cx="994193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Output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3F629B35-9FF8-0FEC-AF54-F31EE46A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Training Phase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C82F2D98-87E6-15DC-C019-25CDAE34A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Backbone working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F2C03-36A1-6FF7-2A76-B7B4453E0E04}"/>
              </a:ext>
            </a:extLst>
          </p:cNvPr>
          <p:cNvSpPr txBox="1"/>
          <p:nvPr/>
        </p:nvSpPr>
        <p:spPr>
          <a:xfrm>
            <a:off x="877770" y="5395759"/>
            <a:ext cx="2579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RGB Image from </a:t>
            </a:r>
          </a:p>
          <a:p>
            <a:pPr algn="ctr"/>
            <a:r>
              <a:rPr lang="en-IN" sz="1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or </a:t>
            </a:r>
            <a:r>
              <a:rPr lang="en-IN" sz="1200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</a:t>
            </a:r>
            <a:r>
              <a:rPr lang="en-IN" sz="1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dataset</a:t>
            </a:r>
          </a:p>
        </p:txBody>
      </p:sp>
      <p:pic>
        <p:nvPicPr>
          <p:cNvPr id="5" name="Picture 4" descr="A car on the road&#10;&#10;AI-generated content may be incorrect.">
            <a:extLst>
              <a:ext uri="{FF2B5EF4-FFF2-40B4-BE49-F238E27FC236}">
                <a16:creationId xmlns:a16="http://schemas.microsoft.com/office/drawing/2014/main" id="{A8E54ED0-2C48-2571-9B86-ED8EE3944AC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23" y="4106740"/>
            <a:ext cx="2551902" cy="125065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928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2AE8-9A8C-3311-EE58-981C0EB7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8AA3E-09B5-34F0-29D9-758CF21397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17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CA8582-E268-ECEE-855F-DA1F2026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1234829" y="2702576"/>
            <a:ext cx="1966793" cy="2048011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5DA953-C6E9-DFEE-4FE5-E259B1E247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42" t="47464" r="-2"/>
          <a:stretch>
            <a:fillRect/>
          </a:stretch>
        </p:blipFill>
        <p:spPr>
          <a:xfrm>
            <a:off x="3201622" y="2659068"/>
            <a:ext cx="2320890" cy="2135027"/>
          </a:xfrm>
          <a:prstGeom prst="rect">
            <a:avLst/>
          </a:prstGeom>
          <a:noFill/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D6DC5D-879C-17DF-886B-303EBAE3C485}"/>
              </a:ext>
            </a:extLst>
          </p:cNvPr>
          <p:cNvCxnSpPr>
            <a:cxnSpLocks/>
          </p:cNvCxnSpPr>
          <p:nvPr/>
        </p:nvCxnSpPr>
        <p:spPr>
          <a:xfrm>
            <a:off x="5648960" y="3960261"/>
            <a:ext cx="883920" cy="0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70C566-947A-B041-D3FE-A20CE40E7F97}"/>
              </a:ext>
            </a:extLst>
          </p:cNvPr>
          <p:cNvGrpSpPr/>
          <p:nvPr/>
        </p:nvGrpSpPr>
        <p:grpSpPr>
          <a:xfrm>
            <a:off x="6606607" y="2994199"/>
            <a:ext cx="4410008" cy="1233920"/>
            <a:chOff x="6169727" y="3402825"/>
            <a:chExt cx="4410008" cy="123392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4873567-5564-37FE-A665-76E145025AE9}"/>
                </a:ext>
              </a:extLst>
            </p:cNvPr>
            <p:cNvSpPr/>
            <p:nvPr/>
          </p:nvSpPr>
          <p:spPr>
            <a:xfrm>
              <a:off x="6169727" y="3402825"/>
              <a:ext cx="4410008" cy="1233920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432000" rtlCol="0" anchor="ctr"/>
            <a:lstStyle/>
            <a:p>
              <a:r>
                <a:rPr lang="en-US" sz="14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 dense per-pixel feature map </a:t>
              </a:r>
            </a:p>
            <a:p>
              <a:r>
                <a:rPr lang="en-US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sharper boundaries </a:t>
              </a:r>
              <a:r>
                <a:rPr lang="en-US" sz="1400" b="1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and </a:t>
              </a:r>
              <a:r>
                <a:rPr lang="en-US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finer object details </a:t>
              </a:r>
            </a:p>
            <a:p>
              <a:r>
                <a:rPr lang="en-US" sz="14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Which to the Transformer decoder</a:t>
              </a:r>
            </a:p>
            <a:p>
              <a:endParaRPr lang="en-IN" sz="1000" b="1" dirty="0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CA662-DF59-F1E7-CAAA-698764445C94}"/>
                </a:ext>
              </a:extLst>
            </p:cNvPr>
            <p:cNvSpPr txBox="1"/>
            <p:nvPr/>
          </p:nvSpPr>
          <p:spPr>
            <a:xfrm>
              <a:off x="6169727" y="3402825"/>
              <a:ext cx="994193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01C05D4-EBA8-150A-760B-F267B071721B}"/>
              </a:ext>
            </a:extLst>
          </p:cNvPr>
          <p:cNvCxnSpPr>
            <a:cxnSpLocks/>
          </p:cNvCxnSpPr>
          <p:nvPr/>
        </p:nvCxnSpPr>
        <p:spPr>
          <a:xfrm flipV="1">
            <a:off x="3281680" y="4088130"/>
            <a:ext cx="0" cy="741539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69869B-8E2B-B02E-B0B5-AFB6FF274394}"/>
              </a:ext>
            </a:extLst>
          </p:cNvPr>
          <p:cNvGrpSpPr/>
          <p:nvPr/>
        </p:nvGrpSpPr>
        <p:grpSpPr>
          <a:xfrm>
            <a:off x="1691063" y="4810661"/>
            <a:ext cx="3242194" cy="1093611"/>
            <a:chOff x="560388" y="3946134"/>
            <a:chExt cx="3242194" cy="109361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93DB2F1-C2D5-9C90-11D7-F7E549A71D08}"/>
                </a:ext>
              </a:extLst>
            </p:cNvPr>
            <p:cNvSpPr/>
            <p:nvPr/>
          </p:nvSpPr>
          <p:spPr>
            <a:xfrm>
              <a:off x="560388" y="3946134"/>
              <a:ext cx="3242194" cy="1093611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r>
                <a:rPr lang="en-US" sz="1400" b="1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Multi-scale feature maps from Backbone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F7FE9D-0482-991B-BEA4-344958011151}"/>
                </a:ext>
              </a:extLst>
            </p:cNvPr>
            <p:cNvSpPr txBox="1"/>
            <p:nvPr/>
          </p:nvSpPr>
          <p:spPr>
            <a:xfrm>
              <a:off x="560388" y="3946134"/>
              <a:ext cx="994193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A7E040-4675-B460-6D7B-611D8B191AC3}"/>
              </a:ext>
            </a:extLst>
          </p:cNvPr>
          <p:cNvSpPr txBox="1"/>
          <p:nvPr/>
        </p:nvSpPr>
        <p:spPr>
          <a:xfrm>
            <a:off x="521493" y="1306622"/>
            <a:ext cx="10975181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FUNCTION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BD140-FC06-D2F9-4073-B455CA32F003}"/>
              </a:ext>
            </a:extLst>
          </p:cNvPr>
          <p:cNvSpPr txBox="1"/>
          <p:nvPr/>
        </p:nvSpPr>
        <p:spPr>
          <a:xfrm>
            <a:off x="521492" y="1722115"/>
            <a:ext cx="10975181" cy="591682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171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pixel decoder takes compressed features and rebuilds them into detailed pixel-level maps</a:t>
            </a:r>
            <a:endParaRPr lang="en-IN" sz="120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endParaRPr lang="en-US" altLang="en-US" sz="12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1F5E43B3-21DC-8099-58A4-83940267B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Training Phase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D4C3AA57-CA2B-BD3F-3618-15F572C1D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Pixel Decoder working</a:t>
            </a:r>
          </a:p>
        </p:txBody>
      </p:sp>
    </p:spTree>
    <p:extLst>
      <p:ext uri="{BB962C8B-B14F-4D97-AF65-F5344CB8AC3E}">
        <p14:creationId xmlns:p14="http://schemas.microsoft.com/office/powerpoint/2010/main" val="551967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1F13-DD20-27B5-DB39-D1B82047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1FBAB-76AE-AAED-97B4-FF3D6F597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18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FB21E-6B54-294B-D935-BB81EB480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3747283" y="3626357"/>
            <a:ext cx="4308812" cy="1922177"/>
          </a:xfrm>
          <a:prstGeom prst="rect">
            <a:avLst/>
          </a:prstGeom>
          <a:noFill/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3C90722-742C-3EF0-236B-B5EB3F3EF2B1}"/>
              </a:ext>
            </a:extLst>
          </p:cNvPr>
          <p:cNvGrpSpPr/>
          <p:nvPr/>
        </p:nvGrpSpPr>
        <p:grpSpPr>
          <a:xfrm>
            <a:off x="8371081" y="3855063"/>
            <a:ext cx="3242194" cy="1464764"/>
            <a:chOff x="8124143" y="3946134"/>
            <a:chExt cx="3242194" cy="146476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D1B9F37-37E1-8AE5-BAA8-03A795439DCC}"/>
                </a:ext>
              </a:extLst>
            </p:cNvPr>
            <p:cNvSpPr/>
            <p:nvPr/>
          </p:nvSpPr>
          <p:spPr>
            <a:xfrm>
              <a:off x="8124143" y="3946134"/>
              <a:ext cx="3242194" cy="1464764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r>
                <a:rPr lang="en-US" sz="1400" b="1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Final Segmentation Mask with clean object masks with labels </a:t>
              </a:r>
            </a:p>
            <a:p>
              <a:r>
                <a:rPr lang="en-US" sz="1400" b="1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(roads, cars, people, etc.)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66C5D1-B0E7-6EC6-EABE-CD4DF0BE0E2E}"/>
                </a:ext>
              </a:extLst>
            </p:cNvPr>
            <p:cNvSpPr txBox="1"/>
            <p:nvPr/>
          </p:nvSpPr>
          <p:spPr>
            <a:xfrm>
              <a:off x="8124143" y="3946134"/>
              <a:ext cx="994193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57BBC4-AE9D-B521-6D79-109C7D5FFE6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56095" y="4587445"/>
            <a:ext cx="314986" cy="1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981360-CDEC-9E30-82DB-3FAB7BF1533C}"/>
              </a:ext>
            </a:extLst>
          </p:cNvPr>
          <p:cNvGrpSpPr/>
          <p:nvPr/>
        </p:nvGrpSpPr>
        <p:grpSpPr>
          <a:xfrm>
            <a:off x="578726" y="3855063"/>
            <a:ext cx="3242194" cy="1464764"/>
            <a:chOff x="560388" y="3946134"/>
            <a:chExt cx="3242194" cy="146476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DB9E60F-7C54-8089-9443-0C987E2286A2}"/>
                </a:ext>
              </a:extLst>
            </p:cNvPr>
            <p:cNvSpPr/>
            <p:nvPr/>
          </p:nvSpPr>
          <p:spPr>
            <a:xfrm>
              <a:off x="560388" y="3946134"/>
              <a:ext cx="3242194" cy="1464764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r>
                <a:rPr lang="en-US" sz="1400" b="1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detailed map from the pixel decoder</a:t>
              </a:r>
              <a:endParaRPr lang="en-IN" sz="1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76A850-2013-3472-E75B-D5A14BED4134}"/>
                </a:ext>
              </a:extLst>
            </p:cNvPr>
            <p:cNvSpPr txBox="1"/>
            <p:nvPr/>
          </p:nvSpPr>
          <p:spPr>
            <a:xfrm>
              <a:off x="560388" y="3946134"/>
              <a:ext cx="994193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509951-7A48-086F-30A3-D8B916A07F16}"/>
              </a:ext>
            </a:extLst>
          </p:cNvPr>
          <p:cNvCxnSpPr>
            <a:cxnSpLocks/>
          </p:cNvCxnSpPr>
          <p:nvPr/>
        </p:nvCxnSpPr>
        <p:spPr>
          <a:xfrm>
            <a:off x="3845483" y="4587445"/>
            <a:ext cx="364033" cy="0"/>
          </a:xfrm>
          <a:prstGeom prst="straightConnector1">
            <a:avLst/>
          </a:prstGeom>
          <a:ln w="38100"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6760BD0-23D8-EECD-D452-A9C128203DEA}"/>
              </a:ext>
            </a:extLst>
          </p:cNvPr>
          <p:cNvSpPr txBox="1"/>
          <p:nvPr/>
        </p:nvSpPr>
        <p:spPr>
          <a:xfrm>
            <a:off x="578727" y="1391812"/>
            <a:ext cx="10925016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FUNCTION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6943C-323E-D682-1F42-02D89A82106D}"/>
              </a:ext>
            </a:extLst>
          </p:cNvPr>
          <p:cNvSpPr txBox="1"/>
          <p:nvPr/>
        </p:nvSpPr>
        <p:spPr>
          <a:xfrm>
            <a:off x="578726" y="1805583"/>
            <a:ext cx="10925016" cy="1114902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24000" indent="-18000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Breaks the image into regions.</a:t>
            </a:r>
          </a:p>
          <a:p>
            <a:pPr marL="324000" indent="-18000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Each region is handled by a separate “helper” (query).</a:t>
            </a:r>
          </a:p>
          <a:p>
            <a:pPr marL="324000" indent="-18000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sz="12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Each helper focuses only on its own region and refine it. To produce final segmentation map</a:t>
            </a:r>
          </a:p>
          <a:p>
            <a:pPr marL="144000">
              <a:spcAft>
                <a:spcPts val="600"/>
              </a:spcAft>
            </a:pPr>
            <a:endParaRPr lang="en-US" sz="120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8D18914E-AFE7-AB5B-E9BF-8CDC6F36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Training Phase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66FE7782-4189-8D22-FD51-FDEDF322E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Transformer Decoder working</a:t>
            </a:r>
          </a:p>
        </p:txBody>
      </p:sp>
    </p:spTree>
    <p:extLst>
      <p:ext uri="{BB962C8B-B14F-4D97-AF65-F5344CB8AC3E}">
        <p14:creationId xmlns:p14="http://schemas.microsoft.com/office/powerpoint/2010/main" val="3842699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B156-80B9-EEDA-C39C-E57E3930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EE114-AA83-F75E-FB01-D00D697DD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19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5E8BB4-0456-C3DE-2D0C-E1BD86A6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4093372" y="3968523"/>
            <a:ext cx="1157123" cy="1204906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9DB9EA-F369-8F8F-1708-149BF53E1948}"/>
              </a:ext>
            </a:extLst>
          </p:cNvPr>
          <p:cNvCxnSpPr>
            <a:cxnSpLocks/>
          </p:cNvCxnSpPr>
          <p:nvPr/>
        </p:nvCxnSpPr>
        <p:spPr>
          <a:xfrm>
            <a:off x="3302000" y="4595563"/>
            <a:ext cx="884733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CC246E2-F863-62D1-87EA-686A2F5C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4090407" y="1796580"/>
            <a:ext cx="3653406" cy="1629798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E2AB72-97A4-5E88-E338-0D6DD593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5250495" y="3429000"/>
            <a:ext cx="2494365" cy="2283952"/>
          </a:xfrm>
          <a:prstGeom prst="rect">
            <a:avLst/>
          </a:prstGeom>
          <a:noFill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0AFA3C-CE7B-B786-2A42-C89061D0CC2B}"/>
              </a:ext>
            </a:extLst>
          </p:cNvPr>
          <p:cNvSpPr txBox="1"/>
          <p:nvPr/>
        </p:nvSpPr>
        <p:spPr>
          <a:xfrm>
            <a:off x="3662693" y="5933962"/>
            <a:ext cx="48666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Complete Original Mask2fomer Architecture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EDF5C9-235F-7012-736E-257B52BBC930}"/>
              </a:ext>
            </a:extLst>
          </p:cNvPr>
          <p:cNvCxnSpPr>
            <a:cxnSpLocks/>
          </p:cNvCxnSpPr>
          <p:nvPr/>
        </p:nvCxnSpPr>
        <p:spPr>
          <a:xfrm>
            <a:off x="7827391" y="2395919"/>
            <a:ext cx="570278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819BD1-4671-83BC-881C-9EB13E034626}"/>
              </a:ext>
            </a:extLst>
          </p:cNvPr>
          <p:cNvCxnSpPr>
            <a:cxnSpLocks/>
          </p:cNvCxnSpPr>
          <p:nvPr/>
        </p:nvCxnSpPr>
        <p:spPr>
          <a:xfrm>
            <a:off x="7827391" y="2784538"/>
            <a:ext cx="570278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E1020F-4ED1-95F2-B4C8-548D17850C98}"/>
              </a:ext>
            </a:extLst>
          </p:cNvPr>
          <p:cNvGrpSpPr/>
          <p:nvPr/>
        </p:nvGrpSpPr>
        <p:grpSpPr>
          <a:xfrm>
            <a:off x="8481248" y="1727728"/>
            <a:ext cx="3233232" cy="1629795"/>
            <a:chOff x="8481248" y="1727728"/>
            <a:chExt cx="3233232" cy="162979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DDBD70C-1EFE-4B9D-FF91-905C5ECEE011}"/>
                </a:ext>
              </a:extLst>
            </p:cNvPr>
            <p:cNvSpPr/>
            <p:nvPr/>
          </p:nvSpPr>
          <p:spPr>
            <a:xfrm>
              <a:off x="8481248" y="1727728"/>
              <a:ext cx="3233232" cy="1629795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540000" bIns="36000" rtlCol="0" anchor="ctr"/>
            <a:lstStyle/>
            <a:p>
              <a:r>
                <a:rPr lang="en-US" sz="1300" b="1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what object it found (class) Example: car, road, person, </a:t>
              </a:r>
              <a:r>
                <a:rPr lang="en-US" sz="1300" b="1" dirty="0" err="1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etc</a:t>
              </a:r>
              <a:endParaRPr lang="en-US" sz="13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US" sz="13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US" sz="1300" b="1" dirty="0">
                  <a:solidFill>
                    <a:schemeClr val="tx2">
                      <a:lumMod val="95000"/>
                      <a:lumOff val="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Exactly where  the object is in the image (mask) Located at pixel level</a:t>
              </a:r>
            </a:p>
            <a:p>
              <a:endParaRPr lang="en-IN" sz="1300" b="1" dirty="0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F9C705-AC1B-4965-DE92-D30C0F289F84}"/>
                </a:ext>
              </a:extLst>
            </p:cNvPr>
            <p:cNvSpPr txBox="1"/>
            <p:nvPr/>
          </p:nvSpPr>
          <p:spPr>
            <a:xfrm>
              <a:off x="8481248" y="1727728"/>
              <a:ext cx="994193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</a:p>
          </p:txBody>
        </p:sp>
      </p:grpSp>
      <p:sp>
        <p:nvSpPr>
          <p:cNvPr id="4" name="Titel 2">
            <a:extLst>
              <a:ext uri="{FF2B5EF4-FFF2-40B4-BE49-F238E27FC236}">
                <a16:creationId xmlns:a16="http://schemas.microsoft.com/office/drawing/2014/main" id="{830CC42E-29E9-D170-4A1A-422C80B1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Original Mask2former Architecture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FFB6B86E-6840-2FF7-0433-B6EA5B013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1F1E2-0128-39B8-1F66-45F42216B4E7}"/>
              </a:ext>
            </a:extLst>
          </p:cNvPr>
          <p:cNvSpPr txBox="1"/>
          <p:nvPr/>
        </p:nvSpPr>
        <p:spPr>
          <a:xfrm>
            <a:off x="1222053" y="5218473"/>
            <a:ext cx="136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 Image</a:t>
            </a:r>
          </a:p>
        </p:txBody>
      </p:sp>
      <p:pic>
        <p:nvPicPr>
          <p:cNvPr id="11" name="Picture 10" descr="A car on the road&#10;&#10;AI-generated content may be incorrect.">
            <a:extLst>
              <a:ext uri="{FF2B5EF4-FFF2-40B4-BE49-F238E27FC236}">
                <a16:creationId xmlns:a16="http://schemas.microsoft.com/office/drawing/2014/main" id="{C713F842-8877-96BA-3264-0EFEE031326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90" y="3966778"/>
            <a:ext cx="2551902" cy="125065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9024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F51D-0BE1-6D26-E188-01761EAF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1F0D3-CBFB-25CF-4F64-087184EA8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20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BA3A5-6295-8914-A787-5500897E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1762231" y="3744633"/>
            <a:ext cx="692666" cy="721269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622CC0-432A-11C8-4BFC-661293A3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1061789" y="1841095"/>
            <a:ext cx="2887409" cy="602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73AB2-6EE2-9EAD-A5C6-3432FBC0B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931" y="4800635"/>
            <a:ext cx="2887409" cy="602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A215C-E22D-3450-3269-E452C5D67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677" y="2713419"/>
            <a:ext cx="909616" cy="70274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3D584C-F77E-7EF4-2028-D50A68347E48}"/>
              </a:ext>
            </a:extLst>
          </p:cNvPr>
          <p:cNvCxnSpPr>
            <a:endCxn id="12" idx="1"/>
          </p:cNvCxnSpPr>
          <p:nvPr/>
        </p:nvCxnSpPr>
        <p:spPr>
          <a:xfrm>
            <a:off x="4049535" y="3064790"/>
            <a:ext cx="180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5D34892-BDCA-E46D-444D-10187F8F071E}"/>
              </a:ext>
            </a:extLst>
          </p:cNvPr>
          <p:cNvCxnSpPr>
            <a:endCxn id="12" idx="0"/>
          </p:cNvCxnSpPr>
          <p:nvPr/>
        </p:nvCxnSpPr>
        <p:spPr>
          <a:xfrm>
            <a:off x="4049535" y="2149967"/>
            <a:ext cx="634950" cy="5634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3F4DC44-5A2D-0E6B-C58E-ABFC1BF403CD}"/>
              </a:ext>
            </a:extLst>
          </p:cNvPr>
          <p:cNvCxnSpPr>
            <a:stCxn id="11" idx="3"/>
          </p:cNvCxnSpPr>
          <p:nvPr/>
        </p:nvCxnSpPr>
        <p:spPr>
          <a:xfrm flipV="1">
            <a:off x="4129339" y="3499447"/>
            <a:ext cx="593638" cy="16023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8AA6DC4-8915-626F-7D47-F0CE79DD2F45}"/>
              </a:ext>
            </a:extLst>
          </p:cNvPr>
          <p:cNvCxnSpPr>
            <a:endCxn id="10" idx="1"/>
          </p:cNvCxnSpPr>
          <p:nvPr/>
        </p:nvCxnSpPr>
        <p:spPr>
          <a:xfrm rot="16200000" flipV="1">
            <a:off x="767820" y="2436241"/>
            <a:ext cx="1955414" cy="1367474"/>
          </a:xfrm>
          <a:prstGeom prst="bentConnector4">
            <a:avLst>
              <a:gd name="adj1" fmla="val 20787"/>
              <a:gd name="adj2" fmla="val 113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EBBEEDD-6C34-D2AF-0777-F4C204B044E9}"/>
              </a:ext>
            </a:extLst>
          </p:cNvPr>
          <p:cNvCxnSpPr>
            <a:endCxn id="11" idx="1"/>
          </p:cNvCxnSpPr>
          <p:nvPr/>
        </p:nvCxnSpPr>
        <p:spPr>
          <a:xfrm rot="10800000" flipV="1">
            <a:off x="1241931" y="4530662"/>
            <a:ext cx="1187330" cy="571148"/>
          </a:xfrm>
          <a:prstGeom prst="bentConnector3">
            <a:avLst>
              <a:gd name="adj1" fmla="val 126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FD2E6D-0B33-13EF-6357-0B1C6D6180D4}"/>
              </a:ext>
            </a:extLst>
          </p:cNvPr>
          <p:cNvCxnSpPr/>
          <p:nvPr/>
        </p:nvCxnSpPr>
        <p:spPr>
          <a:xfrm>
            <a:off x="2429262" y="4097685"/>
            <a:ext cx="0" cy="4329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D153A57D-FD05-BAB5-42E2-98FA47328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1805606" y="2440549"/>
            <a:ext cx="2186967" cy="975614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9FB441-950D-3F4C-C691-E419AD8B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2499420" y="3416163"/>
            <a:ext cx="1493154" cy="1367198"/>
          </a:xfrm>
          <a:prstGeom prst="rect">
            <a:avLst/>
          </a:prstGeom>
          <a:noFill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EDCC0C-B55F-F397-EE26-261D1A764732}"/>
              </a:ext>
            </a:extLst>
          </p:cNvPr>
          <p:cNvSpPr txBox="1"/>
          <p:nvPr/>
        </p:nvSpPr>
        <p:spPr>
          <a:xfrm>
            <a:off x="882968" y="5583567"/>
            <a:ext cx="38400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Updated Mask2fomer Architecture with  WAS+TAS 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7C232EA-C91C-BA5F-5253-88F59D480152}"/>
              </a:ext>
            </a:extLst>
          </p:cNvPr>
          <p:cNvCxnSpPr>
            <a:cxnSpLocks/>
          </p:cNvCxnSpPr>
          <p:nvPr/>
        </p:nvCxnSpPr>
        <p:spPr>
          <a:xfrm>
            <a:off x="5210777" y="3283973"/>
            <a:ext cx="877176" cy="460660"/>
          </a:xfrm>
          <a:prstGeom prst="bentConnector3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8997E48-5A85-2B35-595C-BF467278BA2A}"/>
              </a:ext>
            </a:extLst>
          </p:cNvPr>
          <p:cNvGrpSpPr/>
          <p:nvPr/>
        </p:nvGrpSpPr>
        <p:grpSpPr>
          <a:xfrm>
            <a:off x="6224719" y="1860864"/>
            <a:ext cx="5227105" cy="1662931"/>
            <a:chOff x="6224719" y="1766067"/>
            <a:chExt cx="5227105" cy="166293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E00245D-E8FB-9C03-731B-0C1BD61BA45D}"/>
                </a:ext>
              </a:extLst>
            </p:cNvPr>
            <p:cNvSpPr/>
            <p:nvPr/>
          </p:nvSpPr>
          <p:spPr>
            <a:xfrm>
              <a:off x="6224720" y="1771261"/>
              <a:ext cx="5227104" cy="1657737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504000" bIns="36000" rtlCol="0" anchor="ctr"/>
            <a:lstStyle/>
            <a:p>
              <a:endParaRPr lang="en-US" sz="1400" b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Weather-Aware Supervisor (WAS)</a:t>
              </a: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 Features from backbone.</a:t>
              </a: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Function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 Forces encoder to learn </a:t>
              </a:r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weather-specific robust features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 </a:t>
              </a: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Output: 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Predicts is it clear, rain, fog or  snow weather.</a:t>
              </a:r>
            </a:p>
            <a:p>
              <a:endPara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IN" sz="1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F387567-21A3-73B9-46DD-1F8D4ACC4A78}"/>
                </a:ext>
              </a:extLst>
            </p:cNvPr>
            <p:cNvSpPr txBox="1"/>
            <p:nvPr/>
          </p:nvSpPr>
          <p:spPr>
            <a:xfrm>
              <a:off x="6224719" y="1766067"/>
              <a:ext cx="1808235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1. WAS Output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4228A38-517C-D0CC-155E-90B0CAC8D39C}"/>
              </a:ext>
            </a:extLst>
          </p:cNvPr>
          <p:cNvGrpSpPr/>
          <p:nvPr/>
        </p:nvGrpSpPr>
        <p:grpSpPr>
          <a:xfrm>
            <a:off x="6224719" y="3587750"/>
            <a:ext cx="5227105" cy="1662931"/>
            <a:chOff x="6224719" y="1766067"/>
            <a:chExt cx="5227105" cy="1662931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046E124-CEBE-EFAC-75F0-D13B378D40C3}"/>
                </a:ext>
              </a:extLst>
            </p:cNvPr>
            <p:cNvSpPr/>
            <p:nvPr/>
          </p:nvSpPr>
          <p:spPr>
            <a:xfrm>
              <a:off x="6224720" y="1771261"/>
              <a:ext cx="5227104" cy="1657737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504000" bIns="36000" rtlCol="0" anchor="ctr"/>
            <a:lstStyle/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Time-Aware Supervisor (TAS)</a:t>
              </a: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 Features from backbone.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Function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 </a:t>
              </a:r>
              <a:r>
                <a:rPr lang="en-US" alt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Forces encoder to learn </a:t>
              </a:r>
              <a:r>
                <a:rPr lang="en-US" alt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illumination-aware features</a:t>
              </a:r>
              <a:r>
                <a:rPr lang="en-US" alt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</a:t>
              </a:r>
              <a:endPara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  <a:r>
                <a:rPr lang="en-US" sz="140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 Predicts </a:t>
              </a:r>
              <a:r>
                <a:rPr lang="en-US" sz="1400" b="1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is it day or night </a:t>
              </a:r>
              <a:endParaRPr lang="en-US" sz="140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en-IN" sz="1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D2BAFE0-19E9-6511-00FB-8A9029823E6E}"/>
                </a:ext>
              </a:extLst>
            </p:cNvPr>
            <p:cNvSpPr txBox="1"/>
            <p:nvPr/>
          </p:nvSpPr>
          <p:spPr>
            <a:xfrm>
              <a:off x="6224719" y="1766067"/>
              <a:ext cx="1729577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2. TAS Output</a:t>
              </a:r>
            </a:p>
          </p:txBody>
        </p:sp>
      </p:grp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6C0FA5F-6F27-5A78-E7AD-E22FFAE551A8}"/>
              </a:ext>
            </a:extLst>
          </p:cNvPr>
          <p:cNvCxnSpPr>
            <a:cxnSpLocks/>
          </p:cNvCxnSpPr>
          <p:nvPr/>
        </p:nvCxnSpPr>
        <p:spPr>
          <a:xfrm flipV="1">
            <a:off x="5210777" y="2342673"/>
            <a:ext cx="877176" cy="460660"/>
          </a:xfrm>
          <a:prstGeom prst="bentConnector3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2">
            <a:extLst>
              <a:ext uri="{FF2B5EF4-FFF2-40B4-BE49-F238E27FC236}">
                <a16:creationId xmlns:a16="http://schemas.microsoft.com/office/drawing/2014/main" id="{594DDE88-9115-6B8E-7702-A5006FB7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Training Phase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28E289B5-A792-86B6-4018-FA74E1EC2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 WAS, TAS Outputs for Proposed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84026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BD10-A921-9D3E-C436-10F92926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A0ACE-74D9-F53C-5889-46ABEB407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21</a:t>
            </a:fld>
            <a:endParaRPr lang="de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F1F66-8E5A-2172-7F90-F5A8CC280717}"/>
              </a:ext>
            </a:extLst>
          </p:cNvPr>
          <p:cNvSpPr txBox="1"/>
          <p:nvPr/>
        </p:nvSpPr>
        <p:spPr>
          <a:xfrm>
            <a:off x="1310248" y="2528460"/>
            <a:ext cx="136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 Image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A2445D-E106-FDB6-C0C2-0B633A4E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4458903" y="3555679"/>
            <a:ext cx="715754" cy="74531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7F441C-5A3D-9B1A-410B-7E1D9915F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3735114" y="1588692"/>
            <a:ext cx="2983652" cy="622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4130D1-2D37-A7E6-4B57-46EC509CD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261" y="4646879"/>
            <a:ext cx="2983652" cy="622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03F92-B80E-A50B-1BF4-62CDB3878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594" y="2490092"/>
            <a:ext cx="939935" cy="7261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248AF0-A451-FBD0-7F43-789084F1B339}"/>
              </a:ext>
            </a:extLst>
          </p:cNvPr>
          <p:cNvCxnSpPr>
            <a:endCxn id="8" idx="1"/>
          </p:cNvCxnSpPr>
          <p:nvPr/>
        </p:nvCxnSpPr>
        <p:spPr>
          <a:xfrm>
            <a:off x="6822447" y="2853175"/>
            <a:ext cx="1861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633F971-611C-FA26-1C07-B502E1DDF16A}"/>
              </a:ext>
            </a:extLst>
          </p:cNvPr>
          <p:cNvCxnSpPr>
            <a:endCxn id="8" idx="0"/>
          </p:cNvCxnSpPr>
          <p:nvPr/>
        </p:nvCxnSpPr>
        <p:spPr>
          <a:xfrm>
            <a:off x="6822447" y="1907859"/>
            <a:ext cx="656114" cy="5822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0428AF2-BCA4-310C-825A-FB1C8B42147B}"/>
              </a:ext>
            </a:extLst>
          </p:cNvPr>
          <p:cNvCxnSpPr>
            <a:stCxn id="5" idx="3"/>
          </p:cNvCxnSpPr>
          <p:nvPr/>
        </p:nvCxnSpPr>
        <p:spPr>
          <a:xfrm flipV="1">
            <a:off x="6904911" y="3302320"/>
            <a:ext cx="613425" cy="16557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53E0A8C-9F82-9B07-B208-8D91F65DDDBF}"/>
              </a:ext>
            </a:extLst>
          </p:cNvPr>
          <p:cNvCxnSpPr>
            <a:endCxn id="3" idx="1"/>
          </p:cNvCxnSpPr>
          <p:nvPr/>
        </p:nvCxnSpPr>
        <p:spPr>
          <a:xfrm rot="16200000" flipV="1">
            <a:off x="3431346" y="2203676"/>
            <a:ext cx="2020592" cy="1413054"/>
          </a:xfrm>
          <a:prstGeom prst="bentConnector4">
            <a:avLst>
              <a:gd name="adj1" fmla="val 20787"/>
              <a:gd name="adj2" fmla="val 113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A4DC65E-4F09-06C7-928B-FE74D905E27A}"/>
              </a:ext>
            </a:extLst>
          </p:cNvPr>
          <p:cNvCxnSpPr>
            <a:endCxn id="5" idx="1"/>
          </p:cNvCxnSpPr>
          <p:nvPr/>
        </p:nvCxnSpPr>
        <p:spPr>
          <a:xfrm rot="10800000" flipV="1">
            <a:off x="3921261" y="4367908"/>
            <a:ext cx="1226906" cy="590186"/>
          </a:xfrm>
          <a:prstGeom prst="bentConnector3">
            <a:avLst>
              <a:gd name="adj1" fmla="val 126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2CA05E-6E27-402B-9F5C-65CE7CB2E363}"/>
              </a:ext>
            </a:extLst>
          </p:cNvPr>
          <p:cNvCxnSpPr>
            <a:cxnSpLocks/>
          </p:cNvCxnSpPr>
          <p:nvPr/>
        </p:nvCxnSpPr>
        <p:spPr>
          <a:xfrm>
            <a:off x="5148168" y="3920499"/>
            <a:ext cx="0" cy="4474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41A052-7AA8-68C0-8526-C46630F01A14}"/>
              </a:ext>
            </a:extLst>
          </p:cNvPr>
          <p:cNvCxnSpPr>
            <a:cxnSpLocks/>
          </p:cNvCxnSpPr>
          <p:nvPr/>
        </p:nvCxnSpPr>
        <p:spPr>
          <a:xfrm>
            <a:off x="3487224" y="3947044"/>
            <a:ext cx="937845" cy="3513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EE25662E-5270-E13A-DF81-D14625A7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4503724" y="2208127"/>
            <a:ext cx="2259863" cy="1008133"/>
          </a:xfrm>
          <a:prstGeom prst="rect">
            <a:avLst/>
          </a:prstGeom>
          <a:noFill/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90EE2D-A438-1EAB-A969-3FD126303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5220664" y="3216260"/>
            <a:ext cx="1542924" cy="1412769"/>
          </a:xfrm>
          <a:prstGeom prst="rect">
            <a:avLst/>
          </a:prstGeom>
          <a:noFill/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FF71CA-B7D8-E5B2-847C-8C2DDE3EC31E}"/>
              </a:ext>
            </a:extLst>
          </p:cNvPr>
          <p:cNvCxnSpPr>
            <a:cxnSpLocks/>
          </p:cNvCxnSpPr>
          <p:nvPr/>
        </p:nvCxnSpPr>
        <p:spPr>
          <a:xfrm>
            <a:off x="7948529" y="2855581"/>
            <a:ext cx="238957" cy="15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68A6181-5F4E-5E19-0ACD-A03F026DAB01}"/>
              </a:ext>
            </a:extLst>
          </p:cNvPr>
          <p:cNvSpPr txBox="1"/>
          <p:nvPr/>
        </p:nvSpPr>
        <p:spPr>
          <a:xfrm>
            <a:off x="8187486" y="3342071"/>
            <a:ext cx="2928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900" algn="ctr">
              <a:lnSpc>
                <a:spcPct val="150000"/>
              </a:lnSpc>
            </a:pP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Predicted Segmentation Map</a:t>
            </a: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ACAC7657-84E6-909D-E134-9975B312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Training Phase</a:t>
            </a:r>
          </a:p>
        </p:txBody>
      </p:sp>
      <p:pic>
        <p:nvPicPr>
          <p:cNvPr id="10" name="Picture 9" descr="A car on the road&#10;&#10;AI-generated content may be incorrect.">
            <a:extLst>
              <a:ext uri="{FF2B5EF4-FFF2-40B4-BE49-F238E27FC236}">
                <a16:creationId xmlns:a16="http://schemas.microsoft.com/office/drawing/2014/main" id="{5677B0ED-DF22-9630-1273-05959B53A4F8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6" y="2853175"/>
            <a:ext cx="2551902" cy="125065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BD87A1-B665-F924-8035-BE2E84F23186}"/>
              </a:ext>
            </a:extLst>
          </p:cNvPr>
          <p:cNvSpPr/>
          <p:nvPr/>
        </p:nvSpPr>
        <p:spPr>
          <a:xfrm>
            <a:off x="8258949" y="3779290"/>
            <a:ext cx="3730888" cy="1399200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432000" rtlCol="0" anchor="ctr"/>
          <a:lstStyle/>
          <a:p>
            <a:pPr marL="342900" indent="-288000">
              <a:lnSpc>
                <a:spcPct val="150000"/>
              </a:lnSpc>
              <a:buFont typeface="+mj-lt"/>
              <a:buAutoNum type="arabicPeriod"/>
            </a:pPr>
            <a:r>
              <a:rPr lang="en-US" sz="1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Predicted Segmentation Map</a:t>
            </a:r>
          </a:p>
          <a:p>
            <a:pPr marL="342900" indent="-288000">
              <a:lnSpc>
                <a:spcPct val="150000"/>
              </a:lnSpc>
              <a:buFont typeface="+mj-lt"/>
              <a:buAutoNum type="arabicPeriod"/>
            </a:pPr>
            <a:r>
              <a:rPr lang="en-US" sz="1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Predicted Weather (Rain/Fog/Snow/Night)</a:t>
            </a:r>
          </a:p>
          <a:p>
            <a:pPr marL="342900" indent="-288000">
              <a:lnSpc>
                <a:spcPct val="150000"/>
              </a:lnSpc>
              <a:buFont typeface="+mj-lt"/>
              <a:buAutoNum type="arabicPeriod"/>
            </a:pPr>
            <a:r>
              <a:rPr lang="en-US" sz="1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Predicted Time (Day/Night)</a:t>
            </a:r>
            <a:endParaRPr lang="en-US" sz="1300" i="1" dirty="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28600" indent="-288000">
              <a:buFont typeface="+mj-lt"/>
              <a:buAutoNum type="arabicPeriod"/>
            </a:pPr>
            <a:endParaRPr lang="en-IN" sz="1000" b="1" dirty="0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F1A9C7-827C-DB79-040A-A179FAA8AAAB}"/>
              </a:ext>
            </a:extLst>
          </p:cNvPr>
          <p:cNvSpPr txBox="1"/>
          <p:nvPr/>
        </p:nvSpPr>
        <p:spPr>
          <a:xfrm>
            <a:off x="8258950" y="3779290"/>
            <a:ext cx="940989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Get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873E5B-9A19-C3B2-9FA6-CC4C3426624E}"/>
              </a:ext>
            </a:extLst>
          </p:cNvPr>
          <p:cNvGrpSpPr/>
          <p:nvPr/>
        </p:nvGrpSpPr>
        <p:grpSpPr>
          <a:xfrm>
            <a:off x="351704" y="4646878"/>
            <a:ext cx="3135520" cy="1623293"/>
            <a:chOff x="351704" y="4646878"/>
            <a:chExt cx="3135520" cy="162329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FCBBC22-29B9-9E47-2817-EA0D2DC9C497}"/>
                </a:ext>
              </a:extLst>
            </p:cNvPr>
            <p:cNvSpPr/>
            <p:nvPr/>
          </p:nvSpPr>
          <p:spPr>
            <a:xfrm>
              <a:off x="351704" y="4646878"/>
              <a:ext cx="3135520" cy="1623293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8000" tIns="432000" rtlCol="0" anchor="ctr"/>
            <a:lstStyle/>
            <a:p>
              <a:pPr marL="342900" indent="-2880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300" b="1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 Image</a:t>
              </a:r>
            </a:p>
            <a:p>
              <a:pPr marL="342900" indent="-2880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300" b="1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Segmentation Map (Ground Truth)</a:t>
              </a:r>
            </a:p>
            <a:p>
              <a:pPr marL="342900" indent="-2880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300" b="1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Weather Label (Ground Truth)</a:t>
              </a:r>
            </a:p>
            <a:p>
              <a:pPr marL="342900" indent="-2880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300" b="1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Time label (Ground Truth)</a:t>
              </a:r>
            </a:p>
            <a:p>
              <a:pPr marL="228600" indent="-288000">
                <a:buFont typeface="+mj-lt"/>
                <a:buAutoNum type="arabicPeriod"/>
              </a:pPr>
              <a:endParaRPr lang="en-IN" sz="1000" b="1" dirty="0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2A4004-F60A-3ECF-CD6A-8D314E387E34}"/>
                </a:ext>
              </a:extLst>
            </p:cNvPr>
            <p:cNvSpPr txBox="1"/>
            <p:nvPr/>
          </p:nvSpPr>
          <p:spPr>
            <a:xfrm>
              <a:off x="351704" y="4646879"/>
              <a:ext cx="1337137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 provide</a:t>
              </a:r>
            </a:p>
          </p:txBody>
        </p:sp>
      </p:grpSp>
      <p:pic>
        <p:nvPicPr>
          <p:cNvPr id="40" name="Picture 39" descr="A street with cars and people on it&#10;&#10;AI-generated content may be incorrect.">
            <a:extLst>
              <a:ext uri="{FF2B5EF4-FFF2-40B4-BE49-F238E27FC236}">
                <a16:creationId xmlns:a16="http://schemas.microsoft.com/office/drawing/2014/main" id="{A3A52D7C-4CD9-7D7D-615F-FD4E43571962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52" y="2091422"/>
            <a:ext cx="2551902" cy="1250649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41" name="Subtitle 4">
            <a:extLst>
              <a:ext uri="{FF2B5EF4-FFF2-40B4-BE49-F238E27FC236}">
                <a16:creationId xmlns:a16="http://schemas.microsoft.com/office/drawing/2014/main" id="{78438253-B326-C89F-00C9-9FDC081FE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we provide and what we get</a:t>
            </a:r>
          </a:p>
        </p:txBody>
      </p:sp>
    </p:spTree>
    <p:extLst>
      <p:ext uri="{BB962C8B-B14F-4D97-AF65-F5344CB8AC3E}">
        <p14:creationId xmlns:p14="http://schemas.microsoft.com/office/powerpoint/2010/main" val="420516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4119-79F6-0C5A-C49D-0E621041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241A9-3E45-70A4-C38A-DEE184D27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22</a:t>
            </a:fld>
            <a:endParaRPr lang="de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E7FB59-56E0-A372-ECEF-88F5153165C9}"/>
              </a:ext>
            </a:extLst>
          </p:cNvPr>
          <p:cNvSpPr txBox="1"/>
          <p:nvPr/>
        </p:nvSpPr>
        <p:spPr>
          <a:xfrm>
            <a:off x="1390007" y="3025321"/>
            <a:ext cx="1360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 Image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C78331-E51F-E512-A4E2-486E117B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4458903" y="3555679"/>
            <a:ext cx="715754" cy="745310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38899-3A0B-1B56-F563-6947DDF2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3735114" y="1588692"/>
            <a:ext cx="2983652" cy="622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F373F8-ED7A-AC03-7828-390AA2A8F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261" y="4646879"/>
            <a:ext cx="2983652" cy="6224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3CF6A1-0F2D-3B14-CC53-BDD4E461B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594" y="2490092"/>
            <a:ext cx="939935" cy="7261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30C127-A14E-C9FB-BB70-510013378282}"/>
              </a:ext>
            </a:extLst>
          </p:cNvPr>
          <p:cNvCxnSpPr>
            <a:endCxn id="8" idx="1"/>
          </p:cNvCxnSpPr>
          <p:nvPr/>
        </p:nvCxnSpPr>
        <p:spPr>
          <a:xfrm>
            <a:off x="6822447" y="2853175"/>
            <a:ext cx="18614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1518318-F046-32F7-5D06-B6B1BDF18F0F}"/>
              </a:ext>
            </a:extLst>
          </p:cNvPr>
          <p:cNvCxnSpPr>
            <a:endCxn id="8" idx="0"/>
          </p:cNvCxnSpPr>
          <p:nvPr/>
        </p:nvCxnSpPr>
        <p:spPr>
          <a:xfrm>
            <a:off x="6822447" y="1907859"/>
            <a:ext cx="656114" cy="5822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8A3CA14-68C3-109F-10B1-B2866FB911CE}"/>
              </a:ext>
            </a:extLst>
          </p:cNvPr>
          <p:cNvCxnSpPr>
            <a:stCxn id="5" idx="3"/>
          </p:cNvCxnSpPr>
          <p:nvPr/>
        </p:nvCxnSpPr>
        <p:spPr>
          <a:xfrm flipV="1">
            <a:off x="6904911" y="3302320"/>
            <a:ext cx="613425" cy="16557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47C04D-6F81-1F96-A1A4-0AF58716893B}"/>
              </a:ext>
            </a:extLst>
          </p:cNvPr>
          <p:cNvCxnSpPr>
            <a:endCxn id="3" idx="1"/>
          </p:cNvCxnSpPr>
          <p:nvPr/>
        </p:nvCxnSpPr>
        <p:spPr>
          <a:xfrm rot="16200000" flipV="1">
            <a:off x="3431346" y="2203676"/>
            <a:ext cx="2020592" cy="1413054"/>
          </a:xfrm>
          <a:prstGeom prst="bentConnector4">
            <a:avLst>
              <a:gd name="adj1" fmla="val 20787"/>
              <a:gd name="adj2" fmla="val 113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5AF037D-9770-A696-916D-1CCB89971BA2}"/>
              </a:ext>
            </a:extLst>
          </p:cNvPr>
          <p:cNvCxnSpPr>
            <a:endCxn id="5" idx="1"/>
          </p:cNvCxnSpPr>
          <p:nvPr/>
        </p:nvCxnSpPr>
        <p:spPr>
          <a:xfrm rot="10800000" flipV="1">
            <a:off x="3921261" y="4367908"/>
            <a:ext cx="1226906" cy="590186"/>
          </a:xfrm>
          <a:prstGeom prst="bentConnector3">
            <a:avLst>
              <a:gd name="adj1" fmla="val 126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5C6805-FC45-7D5F-55D1-123990CF6E7A}"/>
              </a:ext>
            </a:extLst>
          </p:cNvPr>
          <p:cNvCxnSpPr>
            <a:cxnSpLocks/>
          </p:cNvCxnSpPr>
          <p:nvPr/>
        </p:nvCxnSpPr>
        <p:spPr>
          <a:xfrm>
            <a:off x="5148168" y="3920499"/>
            <a:ext cx="0" cy="4474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613FDEB-4524-CCBF-45D1-80BF8BED64FA}"/>
              </a:ext>
            </a:extLst>
          </p:cNvPr>
          <p:cNvCxnSpPr>
            <a:cxnSpLocks/>
          </p:cNvCxnSpPr>
          <p:nvPr/>
        </p:nvCxnSpPr>
        <p:spPr>
          <a:xfrm>
            <a:off x="3487224" y="3947044"/>
            <a:ext cx="937845" cy="3513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B82BA11-4642-DFC4-99A6-16F0FB63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4503724" y="2208127"/>
            <a:ext cx="2259863" cy="1008133"/>
          </a:xfrm>
          <a:prstGeom prst="rect">
            <a:avLst/>
          </a:prstGeom>
          <a:noFill/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530316-DA06-4474-EFA1-1222AA772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5220664" y="3216260"/>
            <a:ext cx="1542924" cy="1412769"/>
          </a:xfrm>
          <a:prstGeom prst="rect">
            <a:avLst/>
          </a:prstGeom>
          <a:noFill/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4F381D-BD7D-5AEA-4B4D-BE2E7517E887}"/>
              </a:ext>
            </a:extLst>
          </p:cNvPr>
          <p:cNvCxnSpPr>
            <a:cxnSpLocks/>
          </p:cNvCxnSpPr>
          <p:nvPr/>
        </p:nvCxnSpPr>
        <p:spPr>
          <a:xfrm>
            <a:off x="7948529" y="2902236"/>
            <a:ext cx="238957" cy="15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310AAD5-2869-9EFC-D3F0-EB69617E6075}"/>
              </a:ext>
            </a:extLst>
          </p:cNvPr>
          <p:cNvSpPr txBox="1"/>
          <p:nvPr/>
        </p:nvSpPr>
        <p:spPr>
          <a:xfrm>
            <a:off x="8187486" y="3342071"/>
            <a:ext cx="2928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Segmentation Map Generated by Model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F87DF1B-9EA5-9FE7-96B8-9E78622D62EA}"/>
              </a:ext>
            </a:extLst>
          </p:cNvPr>
          <p:cNvSpPr/>
          <p:nvPr/>
        </p:nvSpPr>
        <p:spPr>
          <a:xfrm>
            <a:off x="8296274" y="3769959"/>
            <a:ext cx="2928035" cy="1099760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432000" rtlCol="0" anchor="ctr"/>
          <a:lstStyle/>
          <a:p>
            <a:pPr marL="342900" indent="-2880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Predicted Segmentation Map</a:t>
            </a:r>
            <a:endParaRPr lang="en-US" sz="1300" i="1" dirty="0">
              <a:solidFill>
                <a:schemeClr val="tx2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28600" indent="-288000">
              <a:buFont typeface="+mj-lt"/>
              <a:buAutoNum type="arabicPeriod"/>
            </a:pPr>
            <a:endParaRPr lang="en-IN" sz="1000" b="1" dirty="0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66E58A-ED50-75B8-0831-23085DBE0F9D}"/>
              </a:ext>
            </a:extLst>
          </p:cNvPr>
          <p:cNvSpPr txBox="1"/>
          <p:nvPr/>
        </p:nvSpPr>
        <p:spPr>
          <a:xfrm>
            <a:off x="8296274" y="3769959"/>
            <a:ext cx="116496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get</a:t>
            </a:r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5B2DD2F2-B44E-9263-51F2-1B3553A5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425850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During Inference phase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5A9816B-DAEF-BDD1-A361-EDCBDDA29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we provide and what we get</a:t>
            </a:r>
          </a:p>
        </p:txBody>
      </p:sp>
      <p:pic>
        <p:nvPicPr>
          <p:cNvPr id="10" name="Picture 9" descr="A car on the road&#10;&#10;AI-generated content may be incorrect.">
            <a:extLst>
              <a:ext uri="{FF2B5EF4-FFF2-40B4-BE49-F238E27FC236}">
                <a16:creationId xmlns:a16="http://schemas.microsoft.com/office/drawing/2014/main" id="{15E9C9B1-8901-BB48-461C-4C52AE838840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44" y="3350952"/>
            <a:ext cx="2551902" cy="125065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11" name="Picture 10" descr="A street with cars and people on it&#10;&#10;AI-generated content may be incorrect.">
            <a:extLst>
              <a:ext uri="{FF2B5EF4-FFF2-40B4-BE49-F238E27FC236}">
                <a16:creationId xmlns:a16="http://schemas.microsoft.com/office/drawing/2014/main" id="{235DAFEE-F7AD-194E-6C42-16592B2DAE20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52" y="2091422"/>
            <a:ext cx="2551902" cy="1250649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E83F9B-1A10-9DB8-3169-AE3F1FC32D94}"/>
              </a:ext>
            </a:extLst>
          </p:cNvPr>
          <p:cNvSpPr/>
          <p:nvPr/>
        </p:nvSpPr>
        <p:spPr>
          <a:xfrm>
            <a:off x="794245" y="5042965"/>
            <a:ext cx="2042262" cy="984611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000" tIns="432000" rtlCol="0" anchor="ctr"/>
          <a:lstStyle/>
          <a:p>
            <a:pPr marL="342900" indent="-288000">
              <a:lnSpc>
                <a:spcPct val="150000"/>
              </a:lnSpc>
              <a:buFont typeface="+mj-lt"/>
              <a:buAutoNum type="arabicPeriod"/>
            </a:pPr>
            <a:r>
              <a:rPr lang="en-US" sz="13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</a:p>
          <a:p>
            <a:pPr marL="228600" indent="-288000">
              <a:buFont typeface="+mj-lt"/>
              <a:buAutoNum type="arabicPeriod"/>
            </a:pPr>
            <a:endParaRPr lang="en-IN" sz="1000" b="1" dirty="0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3B058E-50D6-9A62-2C5A-D9BEC8602F86}"/>
              </a:ext>
            </a:extLst>
          </p:cNvPr>
          <p:cNvSpPr txBox="1"/>
          <p:nvPr/>
        </p:nvSpPr>
        <p:spPr>
          <a:xfrm>
            <a:off x="803575" y="5061912"/>
            <a:ext cx="121183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provide</a:t>
            </a:r>
          </a:p>
        </p:txBody>
      </p:sp>
    </p:spTree>
    <p:extLst>
      <p:ext uri="{BB962C8B-B14F-4D97-AF65-F5344CB8AC3E}">
        <p14:creationId xmlns:p14="http://schemas.microsoft.com/office/powerpoint/2010/main" val="1933183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E6463A-B5E3-CBDA-2AD8-3CBF016E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Datasets used and Data Splits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28D79EA-C85D-7F88-95BE-9D7177335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400"/>
              <a:t>Real-world 19-class datasets used for training, Validation and evaluation (Cityscapes + ACDC)</a:t>
            </a:r>
          </a:p>
          <a:p>
            <a:endParaRPr lang="en-IN" sz="14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ED71B-ACFF-2AED-FF1F-0ACF57866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23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389EB8-F939-EB4B-FFD0-ED5D1BD9510C}"/>
              </a:ext>
            </a:extLst>
          </p:cNvPr>
          <p:cNvSpPr txBox="1"/>
          <p:nvPr/>
        </p:nvSpPr>
        <p:spPr>
          <a:xfrm>
            <a:off x="550864" y="1479373"/>
            <a:ext cx="5328256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(Real, Urban, Clear Weather)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16157C-9AA4-3A7B-1C40-2C6270F61A4F}"/>
              </a:ext>
            </a:extLst>
          </p:cNvPr>
          <p:cNvSpPr txBox="1"/>
          <p:nvPr/>
        </p:nvSpPr>
        <p:spPr>
          <a:xfrm>
            <a:off x="550864" y="1846128"/>
            <a:ext cx="5328256" cy="21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official train set =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2975 images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Split into (85/15)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→ For Training (85%) = 2529 images  </a:t>
            </a:r>
          </a:p>
          <a:p>
            <a:pPr marL="180000">
              <a:lnSpc>
                <a:spcPct val="150000"/>
              </a:lnSpc>
              <a:spcAft>
                <a:spcPts val="600"/>
              </a:spcAft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                             → For validation (15%) = 446 images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 during Evaluation only :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official Validation set used as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 set = 500 images </a:t>
            </a:r>
            <a:b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altLang="en-US" sz="1100" b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F7E35-FA49-4483-09A8-E1837E9B1161}"/>
              </a:ext>
            </a:extLst>
          </p:cNvPr>
          <p:cNvSpPr txBox="1"/>
          <p:nvPr/>
        </p:nvSpPr>
        <p:spPr>
          <a:xfrm>
            <a:off x="6312880" y="1479373"/>
            <a:ext cx="5166578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(Real, Adverse Weather)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9D7AD-870E-B82B-E87B-ADA18668945F}"/>
              </a:ext>
            </a:extLst>
          </p:cNvPr>
          <p:cNvSpPr txBox="1"/>
          <p:nvPr/>
        </p:nvSpPr>
        <p:spPr>
          <a:xfrm>
            <a:off x="6312881" y="1846130"/>
            <a:ext cx="5166578" cy="21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Official train set  =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1600 images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Split into (85/15)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→ For Training (85%) = 1360</a:t>
            </a:r>
          </a:p>
          <a:p>
            <a:pPr marL="180000">
              <a:lnSpc>
                <a:spcPct val="150000"/>
              </a:lnSpc>
              <a:spcAft>
                <a:spcPts val="600"/>
              </a:spcAft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                              → For Validation (15%) = 240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  during Evaluation only :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official Validation set used as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 set = 406 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406 images Split  like : 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 = 100  | Fog = 100  | Snow = 100  | Night = 106 )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10B3C4-0CB4-93E6-67F0-5E48810A8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613025"/>
              </p:ext>
            </p:extLst>
          </p:nvPr>
        </p:nvGraphicFramePr>
        <p:xfrm>
          <a:off x="557831" y="4229100"/>
          <a:ext cx="10921627" cy="1980000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820272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589090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1439589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1432134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1961077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1679465">
                  <a:extLst>
                    <a:ext uri="{9D8B030D-6E8A-4147-A177-3AD203B41FA5}">
                      <a16:colId xmlns:a16="http://schemas.microsoft.com/office/drawing/2014/main" val="449742887"/>
                    </a:ext>
                  </a:extLst>
                </a:gridCol>
              </a:tblGrid>
              <a:tr h="8635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Dataset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Weather Conditions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Classes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 Split (85%)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Validation Split (15%)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Test split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5824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CLEAR, DAY TIME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2529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446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58248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FOG, RAIN, SNOW, NIGHT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1360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240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406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591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B5EAC3-1BCC-0C07-805C-EBFD787EC205}"/>
              </a:ext>
            </a:extLst>
          </p:cNvPr>
          <p:cNvCxnSpPr>
            <a:cxnSpLocks/>
          </p:cNvCxnSpPr>
          <p:nvPr/>
        </p:nvCxnSpPr>
        <p:spPr>
          <a:xfrm>
            <a:off x="8141473" y="4612791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FC7DD4B-0324-1883-DA15-EE969CFE9D59}"/>
              </a:ext>
            </a:extLst>
          </p:cNvPr>
          <p:cNvCxnSpPr>
            <a:cxnSpLocks/>
          </p:cNvCxnSpPr>
          <p:nvPr/>
        </p:nvCxnSpPr>
        <p:spPr>
          <a:xfrm>
            <a:off x="3101505" y="4631454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B8D70C4-48CF-6541-8447-444B428CEDCF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>
            <a:off x="3094982" y="2803124"/>
            <a:ext cx="371519" cy="334619"/>
          </a:xfrm>
          <a:prstGeom prst="bentConnector3">
            <a:avLst>
              <a:gd name="adj1" fmla="val 26926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1A4B099-CA8B-F9DD-44E0-7F2D6C364C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90034" y="2767600"/>
            <a:ext cx="510950" cy="241290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97328DA-5DE7-BC93-D7DC-04D5F7EA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Proposed Method – Training Strategy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1667D0-4E60-EED1-D5C9-C83181C20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7380000" cy="342054"/>
          </a:xfrm>
        </p:spPr>
        <p:txBody>
          <a:bodyPr>
            <a:normAutofit/>
          </a:bodyPr>
          <a:lstStyle/>
          <a:p>
            <a:r>
              <a:rPr lang="en-US" sz="1400" dirty="0"/>
              <a:t>How We Teach Mask2Former : Alternate-Batch Training with Encoder Freezing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96B2-ABEB-E16E-996F-6F7659939E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7575" y="6627813"/>
            <a:ext cx="255588" cy="207962"/>
          </a:xfrm>
        </p:spPr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2019A-71E6-A402-617A-300A7E497CEB}"/>
              </a:ext>
            </a:extLst>
          </p:cNvPr>
          <p:cNvSpPr txBox="1"/>
          <p:nvPr/>
        </p:nvSpPr>
        <p:spPr>
          <a:xfrm>
            <a:off x="973229" y="1298506"/>
            <a:ext cx="9540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0A3AA3-5F78-BD51-6E4E-B98CC3945DD5}"/>
              </a:ext>
            </a:extLst>
          </p:cNvPr>
          <p:cNvSpPr txBox="1"/>
          <p:nvPr/>
        </p:nvSpPr>
        <p:spPr>
          <a:xfrm>
            <a:off x="973229" y="1665263"/>
            <a:ext cx="9540000" cy="11085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216000" bIns="288000">
            <a:spAutoFit/>
          </a:bodyPr>
          <a:lstStyle/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datasets trained batch-wise in alternation: Cityscapes (clear) and ACDC (adverse)</a:t>
            </a:r>
          </a:p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batch size = 1 → Cityscapes image → ACDC image→ Cityscapes image → ACDC image→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12157-695F-1377-B7F5-FE8166FD404F}"/>
              </a:ext>
            </a:extLst>
          </p:cNvPr>
          <p:cNvSpPr txBox="1"/>
          <p:nvPr/>
        </p:nvSpPr>
        <p:spPr>
          <a:xfrm>
            <a:off x="968426" y="3530462"/>
            <a:ext cx="4290009" cy="11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Backbone Freezing but rest of model trains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Prevents overfitting to clear-weather dataset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Preserves pretrained backbone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46B9A3-9AEE-1974-A125-0520F0B231CF}"/>
              </a:ext>
            </a:extLst>
          </p:cNvPr>
          <p:cNvSpPr txBox="1"/>
          <p:nvPr/>
        </p:nvSpPr>
        <p:spPr>
          <a:xfrm>
            <a:off x="6255768" y="3134494"/>
            <a:ext cx="4257461" cy="379591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batches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9ACE1E-B150-DB4F-56E7-2CB2B6980F66}"/>
              </a:ext>
            </a:extLst>
          </p:cNvPr>
          <p:cNvSpPr txBox="1"/>
          <p:nvPr/>
        </p:nvSpPr>
        <p:spPr>
          <a:xfrm>
            <a:off x="6255768" y="3522124"/>
            <a:ext cx="4257460" cy="1109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Full Model Trains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Enables adaptation to adverse conditions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Encourages feature extraction on ACDC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EF93F0-B63F-16B2-1859-919158CE0868}"/>
              </a:ext>
            </a:extLst>
          </p:cNvPr>
          <p:cNvSpPr txBox="1"/>
          <p:nvPr/>
        </p:nvSpPr>
        <p:spPr>
          <a:xfrm>
            <a:off x="973228" y="5029980"/>
            <a:ext cx="9576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1DA47D-8F2B-7537-3C84-E69B600A74BA}"/>
              </a:ext>
            </a:extLst>
          </p:cNvPr>
          <p:cNvSpPr txBox="1"/>
          <p:nvPr/>
        </p:nvSpPr>
        <p:spPr>
          <a:xfrm>
            <a:off x="973228" y="5396737"/>
            <a:ext cx="9576000" cy="1032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80000" bIns="324000">
            <a:spAutoFit/>
          </a:bodyPr>
          <a:lstStyle/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Maintains Cityscapes performance</a:t>
            </a:r>
          </a:p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Significantly Improves on  ACDC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0D09E-A3C2-92D5-400C-3289988AD97C}"/>
              </a:ext>
            </a:extLst>
          </p:cNvPr>
          <p:cNvSpPr txBox="1"/>
          <p:nvPr/>
        </p:nvSpPr>
        <p:spPr>
          <a:xfrm>
            <a:off x="968426" y="3156193"/>
            <a:ext cx="4290009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batches</a:t>
            </a:r>
          </a:p>
        </p:txBody>
      </p:sp>
    </p:spTree>
    <p:extLst>
      <p:ext uri="{BB962C8B-B14F-4D97-AF65-F5344CB8AC3E}">
        <p14:creationId xmlns:p14="http://schemas.microsoft.com/office/powerpoint/2010/main" val="557343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05DD-26B8-394D-3B91-C532AA50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E543612D-30C9-1E24-AFDB-A9A10991A36D}"/>
              </a:ext>
            </a:extLst>
          </p:cNvPr>
          <p:cNvSpPr txBox="1"/>
          <p:nvPr/>
        </p:nvSpPr>
        <p:spPr>
          <a:xfrm>
            <a:off x="7867647" y="85725"/>
            <a:ext cx="4320000" cy="31320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AB83315-2896-3EB9-DF3D-CCA9FAD335F1}"/>
              </a:ext>
            </a:extLst>
          </p:cNvPr>
          <p:cNvCxnSpPr>
            <a:cxnSpLocks/>
          </p:cNvCxnSpPr>
          <p:nvPr/>
        </p:nvCxnSpPr>
        <p:spPr>
          <a:xfrm>
            <a:off x="5798323" y="4612791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594246-4DF1-16A9-BB84-63CABC3A3CCC}"/>
              </a:ext>
            </a:extLst>
          </p:cNvPr>
          <p:cNvCxnSpPr>
            <a:cxnSpLocks/>
          </p:cNvCxnSpPr>
          <p:nvPr/>
        </p:nvCxnSpPr>
        <p:spPr>
          <a:xfrm>
            <a:off x="2272830" y="4631454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C22EBD6-D392-753E-BAF1-A77DC8DE09DD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 flipV="1">
            <a:off x="2208552" y="2737060"/>
            <a:ext cx="1860367" cy="782566"/>
          </a:xfrm>
          <a:prstGeom prst="bentConnector4">
            <a:avLst>
              <a:gd name="adj1" fmla="val 2590"/>
              <a:gd name="adj2" fmla="val 22103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678AA269-4CA5-8596-B5D9-CFFB2C356C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81559" y="2824412"/>
            <a:ext cx="1837543" cy="1662836"/>
          </a:xfrm>
          <a:prstGeom prst="bentConnector3">
            <a:avLst>
              <a:gd name="adj1" fmla="val 10087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DCCF5D36-839D-40CF-8D27-21058FC5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Proposed Method – Training Strategy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4DBE6D-8EA2-1D88-389F-18B942911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7380000" cy="342054"/>
          </a:xfrm>
        </p:spPr>
        <p:txBody>
          <a:bodyPr>
            <a:normAutofit/>
          </a:bodyPr>
          <a:lstStyle/>
          <a:p>
            <a:r>
              <a:rPr lang="en-US" sz="1400" dirty="0"/>
              <a:t>Encoder Freezing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F9909-86A6-B3E3-9B31-111C69692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25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305B98-3DEE-B294-6685-D71A4A421954}"/>
              </a:ext>
            </a:extLst>
          </p:cNvPr>
          <p:cNvSpPr txBox="1"/>
          <p:nvPr/>
        </p:nvSpPr>
        <p:spPr>
          <a:xfrm>
            <a:off x="449354" y="1298506"/>
            <a:ext cx="7380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3D5EE-2B16-AB38-FE45-D0FE3599455A}"/>
              </a:ext>
            </a:extLst>
          </p:cNvPr>
          <p:cNvSpPr txBox="1"/>
          <p:nvPr/>
        </p:nvSpPr>
        <p:spPr>
          <a:xfrm>
            <a:off x="449354" y="1665263"/>
            <a:ext cx="7380000" cy="11085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216000" bIns="288000">
            <a:spAutoFit/>
          </a:bodyPr>
          <a:lstStyle/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datasets trained batch-wise in alternation: Cityscapes (clear) and ACDC (adverse)</a:t>
            </a:r>
          </a:p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batch size = 1 → Cityscapes image → ACDC image→ Cityscapes image → ACDC image→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C58675-E3F0-3A3D-A220-F3EBAF31F7F7}"/>
              </a:ext>
            </a:extLst>
          </p:cNvPr>
          <p:cNvSpPr txBox="1"/>
          <p:nvPr/>
        </p:nvSpPr>
        <p:spPr>
          <a:xfrm>
            <a:off x="444551" y="3530462"/>
            <a:ext cx="3528000" cy="11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Backbone Freezing but rest of model trains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Prevents overfitting to clear-weather dataset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Preserves pretrained backbone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1696B0-23E0-0B17-2264-00EF38E2AC13}"/>
              </a:ext>
            </a:extLst>
          </p:cNvPr>
          <p:cNvSpPr txBox="1"/>
          <p:nvPr/>
        </p:nvSpPr>
        <p:spPr>
          <a:xfrm>
            <a:off x="4136774" y="3134494"/>
            <a:ext cx="3725793" cy="379591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batches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67581-B208-F6E8-C1E8-FD87D096368F}"/>
              </a:ext>
            </a:extLst>
          </p:cNvPr>
          <p:cNvSpPr txBox="1"/>
          <p:nvPr/>
        </p:nvSpPr>
        <p:spPr>
          <a:xfrm>
            <a:off x="4136774" y="3522124"/>
            <a:ext cx="3725793" cy="1109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Full Model Trains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Enables adaptation to adverse conditions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Encourages feature extraction on ACDC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43D51-7D5C-CD20-842D-558404244AF3}"/>
              </a:ext>
            </a:extLst>
          </p:cNvPr>
          <p:cNvSpPr txBox="1"/>
          <p:nvPr/>
        </p:nvSpPr>
        <p:spPr>
          <a:xfrm>
            <a:off x="449353" y="5029980"/>
            <a:ext cx="7416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1EA02-3DE8-885D-28D4-BAC396BD850A}"/>
              </a:ext>
            </a:extLst>
          </p:cNvPr>
          <p:cNvSpPr txBox="1"/>
          <p:nvPr/>
        </p:nvSpPr>
        <p:spPr>
          <a:xfrm>
            <a:off x="449353" y="5396737"/>
            <a:ext cx="7416000" cy="1032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80000" bIns="324000">
            <a:spAutoFit/>
          </a:bodyPr>
          <a:lstStyle/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Maintains Cityscapes performance</a:t>
            </a:r>
          </a:p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Significantly Improves on  ACDC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A4037-86A9-40AE-10C9-A8B682272C03}"/>
              </a:ext>
            </a:extLst>
          </p:cNvPr>
          <p:cNvSpPr txBox="1"/>
          <p:nvPr/>
        </p:nvSpPr>
        <p:spPr>
          <a:xfrm>
            <a:off x="444551" y="3156193"/>
            <a:ext cx="3528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batches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A8BD33-406D-63F6-6C0D-95A5C77DD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9688374" y="1969641"/>
            <a:ext cx="550363" cy="45698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DF0FA-E18A-A46E-4BD1-ABF0EEAC84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9131833" y="763588"/>
            <a:ext cx="2294212" cy="381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076222-8A9A-8BDE-23EE-9401FFAD9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966" y="2638707"/>
            <a:ext cx="2294212" cy="38164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95E602-E756-A7CF-A0F2-9D3DA6F4053B}"/>
              </a:ext>
            </a:extLst>
          </p:cNvPr>
          <p:cNvCxnSpPr>
            <a:cxnSpLocks/>
          </p:cNvCxnSpPr>
          <p:nvPr/>
        </p:nvCxnSpPr>
        <p:spPr>
          <a:xfrm>
            <a:off x="9327806" y="2211759"/>
            <a:ext cx="334552" cy="0"/>
          </a:xfrm>
          <a:prstGeom prst="straightConnector1">
            <a:avLst/>
          </a:prstGeom>
          <a:ln>
            <a:solidFill>
              <a:srgbClr val="FFFF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4F50489-10E2-E555-F8AC-CE8EBB0B4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9722838" y="1143393"/>
            <a:ext cx="1737672" cy="618134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D72EA43-35BE-4918-0EB9-0FD808C82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10274113" y="1761527"/>
            <a:ext cx="1186396" cy="866236"/>
          </a:xfrm>
          <a:prstGeom prst="rect">
            <a:avLst/>
          </a:prstGeom>
          <a:noFill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35C9A9B-1023-6786-E1C4-437C37C8B7B2}"/>
              </a:ext>
            </a:extLst>
          </p:cNvPr>
          <p:cNvSpPr txBox="1"/>
          <p:nvPr/>
        </p:nvSpPr>
        <p:spPr>
          <a:xfrm>
            <a:off x="8083150" y="1872223"/>
            <a:ext cx="1304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Frozen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Not involve in Training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D4764A-8AA7-B745-0512-C5FD24E5B4D7}"/>
              </a:ext>
            </a:extLst>
          </p:cNvPr>
          <p:cNvSpPr/>
          <p:nvPr/>
        </p:nvSpPr>
        <p:spPr>
          <a:xfrm>
            <a:off x="9722839" y="1959481"/>
            <a:ext cx="495528" cy="447376"/>
          </a:xfrm>
          <a:prstGeom prst="rect">
            <a:avLst/>
          </a:prstGeom>
          <a:noFill/>
          <a:ln w="28575">
            <a:solidFill>
              <a:srgbClr val="FF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F00"/>
                </a:solidFill>
              </a:ln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5A052A-2AC3-C03F-CB8C-13981D9F098A}"/>
              </a:ext>
            </a:extLst>
          </p:cNvPr>
          <p:cNvSpPr txBox="1"/>
          <p:nvPr/>
        </p:nvSpPr>
        <p:spPr>
          <a:xfrm>
            <a:off x="8191401" y="1536626"/>
            <a:ext cx="104868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/>
                </a:solidFill>
              </a:rPr>
              <a:t>During CS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FBC167-9898-F4A6-0F74-4B1A98DEC17B}"/>
              </a:ext>
            </a:extLst>
          </p:cNvPr>
          <p:cNvSpPr txBox="1"/>
          <p:nvPr/>
        </p:nvSpPr>
        <p:spPr>
          <a:xfrm>
            <a:off x="7692530" y="153681"/>
            <a:ext cx="4478934" cy="5232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During CS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Except Backbone Whole Model Train</a:t>
            </a:r>
          </a:p>
        </p:txBody>
      </p:sp>
    </p:spTree>
    <p:extLst>
      <p:ext uri="{BB962C8B-B14F-4D97-AF65-F5344CB8AC3E}">
        <p14:creationId xmlns:p14="http://schemas.microsoft.com/office/powerpoint/2010/main" val="9471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5197-1828-B50B-072A-5FD9D3E4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BABED185-9A7F-3DA7-C98E-24ABE507E55A}"/>
              </a:ext>
            </a:extLst>
          </p:cNvPr>
          <p:cNvSpPr txBox="1"/>
          <p:nvPr/>
        </p:nvSpPr>
        <p:spPr>
          <a:xfrm>
            <a:off x="7867647" y="85725"/>
            <a:ext cx="4320000" cy="31320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CAC16F-7619-F07A-5976-EB8A89CD1CD1}"/>
              </a:ext>
            </a:extLst>
          </p:cNvPr>
          <p:cNvCxnSpPr>
            <a:cxnSpLocks/>
          </p:cNvCxnSpPr>
          <p:nvPr/>
        </p:nvCxnSpPr>
        <p:spPr>
          <a:xfrm>
            <a:off x="5798323" y="4612791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818F6C-12F4-E8D8-F642-B3AA0A468F3A}"/>
              </a:ext>
            </a:extLst>
          </p:cNvPr>
          <p:cNvCxnSpPr>
            <a:cxnSpLocks/>
          </p:cNvCxnSpPr>
          <p:nvPr/>
        </p:nvCxnSpPr>
        <p:spPr>
          <a:xfrm>
            <a:off x="2272830" y="4631454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97B62ED-A3E4-E89B-42F0-C25A109A686B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 flipV="1">
            <a:off x="2208552" y="2737060"/>
            <a:ext cx="1860367" cy="782566"/>
          </a:xfrm>
          <a:prstGeom prst="bentConnector4">
            <a:avLst>
              <a:gd name="adj1" fmla="val 2590"/>
              <a:gd name="adj2" fmla="val 22103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320C317-72F9-A933-1DDB-B78EC1D610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81559" y="2824412"/>
            <a:ext cx="1837543" cy="1662836"/>
          </a:xfrm>
          <a:prstGeom prst="bentConnector3">
            <a:avLst>
              <a:gd name="adj1" fmla="val 10087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D675E8CF-1BC8-CA13-652F-E8295938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Proposed Method – Training Strategy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5890F32-A672-0945-BB0A-1D7A36FB2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7380000" cy="342054"/>
          </a:xfrm>
        </p:spPr>
        <p:txBody>
          <a:bodyPr>
            <a:normAutofit/>
          </a:bodyPr>
          <a:lstStyle/>
          <a:p>
            <a:r>
              <a:rPr lang="en-US" sz="1400" dirty="0"/>
              <a:t>Encoder Freezing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58309-8A05-56C6-06B8-5EFFA4BA0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26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056AB-E74C-B115-9C57-98ACEDB9A3EC}"/>
              </a:ext>
            </a:extLst>
          </p:cNvPr>
          <p:cNvSpPr txBox="1"/>
          <p:nvPr/>
        </p:nvSpPr>
        <p:spPr>
          <a:xfrm>
            <a:off x="449354" y="1298506"/>
            <a:ext cx="7380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9DCA-27EE-65A4-87AF-1C01FEA04D28}"/>
              </a:ext>
            </a:extLst>
          </p:cNvPr>
          <p:cNvSpPr txBox="1"/>
          <p:nvPr/>
        </p:nvSpPr>
        <p:spPr>
          <a:xfrm>
            <a:off x="449354" y="1665263"/>
            <a:ext cx="7380000" cy="11085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216000" bIns="288000">
            <a:spAutoFit/>
          </a:bodyPr>
          <a:lstStyle/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datasets trained batch-wise in alternation: Cityscapes (clear) and ACDC (adverse)</a:t>
            </a:r>
          </a:p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batch size = 1 → Cityscapes image → ACDC image→ Cityscapes image → ACDC image→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60B8B6-057E-3950-1FDD-91A49FE3C102}"/>
              </a:ext>
            </a:extLst>
          </p:cNvPr>
          <p:cNvSpPr txBox="1"/>
          <p:nvPr/>
        </p:nvSpPr>
        <p:spPr>
          <a:xfrm>
            <a:off x="444551" y="3530462"/>
            <a:ext cx="3528000" cy="11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Backbone Freezing but rest of model trains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Prevents overfitting to clear-weather dataset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Preserves pretrained backbone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9BE56E-7161-6B6F-4692-9A8E42CED44F}"/>
              </a:ext>
            </a:extLst>
          </p:cNvPr>
          <p:cNvSpPr txBox="1"/>
          <p:nvPr/>
        </p:nvSpPr>
        <p:spPr>
          <a:xfrm>
            <a:off x="4136774" y="3134494"/>
            <a:ext cx="3725793" cy="379591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batches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37C6A-90D7-F6E7-0DB9-1CF6783AA3F8}"/>
              </a:ext>
            </a:extLst>
          </p:cNvPr>
          <p:cNvSpPr txBox="1"/>
          <p:nvPr/>
        </p:nvSpPr>
        <p:spPr>
          <a:xfrm>
            <a:off x="4136774" y="3522124"/>
            <a:ext cx="3725793" cy="1109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Full Model Trains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Enables adaptation to adverse conditions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Encourages feature extraction on ACDC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8993EA-0E12-2000-4A17-DCFAF943D4C3}"/>
              </a:ext>
            </a:extLst>
          </p:cNvPr>
          <p:cNvSpPr txBox="1"/>
          <p:nvPr/>
        </p:nvSpPr>
        <p:spPr>
          <a:xfrm>
            <a:off x="449353" y="5029980"/>
            <a:ext cx="7416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CF0AA-D8E5-3509-37B1-EE5109EB4BE9}"/>
              </a:ext>
            </a:extLst>
          </p:cNvPr>
          <p:cNvSpPr txBox="1"/>
          <p:nvPr/>
        </p:nvSpPr>
        <p:spPr>
          <a:xfrm>
            <a:off x="449353" y="5396737"/>
            <a:ext cx="7416000" cy="1032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80000" bIns="324000">
            <a:spAutoFit/>
          </a:bodyPr>
          <a:lstStyle/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Maintains Cityscapes performance</a:t>
            </a:r>
          </a:p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Significantly Improves on  ACDC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6D2F6-1265-A744-1459-72FA7B65EE77}"/>
              </a:ext>
            </a:extLst>
          </p:cNvPr>
          <p:cNvSpPr txBox="1"/>
          <p:nvPr/>
        </p:nvSpPr>
        <p:spPr>
          <a:xfrm>
            <a:off x="444551" y="3156193"/>
            <a:ext cx="3528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batches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A50F9A-9C4E-11DF-A240-A51DD03EA017}"/>
              </a:ext>
            </a:extLst>
          </p:cNvPr>
          <p:cNvSpPr txBox="1"/>
          <p:nvPr/>
        </p:nvSpPr>
        <p:spPr>
          <a:xfrm>
            <a:off x="7773600" y="3723333"/>
            <a:ext cx="4320000" cy="31320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4C4B443-7FDE-FF7F-13BB-62F37A131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9594327" y="5607249"/>
            <a:ext cx="550363" cy="456985"/>
          </a:xfrm>
          <a:prstGeom prst="rect">
            <a:avLst/>
          </a:prstGeom>
          <a:noFill/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6C168C0-1B3D-C591-246F-919B0827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9037786" y="4401196"/>
            <a:ext cx="2294212" cy="38164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A5080540-96CA-4626-998A-CFED733A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919" y="6276315"/>
            <a:ext cx="2294212" cy="381641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7D63A6B-E506-DFE8-1696-0AEB4D4022BD}"/>
              </a:ext>
            </a:extLst>
          </p:cNvPr>
          <p:cNvCxnSpPr>
            <a:cxnSpLocks/>
          </p:cNvCxnSpPr>
          <p:nvPr/>
        </p:nvCxnSpPr>
        <p:spPr>
          <a:xfrm>
            <a:off x="9233759" y="5849367"/>
            <a:ext cx="334552" cy="0"/>
          </a:xfrm>
          <a:prstGeom prst="straightConnector1">
            <a:avLst/>
          </a:prstGeom>
          <a:ln>
            <a:solidFill>
              <a:srgbClr val="FFFF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EF77DDAF-BF13-3940-4D26-1AC2EDA08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9628791" y="4781001"/>
            <a:ext cx="1737672" cy="618134"/>
          </a:xfrm>
          <a:prstGeom prst="rect">
            <a:avLst/>
          </a:prstGeom>
          <a:noFill/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B072888D-6BA8-2759-1524-7932A87A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10180066" y="5399135"/>
            <a:ext cx="1186396" cy="866236"/>
          </a:xfrm>
          <a:prstGeom prst="rect">
            <a:avLst/>
          </a:prstGeom>
          <a:noFill/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60542A4-3F89-9C59-EC89-145F23D08243}"/>
              </a:ext>
            </a:extLst>
          </p:cNvPr>
          <p:cNvSpPr txBox="1"/>
          <p:nvPr/>
        </p:nvSpPr>
        <p:spPr>
          <a:xfrm>
            <a:off x="7989103" y="5509831"/>
            <a:ext cx="1304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Not Frozen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Involve in Training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6F62A8A-BE4E-BF76-DBC0-1F12DA26951F}"/>
              </a:ext>
            </a:extLst>
          </p:cNvPr>
          <p:cNvSpPr/>
          <p:nvPr/>
        </p:nvSpPr>
        <p:spPr>
          <a:xfrm>
            <a:off x="9628792" y="5597089"/>
            <a:ext cx="495528" cy="447376"/>
          </a:xfrm>
          <a:prstGeom prst="rect">
            <a:avLst/>
          </a:prstGeom>
          <a:noFill/>
          <a:ln w="28575">
            <a:solidFill>
              <a:srgbClr val="FF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F00"/>
                </a:solidFill>
              </a:ln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A13DB1-40F5-9C72-3DE0-E104D31A160D}"/>
              </a:ext>
            </a:extLst>
          </p:cNvPr>
          <p:cNvSpPr txBox="1"/>
          <p:nvPr/>
        </p:nvSpPr>
        <p:spPr>
          <a:xfrm>
            <a:off x="7960195" y="5174234"/>
            <a:ext cx="1355574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/>
                </a:solidFill>
              </a:rPr>
              <a:t>During ACDC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266B57-0BE0-73BB-2A50-299BEA70B116}"/>
              </a:ext>
            </a:extLst>
          </p:cNvPr>
          <p:cNvSpPr txBox="1"/>
          <p:nvPr/>
        </p:nvSpPr>
        <p:spPr>
          <a:xfrm>
            <a:off x="7738250" y="3780801"/>
            <a:ext cx="4433214" cy="5232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During ACDC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Whole Model Train</a:t>
            </a:r>
          </a:p>
        </p:txBody>
      </p:sp>
    </p:spTree>
    <p:extLst>
      <p:ext uri="{BB962C8B-B14F-4D97-AF65-F5344CB8AC3E}">
        <p14:creationId xmlns:p14="http://schemas.microsoft.com/office/powerpoint/2010/main" val="227810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562C57-EF11-975C-6729-E2D8290C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38B83C4F-7B8F-3D4E-BB54-365E08365260}"/>
              </a:ext>
            </a:extLst>
          </p:cNvPr>
          <p:cNvSpPr txBox="1"/>
          <p:nvPr/>
        </p:nvSpPr>
        <p:spPr>
          <a:xfrm>
            <a:off x="7867647" y="85725"/>
            <a:ext cx="4320000" cy="31320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35E989A-8CB0-F0D3-8185-4502DB14367C}"/>
              </a:ext>
            </a:extLst>
          </p:cNvPr>
          <p:cNvCxnSpPr>
            <a:cxnSpLocks/>
          </p:cNvCxnSpPr>
          <p:nvPr/>
        </p:nvCxnSpPr>
        <p:spPr>
          <a:xfrm>
            <a:off x="5798323" y="4612791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4A7280-5685-463A-1BA3-CA707E8153A4}"/>
              </a:ext>
            </a:extLst>
          </p:cNvPr>
          <p:cNvCxnSpPr>
            <a:cxnSpLocks/>
          </p:cNvCxnSpPr>
          <p:nvPr/>
        </p:nvCxnSpPr>
        <p:spPr>
          <a:xfrm>
            <a:off x="2272830" y="4631454"/>
            <a:ext cx="0" cy="320562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0033225-E6BD-9806-3916-1290A158BBD2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 flipV="1">
            <a:off x="2208552" y="2737060"/>
            <a:ext cx="1860367" cy="782566"/>
          </a:xfrm>
          <a:prstGeom prst="bentConnector4">
            <a:avLst>
              <a:gd name="adj1" fmla="val 2590"/>
              <a:gd name="adj2" fmla="val 22103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53DD1CC-46FA-99AB-F880-4AC2535ACA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81559" y="2824412"/>
            <a:ext cx="1837543" cy="1662836"/>
          </a:xfrm>
          <a:prstGeom prst="bentConnector3">
            <a:avLst>
              <a:gd name="adj1" fmla="val 10087"/>
            </a:avLst>
          </a:prstGeom>
          <a:ln w="19050">
            <a:solidFill>
              <a:schemeClr val="tx2">
                <a:lumMod val="65000"/>
                <a:lumOff val="3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3ECAD97D-77E6-08B3-0874-DAD8CEF8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Proposed Method – Training Strategy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AB05DD-A9AE-CCD7-4E0D-DCB192845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7380000" cy="342054"/>
          </a:xfrm>
        </p:spPr>
        <p:txBody>
          <a:bodyPr>
            <a:normAutofit/>
          </a:bodyPr>
          <a:lstStyle/>
          <a:p>
            <a:r>
              <a:rPr lang="en-US" sz="1400" dirty="0"/>
              <a:t>How We Teach Mask2Former : Alternate-Batch Training with Encoder Freezing</a:t>
            </a:r>
            <a:endParaRPr lang="en-IN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7795D-1D13-C7E9-BD97-E1D09FAC0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5DF636-10E3-C843-BAEB-4F17E52BCE01}" type="slidenum">
              <a:rPr lang="de-DE" smtClean="0"/>
              <a:t>27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D7C1E-FF45-B930-1922-B4B8D28B03CA}"/>
              </a:ext>
            </a:extLst>
          </p:cNvPr>
          <p:cNvSpPr txBox="1"/>
          <p:nvPr/>
        </p:nvSpPr>
        <p:spPr>
          <a:xfrm>
            <a:off x="449354" y="1298506"/>
            <a:ext cx="7380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91AB6-25D3-4CB0-EF4C-2290BD1621F8}"/>
              </a:ext>
            </a:extLst>
          </p:cNvPr>
          <p:cNvSpPr txBox="1"/>
          <p:nvPr/>
        </p:nvSpPr>
        <p:spPr>
          <a:xfrm>
            <a:off x="449354" y="1665263"/>
            <a:ext cx="7380000" cy="110857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216000" bIns="288000">
            <a:spAutoFit/>
          </a:bodyPr>
          <a:lstStyle/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datasets trained batch-wise in alternation: Cityscapes (clear) and ACDC (adverse)</a:t>
            </a:r>
          </a:p>
          <a:p>
            <a:pPr marL="351450" indent="-171450" algn="ctr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based on batch size = 1 → Cityscapes image → ACDC image→ Cityscapes image → ACDC image→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3EBAC7-00A9-B0E0-59A6-27D1C5DBC3D4}"/>
              </a:ext>
            </a:extLst>
          </p:cNvPr>
          <p:cNvSpPr txBox="1"/>
          <p:nvPr/>
        </p:nvSpPr>
        <p:spPr>
          <a:xfrm>
            <a:off x="444551" y="3530462"/>
            <a:ext cx="3528000" cy="115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Backbone Freezing but rest of model trains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Prevents overfitting to clear-weather dataset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Preserves pretrained backbone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89D39-9646-B51A-2535-C393AA39704F}"/>
              </a:ext>
            </a:extLst>
          </p:cNvPr>
          <p:cNvSpPr txBox="1"/>
          <p:nvPr/>
        </p:nvSpPr>
        <p:spPr>
          <a:xfrm>
            <a:off x="4136774" y="3134494"/>
            <a:ext cx="3725793" cy="379591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en-US" sz="1400" b="1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batches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4E9FD-911E-34B8-4A5E-3222E3249FAE}"/>
              </a:ext>
            </a:extLst>
          </p:cNvPr>
          <p:cNvSpPr txBox="1"/>
          <p:nvPr/>
        </p:nvSpPr>
        <p:spPr>
          <a:xfrm>
            <a:off x="4136774" y="3522124"/>
            <a:ext cx="3725793" cy="1109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08000">
            <a:spAutoFit/>
          </a:bodyPr>
          <a:lstStyle/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Full Model Trains 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Enables adaptation to adverse conditions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Encourages feature extraction on ACDC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378DCB-0DEE-0241-9B28-E2B5387ED04E}"/>
              </a:ext>
            </a:extLst>
          </p:cNvPr>
          <p:cNvSpPr txBox="1"/>
          <p:nvPr/>
        </p:nvSpPr>
        <p:spPr>
          <a:xfrm>
            <a:off x="449353" y="5029980"/>
            <a:ext cx="7416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2A7F4-762D-EFD7-1257-7706D6D86095}"/>
              </a:ext>
            </a:extLst>
          </p:cNvPr>
          <p:cNvSpPr txBox="1"/>
          <p:nvPr/>
        </p:nvSpPr>
        <p:spPr>
          <a:xfrm>
            <a:off x="449353" y="5396737"/>
            <a:ext cx="7416000" cy="10321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9000"/>
              </a:prstClr>
            </a:outerShdw>
          </a:effectLst>
        </p:spPr>
        <p:txBody>
          <a:bodyPr wrap="square" lIns="0" tIns="180000" bIns="324000">
            <a:spAutoFit/>
          </a:bodyPr>
          <a:lstStyle/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Maintains Cityscapes performance</a:t>
            </a:r>
          </a:p>
          <a:p>
            <a:pPr marL="171450" indent="-171450" algn="ctr">
              <a:lnSpc>
                <a:spcPct val="150000"/>
              </a:lnSpc>
              <a:buFont typeface="Roboto" panose="02000000000000000000" pitchFamily="2" charset="0"/>
              <a:buChar char="»"/>
            </a:pPr>
            <a:r>
              <a:rPr lang="en-US" alt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Significantly Improves on  ACDC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E7A2F-4C0D-A73B-C849-1C4BDDB3DBCF}"/>
              </a:ext>
            </a:extLst>
          </p:cNvPr>
          <p:cNvSpPr txBox="1"/>
          <p:nvPr/>
        </p:nvSpPr>
        <p:spPr>
          <a:xfrm>
            <a:off x="444551" y="3156193"/>
            <a:ext cx="3528000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Cityscapes batches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64BEE1-72D9-625F-4BDD-FA0C0D6C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9688374" y="1969641"/>
            <a:ext cx="550363" cy="45698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2C5A38-4D0A-CDD4-25C8-713C5B8598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9131833" y="763588"/>
            <a:ext cx="2294212" cy="381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81192D-EB37-9F4C-E4AB-B67C803BF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966" y="2638707"/>
            <a:ext cx="2294212" cy="38164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E2A0EC-6FF3-0322-E3FB-26DDF3EF16F0}"/>
              </a:ext>
            </a:extLst>
          </p:cNvPr>
          <p:cNvCxnSpPr>
            <a:cxnSpLocks/>
          </p:cNvCxnSpPr>
          <p:nvPr/>
        </p:nvCxnSpPr>
        <p:spPr>
          <a:xfrm>
            <a:off x="9327806" y="2211759"/>
            <a:ext cx="334552" cy="0"/>
          </a:xfrm>
          <a:prstGeom prst="straightConnector1">
            <a:avLst/>
          </a:prstGeom>
          <a:ln>
            <a:solidFill>
              <a:srgbClr val="FFFF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0E6C148-E234-F59C-3443-B205D02A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9722838" y="1143393"/>
            <a:ext cx="1737672" cy="618134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482F2F-C380-DF19-31EB-96EED454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10274113" y="1761527"/>
            <a:ext cx="1186396" cy="866236"/>
          </a:xfrm>
          <a:prstGeom prst="rect">
            <a:avLst/>
          </a:prstGeom>
          <a:noFill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D605A68-DD86-8DC8-F79C-B54B7209B00B}"/>
              </a:ext>
            </a:extLst>
          </p:cNvPr>
          <p:cNvSpPr txBox="1"/>
          <p:nvPr/>
        </p:nvSpPr>
        <p:spPr>
          <a:xfrm>
            <a:off x="8083150" y="1872223"/>
            <a:ext cx="1304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Frozen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Not involve in Training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92BD8-78F6-6D8A-3FA0-FF44B6CD6E53}"/>
              </a:ext>
            </a:extLst>
          </p:cNvPr>
          <p:cNvSpPr/>
          <p:nvPr/>
        </p:nvSpPr>
        <p:spPr>
          <a:xfrm>
            <a:off x="9722839" y="1959481"/>
            <a:ext cx="495528" cy="447376"/>
          </a:xfrm>
          <a:prstGeom prst="rect">
            <a:avLst/>
          </a:prstGeom>
          <a:noFill/>
          <a:ln w="28575">
            <a:solidFill>
              <a:srgbClr val="FF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F00"/>
                </a:solidFill>
              </a:ln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B34484-3B37-F5C4-F53A-E1F68C0AB981}"/>
              </a:ext>
            </a:extLst>
          </p:cNvPr>
          <p:cNvSpPr txBox="1"/>
          <p:nvPr/>
        </p:nvSpPr>
        <p:spPr>
          <a:xfrm>
            <a:off x="8191401" y="1536626"/>
            <a:ext cx="104868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/>
                </a:solidFill>
              </a:rPr>
              <a:t>During CS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3A9928-3BCA-8CE3-F1B9-3652FEF4B1B3}"/>
              </a:ext>
            </a:extLst>
          </p:cNvPr>
          <p:cNvSpPr txBox="1"/>
          <p:nvPr/>
        </p:nvSpPr>
        <p:spPr>
          <a:xfrm>
            <a:off x="7692530" y="153681"/>
            <a:ext cx="4478934" cy="5232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During CS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Except Backbone Whole Model Train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B230FA-C76D-E0BE-779C-F3D4A729CEC5}"/>
              </a:ext>
            </a:extLst>
          </p:cNvPr>
          <p:cNvSpPr txBox="1"/>
          <p:nvPr/>
        </p:nvSpPr>
        <p:spPr>
          <a:xfrm>
            <a:off x="7773600" y="3723333"/>
            <a:ext cx="4320000" cy="31320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FE4D6B00-519F-68C4-0EE8-AC3E943C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21" r="68328" b="12863"/>
          <a:stretch>
            <a:fillRect/>
          </a:stretch>
        </p:blipFill>
        <p:spPr>
          <a:xfrm>
            <a:off x="9594327" y="5607249"/>
            <a:ext cx="550363" cy="456985"/>
          </a:xfrm>
          <a:prstGeom prst="rect">
            <a:avLst/>
          </a:prstGeom>
          <a:noFill/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F74D17D-A137-685E-F44A-55D269E9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7"/>
          <a:stretch>
            <a:fillRect/>
          </a:stretch>
        </p:blipFill>
        <p:spPr>
          <a:xfrm>
            <a:off x="9037786" y="4401196"/>
            <a:ext cx="2294212" cy="38164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C4C0367-3560-1939-DD36-112803FBE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919" y="6276315"/>
            <a:ext cx="2294212" cy="381641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D7B8226-9389-1863-50CB-658EFE33C352}"/>
              </a:ext>
            </a:extLst>
          </p:cNvPr>
          <p:cNvCxnSpPr>
            <a:cxnSpLocks/>
          </p:cNvCxnSpPr>
          <p:nvPr/>
        </p:nvCxnSpPr>
        <p:spPr>
          <a:xfrm>
            <a:off x="9233759" y="5849367"/>
            <a:ext cx="334552" cy="0"/>
          </a:xfrm>
          <a:prstGeom prst="straightConnector1">
            <a:avLst/>
          </a:prstGeom>
          <a:ln>
            <a:solidFill>
              <a:srgbClr val="FFFF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D194792A-D00D-86EA-27E2-FC7DD30D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b="52649"/>
          <a:stretch>
            <a:fillRect/>
          </a:stretch>
        </p:blipFill>
        <p:spPr>
          <a:xfrm>
            <a:off x="9628791" y="4781001"/>
            <a:ext cx="1737672" cy="618134"/>
          </a:xfrm>
          <a:prstGeom prst="rect">
            <a:avLst/>
          </a:prstGeom>
          <a:noFill/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2D60C58-2774-FA1C-5660-2299CFEE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25" t="47464" r="-1"/>
          <a:stretch>
            <a:fillRect/>
          </a:stretch>
        </p:blipFill>
        <p:spPr>
          <a:xfrm>
            <a:off x="10180066" y="5399135"/>
            <a:ext cx="1186396" cy="866236"/>
          </a:xfrm>
          <a:prstGeom prst="rect">
            <a:avLst/>
          </a:prstGeom>
          <a:noFill/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44CBD40-29DD-FAF8-6990-7E14E30A1E4A}"/>
              </a:ext>
            </a:extLst>
          </p:cNvPr>
          <p:cNvSpPr txBox="1"/>
          <p:nvPr/>
        </p:nvSpPr>
        <p:spPr>
          <a:xfrm>
            <a:off x="7989103" y="5509831"/>
            <a:ext cx="1304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Not Frozen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Involve in Training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CEC2EA2-124A-3E39-AB85-3EC98B5BDAA1}"/>
              </a:ext>
            </a:extLst>
          </p:cNvPr>
          <p:cNvSpPr/>
          <p:nvPr/>
        </p:nvSpPr>
        <p:spPr>
          <a:xfrm>
            <a:off x="9628792" y="5597089"/>
            <a:ext cx="495528" cy="447376"/>
          </a:xfrm>
          <a:prstGeom prst="rect">
            <a:avLst/>
          </a:prstGeom>
          <a:noFill/>
          <a:ln w="28575">
            <a:solidFill>
              <a:srgbClr val="FF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F00"/>
                </a:solidFill>
              </a:ln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CAAD4DE-AD3C-721F-1862-23FDE33EEBC9}"/>
              </a:ext>
            </a:extLst>
          </p:cNvPr>
          <p:cNvSpPr txBox="1"/>
          <p:nvPr/>
        </p:nvSpPr>
        <p:spPr>
          <a:xfrm>
            <a:off x="7960195" y="5174234"/>
            <a:ext cx="1355574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/>
                </a:solidFill>
              </a:rPr>
              <a:t>During ACDC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F33FD9-D8B9-2399-B04D-910853E01A3A}"/>
              </a:ext>
            </a:extLst>
          </p:cNvPr>
          <p:cNvSpPr txBox="1"/>
          <p:nvPr/>
        </p:nvSpPr>
        <p:spPr>
          <a:xfrm>
            <a:off x="7738250" y="3780801"/>
            <a:ext cx="4433214" cy="52322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FF0000"/>
                </a:solidFill>
                <a:highlight>
                  <a:srgbClr val="FFFF66"/>
                </a:highlight>
              </a:rPr>
              <a:t>During ACDC</a:t>
            </a:r>
          </a:p>
          <a:p>
            <a:pPr algn="ctr"/>
            <a:r>
              <a:rPr lang="en-IN" sz="1400" dirty="0">
                <a:highlight>
                  <a:srgbClr val="FFFF66"/>
                </a:highlight>
              </a:rPr>
              <a:t>Whole Model Train</a:t>
            </a:r>
          </a:p>
        </p:txBody>
      </p:sp>
    </p:spTree>
    <p:extLst>
      <p:ext uri="{BB962C8B-B14F-4D97-AF65-F5344CB8AC3E}">
        <p14:creationId xmlns:p14="http://schemas.microsoft.com/office/powerpoint/2010/main" val="313369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 fontScale="90000"/>
          </a:bodyPr>
          <a:lstStyle/>
          <a:p>
            <a:r>
              <a:rPr lang="en-US" b="1"/>
              <a:t>Multi-Task Learning: Weather- and Time-Aware Supervision (WAS / TAS)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How WAS and TAS functions during training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372943" y="6650038"/>
            <a:ext cx="255588" cy="20796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4E9E765-94CE-0941-BE99-F43834E80C33}" type="slidenum">
              <a:rPr lang="de-DE" smtClean="0"/>
              <a:t>28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466F3-98A0-B55D-E9F3-CAC5FD76646C}"/>
              </a:ext>
            </a:extLst>
          </p:cNvPr>
          <p:cNvSpPr txBox="1"/>
          <p:nvPr/>
        </p:nvSpPr>
        <p:spPr>
          <a:xfrm>
            <a:off x="531542" y="1488162"/>
            <a:ext cx="4746514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Functioning of WAS, TAS during Training: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09AA6-4E11-3754-CFB6-4C3803E32AE3}"/>
              </a:ext>
            </a:extLst>
          </p:cNvPr>
          <p:cNvSpPr txBox="1"/>
          <p:nvPr/>
        </p:nvSpPr>
        <p:spPr>
          <a:xfrm>
            <a:off x="317262" y="1878505"/>
            <a:ext cx="5072554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1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Weather-Aware Supervisor  predicts weather condition like :</a:t>
            </a:r>
          </a:p>
          <a:p>
            <a:pPr marL="180000">
              <a:spcAft>
                <a:spcPts val="600"/>
              </a:spcAft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         --  Output 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(Rain / Fog / Snow / Clear)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TAS 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Time-Aware Supervisor predicts is it </a:t>
            </a:r>
            <a:b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      --  Output 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(Day / Night)</a:t>
            </a:r>
          </a:p>
          <a:p>
            <a:pPr marL="351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Active only during training; removed during Evaluation.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D61C7-55F1-A885-1838-353E9E499AE4}"/>
              </a:ext>
            </a:extLst>
          </p:cNvPr>
          <p:cNvSpPr txBox="1"/>
          <p:nvPr/>
        </p:nvSpPr>
        <p:spPr>
          <a:xfrm>
            <a:off x="531542" y="3439394"/>
            <a:ext cx="4746514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During Training (Forward + Loss Computation)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1EA8D-0BF6-BFA4-4B42-3222077C91DE}"/>
              </a:ext>
            </a:extLst>
          </p:cNvPr>
          <p:cNvSpPr txBox="1"/>
          <p:nvPr/>
        </p:nvSpPr>
        <p:spPr>
          <a:xfrm>
            <a:off x="317262" y="3793161"/>
            <a:ext cx="5072554" cy="93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1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outputs feature maps → passed to:</a:t>
            </a:r>
          </a:p>
          <a:p>
            <a:pPr marL="372600" indent="-144000">
              <a:lnSpc>
                <a:spcPct val="14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Decoder (for segmentation)</a:t>
            </a:r>
          </a:p>
          <a:p>
            <a:pPr marL="372600" indent="-144000">
              <a:lnSpc>
                <a:spcPct val="14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b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 and TAS (for auxiliary classification)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41A198-60DE-0824-338B-9CA65D138D99}"/>
              </a:ext>
            </a:extLst>
          </p:cNvPr>
          <p:cNvSpPr txBox="1"/>
          <p:nvPr/>
        </p:nvSpPr>
        <p:spPr>
          <a:xfrm>
            <a:off x="531542" y="4937500"/>
            <a:ext cx="4746514" cy="363433"/>
          </a:xfrm>
          <a:prstGeom prst="rect">
            <a:avLst/>
          </a:prstGeom>
          <a:solidFill>
            <a:srgbClr val="EDF7FF"/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>
                <a:latin typeface="Roboto" panose="02000000000000000000" pitchFamily="2" charset="0"/>
                <a:ea typeface="Roboto" panose="02000000000000000000" pitchFamily="2" charset="0"/>
              </a:rPr>
              <a:t>Backpropagation &amp; Learning Dynamic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35957C-4822-09E9-6D74-2E19DF430210}"/>
              </a:ext>
            </a:extLst>
          </p:cNvPr>
          <p:cNvSpPr txBox="1"/>
          <p:nvPr/>
        </p:nvSpPr>
        <p:spPr>
          <a:xfrm>
            <a:off x="317262" y="5291267"/>
            <a:ext cx="5072554" cy="12471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5179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sz="11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Type: Cross-Entropy Loss (CE Loss)</a:t>
            </a:r>
            <a:endParaRPr lang="en-US" altLang="en-US" sz="11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5179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3 Losses are back propagated separately </a:t>
            </a:r>
            <a:endParaRPr lang="en-US" b="1" dirty="0">
              <a:solidFill>
                <a:schemeClr val="tx2">
                  <a:lumMod val="95000"/>
                  <a:lumOff val="5000"/>
                </a:schemeClr>
              </a:solidFill>
              <a:latin typeface="Roboto"/>
              <a:ea typeface="Roboto"/>
              <a:cs typeface="Roboto"/>
            </a:endParaRPr>
          </a:p>
          <a:p>
            <a:pPr marL="35179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</a:rPr>
              <a:t>Encourage encoder to learn weather/time-sensitive robust features.</a:t>
            </a:r>
          </a:p>
          <a:p>
            <a:pPr marL="180340">
              <a:lnSpc>
                <a:spcPct val="140000"/>
              </a:lnSpc>
              <a:spcAft>
                <a:spcPts val="600"/>
              </a:spcAft>
            </a:pPr>
            <a:endParaRPr lang="en-US" altLang="en-US" sz="1100" b="1" dirty="0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2F59FA-59EB-B486-323D-BDFB7B572EE1}"/>
              </a:ext>
            </a:extLst>
          </p:cNvPr>
          <p:cNvGrpSpPr/>
          <p:nvPr/>
        </p:nvGrpSpPr>
        <p:grpSpPr>
          <a:xfrm>
            <a:off x="5492336" y="2052964"/>
            <a:ext cx="6397066" cy="3607358"/>
            <a:chOff x="5492336" y="1845363"/>
            <a:chExt cx="6397066" cy="36073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8CBFB1F-2D7E-28BA-2E0A-3D5AE7FF26A8}"/>
                    </a:ext>
                  </a:extLst>
                </p:cNvPr>
                <p:cNvSpPr txBox="1"/>
                <p:nvPr/>
              </p:nvSpPr>
              <p:spPr>
                <a:xfrm>
                  <a:off x="5735042" y="2244200"/>
                  <a:ext cx="4010688" cy="325282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30000"/>
                  </a:schemeClr>
                </a:solidFill>
                <a:ln w="19050">
                  <a:solidFill>
                    <a:schemeClr val="tx1">
                      <a:lumMod val="75000"/>
                    </a:schemeClr>
                  </a:solidFill>
                  <a:prstDash val="sysDash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/>
                    <a:t>Equation :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4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𝑠𝑒𝑔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ar-AE" sz="1400" i="1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  <m:t>𝑊𝐴𝑆</m:t>
                          </m:r>
                        </m:sub>
                      </m:sSub>
                      <m:r>
                        <a:rPr lang="ar-AE" sz="1400">
                          <a:solidFill>
                            <a:srgbClr val="76B53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ar-AE" sz="1400" i="1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76B531"/>
                              </a:solidFill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</m:oMath>
                  </a14:m>
                  <a:endParaRPr lang="en-IN" sz="140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8CBFB1F-2D7E-28BA-2E0A-3D5AE7FF2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042" y="2244200"/>
                  <a:ext cx="4010688" cy="325282"/>
                </a:xfrm>
                <a:prstGeom prst="rect">
                  <a:avLst/>
                </a:prstGeom>
                <a:blipFill>
                  <a:blip r:embed="rId3"/>
                  <a:stretch>
                    <a:fillRect t="-1754" b="-8772"/>
                  </a:stretch>
                </a:blipFill>
                <a:ln w="19050">
                  <a:solidFill>
                    <a:schemeClr val="tx1">
                      <a:lumMod val="75000"/>
                    </a:schemeClr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A9B6D4C-2DB1-B0C6-4AD4-6CCB93A36B4A}"/>
                    </a:ext>
                  </a:extLst>
                </p:cNvPr>
                <p:cNvSpPr txBox="1"/>
                <p:nvPr/>
              </p:nvSpPr>
              <p:spPr>
                <a:xfrm>
                  <a:off x="6001742" y="2960421"/>
                  <a:ext cx="5688013" cy="540725"/>
                </a:xfrm>
                <a:prstGeom prst="rect">
                  <a:avLst/>
                </a:prstGeom>
                <a:solidFill>
                  <a:srgbClr val="EDF7FF"/>
                </a:solid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𝑠𝑒𝑔</m:t>
                          </m:r>
                        </m:sub>
                      </m:sSub>
                      <m:r>
                        <a:rPr lang="ar-AE" sz="1400" i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→ Segmentation loss </a:t>
                  </a:r>
                </a:p>
                <a:p>
                  <a:r>
                    <a:rPr lang="en-US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             backpropagates through the </a:t>
                  </a:r>
                  <a:r>
                    <a:rPr lang="en-US" sz="1400" b="1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entire network except WAS/TAS</a:t>
                  </a:r>
                  <a:r>
                    <a:rPr lang="en-US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.</a:t>
                  </a:r>
                  <a:endParaRPr lang="en-IN" sz="1400">
                    <a:solidFill>
                      <a:schemeClr val="tx2">
                        <a:lumMod val="85000"/>
                        <a:lumOff val="1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A9B6D4C-2DB1-B0C6-4AD4-6CCB93A36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1742" y="2960421"/>
                  <a:ext cx="5688013" cy="540725"/>
                </a:xfrm>
                <a:prstGeom prst="rect">
                  <a:avLst/>
                </a:prstGeom>
                <a:blipFill>
                  <a:blip r:embed="rId4"/>
                  <a:stretch>
                    <a:fillRect l="-321" t="-2247" b="-49438"/>
                  </a:stretch>
                </a:blip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7DE3020-B8D0-0F9B-AB6D-43DA943B6542}"/>
                    </a:ext>
                  </a:extLst>
                </p:cNvPr>
                <p:cNvSpPr txBox="1"/>
                <p:nvPr/>
              </p:nvSpPr>
              <p:spPr>
                <a:xfrm>
                  <a:off x="6001742" y="3777565"/>
                  <a:ext cx="5688013" cy="523220"/>
                </a:xfrm>
                <a:prstGeom prst="rect">
                  <a:avLst/>
                </a:prstGeom>
                <a:solidFill>
                  <a:srgbClr val="EDF7FF"/>
                </a:solid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𝑊𝐴𝑆</m:t>
                          </m:r>
                        </m:sub>
                      </m:sSub>
                      <m:r>
                        <a:rPr lang="ar-AE" sz="1400" i="1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N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and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0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140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𝑇𝐴𝑆</m:t>
                          </m:r>
                        </m:sub>
                      </m:sSub>
                    </m:oMath>
                  </a14:m>
                  <a:r>
                    <a:rPr lang="en-IN" sz="1400">
                      <a:solidFill>
                        <a:srgbClr val="92D050"/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 </a:t>
                  </a:r>
                  <a:r>
                    <a:rPr lang="en-US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→  Weather and time prediction loss</a:t>
                  </a:r>
                </a:p>
                <a:p>
                  <a:r>
                    <a:rPr lang="en-IN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                                 only to the </a:t>
                  </a:r>
                  <a:r>
                    <a:rPr lang="en-IN" sz="1400" b="1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encoder (DCNN / Swin-L backbone)</a:t>
                  </a:r>
                  <a:r>
                    <a:rPr lang="en-IN" sz="140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7DE3020-B8D0-0F9B-AB6D-43DA943B6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1742" y="3777565"/>
                  <a:ext cx="5688013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321" t="-2299" b="-49425"/>
                  </a:stretch>
                </a:blip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AF7D823-7F23-66C1-9422-7A2E45ACB821}"/>
                    </a:ext>
                  </a:extLst>
                </p:cNvPr>
                <p:cNvSpPr txBox="1"/>
                <p:nvPr/>
              </p:nvSpPr>
              <p:spPr>
                <a:xfrm>
                  <a:off x="6001742" y="4577204"/>
                  <a:ext cx="5688013" cy="523220"/>
                </a:xfrm>
                <a:prstGeom prst="rect">
                  <a:avLst/>
                </a:prstGeom>
                <a:solidFill>
                  <a:srgbClr val="EDF7FF"/>
                </a:solid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ar-AE" sz="14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ar-AE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sz="1400" b="0" i="0" dirty="0" smtClean="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 </m:t>
                      </m:r>
                    </m:oMath>
                  </a14:m>
                  <a:r>
                    <a:rPr lang="en-IN" sz="1400" i="1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</a:rPr>
                    <a:t>Loss weighting factors (1e-5) </a:t>
                  </a:r>
                </a:p>
                <a:p>
                  <a:r>
                    <a:rPr lang="en-IN" sz="1400" b="1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ea typeface="Roboto" panose="02000000000000000000" pitchFamily="2" charset="0"/>
                    </a:rPr>
                    <a:t>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IN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IN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ontrol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relative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1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contribution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auxiliary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m:t>losses</m:t>
                      </m:r>
                    </m:oMath>
                  </a14:m>
                  <a:endParaRPr lang="en-IN">
                    <a:solidFill>
                      <a:schemeClr val="tx2">
                        <a:lumMod val="85000"/>
                        <a:lumOff val="1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AF7D823-7F23-66C1-9422-7A2E45ACB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1742" y="4577204"/>
                  <a:ext cx="5688013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2299" b="-3448"/>
                  </a:stretch>
                </a:blipFill>
                <a:ln w="63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E3FF6E71-39D6-C5C5-3CE1-1D3057B396C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578469" y="2686934"/>
              <a:ext cx="579846" cy="266700"/>
            </a:xfrm>
            <a:prstGeom prst="bentConnector2">
              <a:avLst/>
            </a:prstGeom>
            <a:ln w="19050">
              <a:solidFill>
                <a:schemeClr val="tx2">
                  <a:lumMod val="85000"/>
                  <a:lumOff val="1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BC43FA5-21A5-3878-CC77-AF650E5967A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64196" y="3381052"/>
              <a:ext cx="808392" cy="266700"/>
            </a:xfrm>
            <a:prstGeom prst="bentConnector2">
              <a:avLst/>
            </a:prstGeom>
            <a:ln w="19050">
              <a:solidFill>
                <a:schemeClr val="tx2">
                  <a:lumMod val="85000"/>
                  <a:lumOff val="1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48ECE038-BC62-F036-5B4F-F06BC5EC5A0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64196" y="4180691"/>
              <a:ext cx="808392" cy="266700"/>
            </a:xfrm>
            <a:prstGeom prst="bentConnector2">
              <a:avLst/>
            </a:prstGeom>
            <a:ln w="19050">
              <a:solidFill>
                <a:schemeClr val="tx2">
                  <a:lumMod val="85000"/>
                  <a:lumOff val="1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E71C659-3989-4FA6-F379-06FF3DA8A167}"/>
                </a:ext>
              </a:extLst>
            </p:cNvPr>
            <p:cNvSpPr/>
            <p:nvPr/>
          </p:nvSpPr>
          <p:spPr>
            <a:xfrm>
              <a:off x="5492336" y="1845363"/>
              <a:ext cx="6397066" cy="3607358"/>
            </a:xfrm>
            <a:prstGeom prst="roundRect">
              <a:avLst>
                <a:gd name="adj" fmla="val 4483"/>
              </a:avLst>
            </a:prstGeom>
            <a:noFill/>
            <a:ln w="190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FE5D-03A0-42E3-4048-6D57CED1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B10C84-8D99-4E72-E2A7-4DC0B980C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BE9FEE-FA81-02F0-3AA3-E286F86B2B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33F4D-FCB0-AAF9-1CE7-EC8284266A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29</a:t>
            </a:fld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89CBF0-8BDA-AB6F-AD92-82CF7D95DFA5}"/>
              </a:ext>
            </a:extLst>
          </p:cNvPr>
          <p:cNvSpPr/>
          <p:nvPr/>
        </p:nvSpPr>
        <p:spPr>
          <a:xfrm>
            <a:off x="10635721" y="1782119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7491B3-5409-94A1-5E1D-1B45B5FBD8C0}"/>
              </a:ext>
            </a:extLst>
          </p:cNvPr>
          <p:cNvSpPr/>
          <p:nvPr/>
        </p:nvSpPr>
        <p:spPr>
          <a:xfrm>
            <a:off x="5180053" y="1739982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98F57-D9E2-1A58-5924-7F62476ABDB8}"/>
              </a:ext>
            </a:extLst>
          </p:cNvPr>
          <p:cNvSpPr txBox="1"/>
          <p:nvPr/>
        </p:nvSpPr>
        <p:spPr>
          <a:xfrm>
            <a:off x="5878634" y="2024601"/>
            <a:ext cx="4397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 8 : Evaluation Metrics</a:t>
            </a:r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534CE3-1BB9-2FC0-76CB-5F36A69EF3EF}"/>
              </a:ext>
            </a:extLst>
          </p:cNvPr>
          <p:cNvSpPr/>
          <p:nvPr/>
        </p:nvSpPr>
        <p:spPr>
          <a:xfrm>
            <a:off x="10635721" y="2960193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49B634-F2C1-5360-B047-485A6BEBF0F9}"/>
              </a:ext>
            </a:extLst>
          </p:cNvPr>
          <p:cNvSpPr/>
          <p:nvPr/>
        </p:nvSpPr>
        <p:spPr>
          <a:xfrm>
            <a:off x="5180053" y="2918056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FFB82F-477A-6991-DD49-FD071602C81D}"/>
              </a:ext>
            </a:extLst>
          </p:cNvPr>
          <p:cNvGrpSpPr/>
          <p:nvPr/>
        </p:nvGrpSpPr>
        <p:grpSpPr>
          <a:xfrm>
            <a:off x="4613507" y="2918056"/>
            <a:ext cx="969348" cy="969348"/>
            <a:chOff x="2715881" y="2734838"/>
            <a:chExt cx="969348" cy="96934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3F87B-8E0C-9F08-C545-EC1C7D7646C1}"/>
                </a:ext>
              </a:extLst>
            </p:cNvPr>
            <p:cNvSpPr/>
            <p:nvPr/>
          </p:nvSpPr>
          <p:spPr>
            <a:xfrm>
              <a:off x="2715881" y="2734838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E996E9-C993-D2FC-F7DC-A11DEB58DE76}"/>
                </a:ext>
              </a:extLst>
            </p:cNvPr>
            <p:cNvSpPr/>
            <p:nvPr/>
          </p:nvSpPr>
          <p:spPr>
            <a:xfrm>
              <a:off x="2777897" y="2796854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A5FCD52-12F3-AE8B-1006-75B13F9CA12C}"/>
              </a:ext>
            </a:extLst>
          </p:cNvPr>
          <p:cNvSpPr txBox="1"/>
          <p:nvPr/>
        </p:nvSpPr>
        <p:spPr>
          <a:xfrm>
            <a:off x="5878634" y="3202675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9 : Baselines used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7AB0B0-A858-B764-4424-6B3213CF5DAC}"/>
              </a:ext>
            </a:extLst>
          </p:cNvPr>
          <p:cNvSpPr/>
          <p:nvPr/>
        </p:nvSpPr>
        <p:spPr>
          <a:xfrm>
            <a:off x="10635721" y="4138267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FB3AAE-5EC6-612C-0B7C-DA0011407E8F}"/>
              </a:ext>
            </a:extLst>
          </p:cNvPr>
          <p:cNvSpPr/>
          <p:nvPr/>
        </p:nvSpPr>
        <p:spPr>
          <a:xfrm>
            <a:off x="5180053" y="4096130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D82275-4A6A-28FB-67F1-EA0C8771A62C}"/>
              </a:ext>
            </a:extLst>
          </p:cNvPr>
          <p:cNvGrpSpPr/>
          <p:nvPr/>
        </p:nvGrpSpPr>
        <p:grpSpPr>
          <a:xfrm>
            <a:off x="4613507" y="4096130"/>
            <a:ext cx="969348" cy="969348"/>
            <a:chOff x="2715881" y="3912912"/>
            <a:chExt cx="969348" cy="96934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86E97C-1BEC-B249-4042-5401A09F1EF4}"/>
                </a:ext>
              </a:extLst>
            </p:cNvPr>
            <p:cNvSpPr/>
            <p:nvPr/>
          </p:nvSpPr>
          <p:spPr>
            <a:xfrm>
              <a:off x="2715881" y="3912912"/>
              <a:ext cx="969348" cy="969348"/>
            </a:xfrm>
            <a:prstGeom prst="ellipse">
              <a:avLst/>
            </a:prstGeom>
            <a:solidFill>
              <a:srgbClr val="4F92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AFF8374-D5E8-01C0-E02B-FC763F438F16}"/>
                </a:ext>
              </a:extLst>
            </p:cNvPr>
            <p:cNvSpPr/>
            <p:nvPr/>
          </p:nvSpPr>
          <p:spPr>
            <a:xfrm>
              <a:off x="2777897" y="3974928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D270F14-8A05-0F91-1416-D979B68CFA7A}"/>
              </a:ext>
            </a:extLst>
          </p:cNvPr>
          <p:cNvSpPr txBox="1"/>
          <p:nvPr/>
        </p:nvSpPr>
        <p:spPr>
          <a:xfrm>
            <a:off x="5878634" y="4380749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Slide 10 : </a:t>
            </a:r>
            <a:r>
              <a:rPr lang="en-IN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Quantitative Results </a:t>
            </a:r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19A20B-958E-F139-71ED-A2FB1E3EFD88}"/>
              </a:ext>
            </a:extLst>
          </p:cNvPr>
          <p:cNvSpPr/>
          <p:nvPr/>
        </p:nvSpPr>
        <p:spPr>
          <a:xfrm>
            <a:off x="10635721" y="5327908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1F8C7E-16ED-5926-F602-5B4AF14346A2}"/>
              </a:ext>
            </a:extLst>
          </p:cNvPr>
          <p:cNvSpPr/>
          <p:nvPr/>
        </p:nvSpPr>
        <p:spPr>
          <a:xfrm>
            <a:off x="5238373" y="5274205"/>
            <a:ext cx="598511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079EB3-DCEE-8468-4425-C5F429EAED9D}"/>
              </a:ext>
            </a:extLst>
          </p:cNvPr>
          <p:cNvGrpSpPr/>
          <p:nvPr/>
        </p:nvGrpSpPr>
        <p:grpSpPr>
          <a:xfrm>
            <a:off x="4671827" y="5274205"/>
            <a:ext cx="969348" cy="969348"/>
            <a:chOff x="2774201" y="5090987"/>
            <a:chExt cx="969348" cy="96934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4A96456-EDD6-6047-358E-0D3A03747AF0}"/>
                </a:ext>
              </a:extLst>
            </p:cNvPr>
            <p:cNvSpPr/>
            <p:nvPr/>
          </p:nvSpPr>
          <p:spPr>
            <a:xfrm>
              <a:off x="2774201" y="5090987"/>
              <a:ext cx="969348" cy="969348"/>
            </a:xfrm>
            <a:prstGeom prst="ellipse">
              <a:avLst/>
            </a:prstGeom>
            <a:solidFill>
              <a:srgbClr val="95BD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05A249F-93E8-9088-4B3D-07D962C4EBAD}"/>
                </a:ext>
              </a:extLst>
            </p:cNvPr>
            <p:cNvSpPr/>
            <p:nvPr/>
          </p:nvSpPr>
          <p:spPr>
            <a:xfrm>
              <a:off x="2836217" y="5153003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5A9DB4D-CA5B-CCD1-DD1D-540F6664FE8A}"/>
              </a:ext>
            </a:extLst>
          </p:cNvPr>
          <p:cNvSpPr txBox="1"/>
          <p:nvPr/>
        </p:nvSpPr>
        <p:spPr>
          <a:xfrm>
            <a:off x="5878634" y="5558824"/>
            <a:ext cx="37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Slide 11 : </a:t>
            </a:r>
            <a:r>
              <a:rPr lang="en-IN" sz="20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Qualitative Results </a:t>
            </a:r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Picture 8" descr="Search">
            <a:extLst>
              <a:ext uri="{FF2B5EF4-FFF2-40B4-BE49-F238E27FC236}">
                <a16:creationId xmlns:a16="http://schemas.microsoft.com/office/drawing/2014/main" id="{BCA0155D-5706-0040-2732-C8B13A192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005A9B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40125" y="5558824"/>
            <a:ext cx="482727" cy="48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Evaluation">
            <a:extLst>
              <a:ext uri="{FF2B5EF4-FFF2-40B4-BE49-F238E27FC236}">
                <a16:creationId xmlns:a16="http://schemas.microsoft.com/office/drawing/2014/main" id="{CFAE6DBD-5157-5914-C39D-1D1ED16AC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787" y="4359555"/>
            <a:ext cx="484811" cy="48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Enhance ">
            <a:extLst>
              <a:ext uri="{FF2B5EF4-FFF2-40B4-BE49-F238E27FC236}">
                <a16:creationId xmlns:a16="http://schemas.microsoft.com/office/drawing/2014/main" id="{B1A12BFD-38E8-C153-BE11-01BD509C1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175" y="3118786"/>
            <a:ext cx="531875" cy="5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D5B34AC5-1CE0-E36F-1020-344AAB6A5D89}"/>
              </a:ext>
            </a:extLst>
          </p:cNvPr>
          <p:cNvGrpSpPr/>
          <p:nvPr/>
        </p:nvGrpSpPr>
        <p:grpSpPr>
          <a:xfrm>
            <a:off x="4613507" y="1739982"/>
            <a:ext cx="969348" cy="969348"/>
            <a:chOff x="2715881" y="1556764"/>
            <a:chExt cx="969348" cy="96934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23339D-C1C1-0F6A-4CC2-71D0B664166A}"/>
                </a:ext>
              </a:extLst>
            </p:cNvPr>
            <p:cNvGrpSpPr/>
            <p:nvPr/>
          </p:nvGrpSpPr>
          <p:grpSpPr>
            <a:xfrm>
              <a:off x="2715881" y="1556764"/>
              <a:ext cx="969348" cy="969348"/>
              <a:chOff x="2715881" y="1556764"/>
              <a:chExt cx="969348" cy="96934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84F4944-9B84-4592-4573-8969306036FF}"/>
                  </a:ext>
                </a:extLst>
              </p:cNvPr>
              <p:cNvSpPr/>
              <p:nvPr/>
            </p:nvSpPr>
            <p:spPr>
              <a:xfrm>
                <a:off x="2715881" y="1556764"/>
                <a:ext cx="969348" cy="969348"/>
              </a:xfrm>
              <a:prstGeom prst="ellipse">
                <a:avLst/>
              </a:prstGeom>
              <a:solidFill>
                <a:srgbClr val="507FCC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2F132C2-8B6E-BEDE-40DB-5938D3460BD8}"/>
                  </a:ext>
                </a:extLst>
              </p:cNvPr>
              <p:cNvSpPr/>
              <p:nvPr/>
            </p:nvSpPr>
            <p:spPr>
              <a:xfrm>
                <a:off x="2777897" y="1618780"/>
                <a:ext cx="845316" cy="8453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800" b="1">
                  <a:solidFill>
                    <a:srgbClr val="005A9B"/>
                  </a:solidFill>
                </a:endParaRPr>
              </a:p>
            </p:txBody>
          </p:sp>
        </p:grpSp>
        <p:pic>
          <p:nvPicPr>
            <p:cNvPr id="32" name="Picture 16" descr="Identification ">
              <a:extLst>
                <a:ext uri="{FF2B5EF4-FFF2-40B4-BE49-F238E27FC236}">
                  <a16:creationId xmlns:a16="http://schemas.microsoft.com/office/drawing/2014/main" id="{50FB5450-6152-197D-10B0-5165F498B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193" y="1797951"/>
              <a:ext cx="478668" cy="478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7E0268-14DB-A16A-8A4B-861E50D7C859}"/>
              </a:ext>
            </a:extLst>
          </p:cNvPr>
          <p:cNvGrpSpPr/>
          <p:nvPr/>
        </p:nvGrpSpPr>
        <p:grpSpPr>
          <a:xfrm>
            <a:off x="364444" y="3453537"/>
            <a:ext cx="3331495" cy="927212"/>
            <a:chOff x="444092" y="3372792"/>
            <a:chExt cx="3331495" cy="9272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284C99D-E818-1A5E-7623-634A035A835F}"/>
                </a:ext>
              </a:extLst>
            </p:cNvPr>
            <p:cNvGrpSpPr/>
            <p:nvPr/>
          </p:nvGrpSpPr>
          <p:grpSpPr>
            <a:xfrm>
              <a:off x="869952" y="3373018"/>
              <a:ext cx="2905635" cy="926986"/>
              <a:chOff x="-2146530" y="2798296"/>
              <a:chExt cx="6135372" cy="969349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7BE08785-1A74-A746-6150-4B22A937791B}"/>
                  </a:ext>
                </a:extLst>
              </p:cNvPr>
              <p:cNvSpPr/>
              <p:nvPr/>
            </p:nvSpPr>
            <p:spPr>
              <a:xfrm>
                <a:off x="3309138" y="2840433"/>
                <a:ext cx="679704" cy="885075"/>
              </a:xfrm>
              <a:prstGeom prst="roundRect">
                <a:avLst/>
              </a:prstGeom>
              <a:solidFill>
                <a:srgbClr val="95BD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0575438A-6BBB-1D0D-BF4F-057878918C88}"/>
                  </a:ext>
                </a:extLst>
              </p:cNvPr>
              <p:cNvSpPr/>
              <p:nvPr/>
            </p:nvSpPr>
            <p:spPr>
              <a:xfrm>
                <a:off x="-2146530" y="2798296"/>
                <a:ext cx="6043432" cy="969349"/>
              </a:xfrm>
              <a:prstGeom prst="roundRect">
                <a:avLst>
                  <a:gd name="adj" fmla="val 302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1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E1E79F-F60D-F778-8773-0A16C667E745}"/>
                  </a:ext>
                </a:extLst>
              </p:cNvPr>
              <p:cNvSpPr txBox="1"/>
              <p:nvPr/>
            </p:nvSpPr>
            <p:spPr>
              <a:xfrm>
                <a:off x="-1262271" y="2926658"/>
                <a:ext cx="5191160" cy="611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Section 3</a:t>
                </a:r>
              </a:p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Evaluation and Results</a:t>
                </a:r>
                <a:endParaRPr lang="en-IN" sz="16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FCC658C-B423-244E-505F-EC4E6FD1A42E}"/>
                </a:ext>
              </a:extLst>
            </p:cNvPr>
            <p:cNvGrpSpPr/>
            <p:nvPr/>
          </p:nvGrpSpPr>
          <p:grpSpPr>
            <a:xfrm>
              <a:off x="444092" y="3372792"/>
              <a:ext cx="900000" cy="900000"/>
              <a:chOff x="2715881" y="1556764"/>
              <a:chExt cx="969348" cy="96934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B6988B0-C2F4-E30D-B7AC-F848A1BD7F0D}"/>
                  </a:ext>
                </a:extLst>
              </p:cNvPr>
              <p:cNvGrpSpPr/>
              <p:nvPr/>
            </p:nvGrpSpPr>
            <p:grpSpPr>
              <a:xfrm>
                <a:off x="2715881" y="1556764"/>
                <a:ext cx="969348" cy="969348"/>
                <a:chOff x="2715881" y="1556764"/>
                <a:chExt cx="969348" cy="969348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E3115471-942E-08AF-A0D8-630CEF02FB39}"/>
                    </a:ext>
                  </a:extLst>
                </p:cNvPr>
                <p:cNvSpPr/>
                <p:nvPr/>
              </p:nvSpPr>
              <p:spPr>
                <a:xfrm>
                  <a:off x="2715881" y="1556764"/>
                  <a:ext cx="969348" cy="969348"/>
                </a:xfrm>
                <a:prstGeom prst="ellipse">
                  <a:avLst/>
                </a:prstGeom>
                <a:solidFill>
                  <a:srgbClr val="507FCC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C1E4F11A-C035-9364-D5D2-AC982E95C2BE}"/>
                    </a:ext>
                  </a:extLst>
                </p:cNvPr>
                <p:cNvSpPr/>
                <p:nvPr/>
              </p:nvSpPr>
              <p:spPr>
                <a:xfrm>
                  <a:off x="2777897" y="1618780"/>
                  <a:ext cx="845316" cy="845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 b="1">
                    <a:solidFill>
                      <a:srgbClr val="005A9B"/>
                    </a:solidFill>
                  </a:endParaRPr>
                </a:p>
              </p:txBody>
            </p:sp>
          </p:grpSp>
          <p:pic>
            <p:nvPicPr>
              <p:cNvPr id="39" name="Picture 16" descr="Identification ">
                <a:extLst>
                  <a:ext uri="{FF2B5EF4-FFF2-40B4-BE49-F238E27FC236}">
                    <a16:creationId xmlns:a16="http://schemas.microsoft.com/office/drawing/2014/main" id="{52B9679C-D93C-74CF-0AED-895E321F4D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193" y="1797951"/>
                <a:ext cx="478668" cy="4786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073515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5D673A-930A-3974-77DE-E2B091B3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147736"/>
            <a:ext cx="9753600" cy="327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Evaluation Setup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7571AE0-E716-64E5-3B6E-8B8B5CFBE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461072"/>
            <a:ext cx="9753600" cy="342054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Datasets, Metrics, and Baselines used for Performance Assessment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D1EA0-1EA9-0A7D-EA70-56891B10F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20549947-ECEE-CD4E-8E00-25DB9EFCD1C0}" type="slidenum">
              <a:rPr lang="de-DE" smtClean="0"/>
              <a:pPr>
                <a:spcAft>
                  <a:spcPts val="600"/>
                </a:spcAft>
                <a:defRPr/>
              </a:pPr>
              <a:t>30</a:t>
            </a:fld>
            <a:endParaRPr lang="de-DE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3229DEA-ACCB-FC92-F731-9A062CA0E55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03690" y="5967343"/>
            <a:ext cx="3332162" cy="533400"/>
          </a:xfrm>
        </p:spPr>
        <p:txBody>
          <a:bodyPr/>
          <a:lstStyle/>
          <a:p>
            <a:pPr indent="0" algn="ctr">
              <a:buNone/>
            </a:pPr>
            <a:r>
              <a:rPr lang="en-US" sz="105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 results we get on terminal for 19 Classes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9D78EC-0C52-841A-5174-29C04593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893" y="1241370"/>
            <a:ext cx="3331959" cy="4667335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512E270-D795-CB5F-C2B8-8A442EC11A76}"/>
              </a:ext>
            </a:extLst>
          </p:cNvPr>
          <p:cNvSpPr/>
          <p:nvPr/>
        </p:nvSpPr>
        <p:spPr>
          <a:xfrm>
            <a:off x="7049094" y="1064391"/>
            <a:ext cx="3641556" cy="5270961"/>
          </a:xfrm>
          <a:prstGeom prst="roundRect">
            <a:avLst>
              <a:gd name="adj" fmla="val 3167"/>
            </a:avLst>
          </a:prstGeom>
          <a:noFill/>
          <a:ln w="12700">
            <a:solidFill>
              <a:schemeClr val="tx2">
                <a:lumMod val="95000"/>
                <a:lumOff val="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51C37-7F69-00C4-F979-4FB7287085C8}"/>
              </a:ext>
            </a:extLst>
          </p:cNvPr>
          <p:cNvGrpSpPr/>
          <p:nvPr/>
        </p:nvGrpSpPr>
        <p:grpSpPr>
          <a:xfrm>
            <a:off x="894720" y="1037611"/>
            <a:ext cx="5663619" cy="2754612"/>
            <a:chOff x="1140542" y="1172901"/>
            <a:chExt cx="5807121" cy="282440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B76A0F6-13B4-75F3-D272-B1AAFA94C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1241" y="2212881"/>
              <a:ext cx="1" cy="292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3AB58A-AFD6-57E6-A839-9A536FEEECA5}"/>
                </a:ext>
              </a:extLst>
            </p:cNvPr>
            <p:cNvSpPr txBox="1"/>
            <p:nvPr/>
          </p:nvSpPr>
          <p:spPr>
            <a:xfrm>
              <a:off x="1140542" y="1209368"/>
              <a:ext cx="2290916" cy="315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tx2"/>
                  </a:solidFill>
                </a:rPr>
                <a:t>Evaluation 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C30DD64-039D-A0F4-7145-D8A9304CEF97}"/>
                </a:ext>
              </a:extLst>
            </p:cNvPr>
            <p:cNvSpPr/>
            <p:nvPr/>
          </p:nvSpPr>
          <p:spPr>
            <a:xfrm>
              <a:off x="1592826" y="1714679"/>
              <a:ext cx="4385548" cy="512986"/>
            </a:xfrm>
            <a:prstGeom prst="roundRect">
              <a:avLst/>
            </a:prstGeom>
            <a:noFill/>
            <a:ln w="28575"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1517EF-E4F2-3C2C-C7DF-B422E1F36FE4}"/>
                </a:ext>
              </a:extLst>
            </p:cNvPr>
            <p:cNvSpPr txBox="1"/>
            <p:nvPr/>
          </p:nvSpPr>
          <p:spPr>
            <a:xfrm>
              <a:off x="1632516" y="1852529"/>
              <a:ext cx="4345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/>
                <a:t>Conducted on </a:t>
              </a:r>
              <a:r>
                <a:rPr lang="en-IN" sz="1200" b="1"/>
                <a:t>Best Checkpoint </a:t>
              </a:r>
              <a:r>
                <a:rPr lang="en-IN" sz="1200"/>
                <a:t>generated during Training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D580ACA-DB87-1C50-844A-AA98A4DD8C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1240" y="3121141"/>
              <a:ext cx="1" cy="292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A39217E-C346-708D-2A73-8EFA6469C0D8}"/>
                </a:ext>
              </a:extLst>
            </p:cNvPr>
            <p:cNvSpPr/>
            <p:nvPr/>
          </p:nvSpPr>
          <p:spPr>
            <a:xfrm>
              <a:off x="1654963" y="2539464"/>
              <a:ext cx="1569671" cy="575834"/>
            </a:xfrm>
            <a:prstGeom prst="roundRect">
              <a:avLst/>
            </a:prstGeom>
            <a:solidFill>
              <a:schemeClr val="tx1">
                <a:lumMod val="20000"/>
                <a:lumOff val="80000"/>
                <a:alpha val="33000"/>
              </a:schemeClr>
            </a:solidFill>
            <a:ln w="285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D669E2-E77A-AE36-0182-BBD680390CB7}"/>
                </a:ext>
              </a:extLst>
            </p:cNvPr>
            <p:cNvSpPr txBox="1"/>
            <p:nvPr/>
          </p:nvSpPr>
          <p:spPr>
            <a:xfrm>
              <a:off x="1643732" y="2598661"/>
              <a:ext cx="15696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/>
                <a:t>Normal Weather</a:t>
              </a:r>
            </a:p>
            <a:p>
              <a:pPr algn="ctr"/>
              <a:r>
                <a:rPr lang="en-IN" sz="1200"/>
                <a:t>Cityscapes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7927BC2-F853-C836-486C-8D7D4750DBED}"/>
                </a:ext>
              </a:extLst>
            </p:cNvPr>
            <p:cNvSpPr txBox="1"/>
            <p:nvPr/>
          </p:nvSpPr>
          <p:spPr>
            <a:xfrm>
              <a:off x="1653275" y="3507236"/>
              <a:ext cx="15696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/>
                <a:t>500 Images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71A29D-9A5E-4A66-DB6B-FD340F32EC34}"/>
                </a:ext>
              </a:extLst>
            </p:cNvPr>
            <p:cNvSpPr txBox="1"/>
            <p:nvPr/>
          </p:nvSpPr>
          <p:spPr>
            <a:xfrm>
              <a:off x="3307009" y="3413322"/>
              <a:ext cx="3556591" cy="441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/>
                <a:t>406 Images</a:t>
              </a:r>
            </a:p>
            <a:p>
              <a:pPr algn="ctr"/>
              <a:r>
                <a:rPr lang="en-IN" sz="1100"/>
                <a:t>Rain =100 | Fog =100 | Snow = 100 | Night = 106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09F1086-7B3E-3693-EBA1-6A00BBAB878D}"/>
                </a:ext>
              </a:extLst>
            </p:cNvPr>
            <p:cNvSpPr/>
            <p:nvPr/>
          </p:nvSpPr>
          <p:spPr>
            <a:xfrm>
              <a:off x="4208552" y="2536299"/>
              <a:ext cx="1569671" cy="575834"/>
            </a:xfrm>
            <a:prstGeom prst="roundRect">
              <a:avLst/>
            </a:prstGeom>
            <a:solidFill>
              <a:schemeClr val="tx1">
                <a:lumMod val="20000"/>
                <a:lumOff val="80000"/>
                <a:alpha val="33000"/>
              </a:schemeClr>
            </a:solidFill>
            <a:ln w="285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8A98F5B-078E-F6EE-9372-F3F5280BAB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8110" y="3108788"/>
              <a:ext cx="1" cy="292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3A80CA1-A959-F6E4-5A6E-7A47010F95F1}"/>
                </a:ext>
              </a:extLst>
            </p:cNvPr>
            <p:cNvSpPr/>
            <p:nvPr/>
          </p:nvSpPr>
          <p:spPr>
            <a:xfrm>
              <a:off x="1140542" y="1172901"/>
              <a:ext cx="5807121" cy="2824407"/>
            </a:xfrm>
            <a:prstGeom prst="roundRect">
              <a:avLst>
                <a:gd name="adj" fmla="val 4483"/>
              </a:avLst>
            </a:prstGeom>
            <a:noFill/>
            <a:ln w="190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5E24D3AD-BCED-A2D9-5ECE-ADE881062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0542" y="1200360"/>
              <a:ext cx="2290916" cy="333472"/>
            </a:xfrm>
            <a:prstGeom prst="bentConnector3">
              <a:avLst>
                <a:gd name="adj1" fmla="val 99785"/>
              </a:avLst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692E5A3-B27C-0B16-AFD1-A8681AACF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8566" y="2217677"/>
              <a:ext cx="1" cy="292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AE791D3-A26D-EAC0-CAAD-921114184422}"/>
                </a:ext>
              </a:extLst>
            </p:cNvPr>
            <p:cNvSpPr txBox="1"/>
            <p:nvPr/>
          </p:nvSpPr>
          <p:spPr>
            <a:xfrm>
              <a:off x="4216405" y="2613913"/>
              <a:ext cx="15696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/>
                <a:t>Adverse Weather</a:t>
              </a:r>
            </a:p>
            <a:p>
              <a:pPr algn="ctr"/>
              <a:r>
                <a:rPr lang="en-IN" sz="1200"/>
                <a:t>ACDC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605699-624F-1CCF-7AEA-89B2C824A385}"/>
              </a:ext>
            </a:extLst>
          </p:cNvPr>
          <p:cNvSpPr txBox="1"/>
          <p:nvPr/>
        </p:nvSpPr>
        <p:spPr>
          <a:xfrm>
            <a:off x="288734" y="4467913"/>
            <a:ext cx="6410072" cy="1855105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Mean Intersection over Union (</a:t>
            </a:r>
            <a:r>
              <a:rPr lang="en-US" altLang="en-US" sz="1100" b="1" err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mIoU</a:t>
            </a:r>
            <a:r>
              <a:rPr lang="en-US" altLang="en-US" sz="11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Standard metric for semantic segmentation (average overlap of prediction vs. ground truth).</a:t>
            </a: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Computed per-class (19 classes) and overall.</a:t>
            </a: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Reported for both datasets (Cityscapes &amp; ACDC) using,</a:t>
            </a: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Mode = 11 ( for CS )           |      Mode = 21 ( for ACDC )</a:t>
            </a:r>
          </a:p>
          <a:p>
            <a:pPr marL="315450" indent="-171450"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ACDC additionally reported per weather condition (rain, fog, snow, night).</a:t>
            </a:r>
            <a:endParaRPr lang="en-US" altLang="en-US" sz="1100" b="1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endParaRPr lang="en-US" altLang="en-US" sz="120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A310F-6A56-AEC2-CA53-8C88F6E6B88F}"/>
              </a:ext>
            </a:extLst>
          </p:cNvPr>
          <p:cNvSpPr txBox="1"/>
          <p:nvPr/>
        </p:nvSpPr>
        <p:spPr>
          <a:xfrm>
            <a:off x="550862" y="4055183"/>
            <a:ext cx="6147943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Evaluation Metric</a:t>
            </a:r>
          </a:p>
        </p:txBody>
      </p:sp>
    </p:spTree>
    <p:extLst>
      <p:ext uri="{BB962C8B-B14F-4D97-AF65-F5344CB8AC3E}">
        <p14:creationId xmlns:p14="http://schemas.microsoft.com/office/powerpoint/2010/main" val="759076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956C-6E9E-6858-3339-228E6649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D8829-F9FA-627B-8324-A95C7C40C0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31</a:t>
            </a:fld>
            <a:endParaRPr lang="de-DE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FC9B1C4-7759-763E-92D5-39CCA2AE7A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4082399"/>
              </p:ext>
            </p:extLst>
          </p:nvPr>
        </p:nvGraphicFramePr>
        <p:xfrm>
          <a:off x="139906" y="1281434"/>
          <a:ext cx="5598421" cy="4987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C749944E-AC99-F444-8560-FC555968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118159"/>
            <a:ext cx="9753600" cy="327600"/>
          </a:xfrm>
        </p:spPr>
        <p:txBody>
          <a:bodyPr>
            <a:normAutofit fontScale="90000"/>
          </a:bodyPr>
          <a:lstStyle/>
          <a:p>
            <a:r>
              <a:rPr lang="en-IN" dirty="0"/>
              <a:t>Quantitative Results — Evaluation Result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C2C7836C-C6AA-4F5B-A710-87DF37977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420674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DeeplabV3+ vs Mask2Former Result Comparison</a:t>
            </a:r>
          </a:p>
          <a:p>
            <a:endParaRPr lang="en-IN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99827B2-41DC-F8EA-E241-2F675E37E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011142"/>
              </p:ext>
            </p:extLst>
          </p:nvPr>
        </p:nvGraphicFramePr>
        <p:xfrm>
          <a:off x="6058621" y="1237891"/>
          <a:ext cx="5598421" cy="4987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9825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7A69-BC85-5409-73F3-1BE76BBB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2F9A67-882B-14A5-EFD8-24989035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Baseline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72F2B6B-D626-E03B-26E5-E622F55B27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Our proposed method implemented on baseline – Deeplabv3+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362BC-9C01-D284-0E6A-506BF0DF1D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32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3565D1-C549-ACE6-DC1C-A685DAFD5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9066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Reference model from the 2022 paper, trained only on Cityscapes as the standard baseline for semantic segmentation.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96E5D8-5B95-D227-4B52-6876F12FCF08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DeeplabV3+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E6A22-261C-CBAA-2F3C-483BF106D06D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EBAC4-F9CB-C519-EECB-B44F531BBBA0}"/>
              </a:ext>
            </a:extLst>
          </p:cNvPr>
          <p:cNvSpPr/>
          <p:nvPr/>
        </p:nvSpPr>
        <p:spPr>
          <a:xfrm>
            <a:off x="550864" y="2143760"/>
            <a:ext cx="10945813" cy="66040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631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C458-F8CD-26A4-7214-7DC004C8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95E16E-F6D2-7D8E-3722-5DC3B871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Baselines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A3C0694-F35A-EBFA-F0FA-585EC8FD7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Comparison between baseline models and our proposed implementation for evaluation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049FB-C28C-B584-B905-879C2C1EB8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33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759336-F470-BC83-0F64-CF35210A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88827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Reference model from the 2022 paper, trained only on Cityscapes as the standard baseline for semantic segmentation.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153E635-924F-1E86-E27F-B801E5A861DB}"/>
              </a:ext>
            </a:extLst>
          </p:cNvPr>
          <p:cNvSpPr/>
          <p:nvPr/>
        </p:nvSpPr>
        <p:spPr>
          <a:xfrm flipV="1">
            <a:off x="550864" y="2804158"/>
            <a:ext cx="10945813" cy="662941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02871-E818-930B-7B60-53721188F223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DeeplabV3+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A539E-F8AA-F564-16C3-04646C079256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</p:spTree>
    <p:extLst>
      <p:ext uri="{BB962C8B-B14F-4D97-AF65-F5344CB8AC3E}">
        <p14:creationId xmlns:p14="http://schemas.microsoft.com/office/powerpoint/2010/main" val="1977843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35FC-EAC8-BBBC-4100-C515F6BA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4EAEC9-A6EB-1D7B-BDB0-807DE30B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Baselines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8CA772B-284E-2BE9-F16E-49A7F92EBB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Comparison between baseline models and our proposed implementation for evaluation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D8E2C-F396-2C77-A726-3EE9BDE5B4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34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A81572-FB63-D0AA-44FB-4517D9E90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73508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Reference model from the 2022 paper, trained only on Cityscapes as the standard baseline for semantic segmentation.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Mobile Net V2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BBBF22B-A6C2-E8CC-2828-0D8637487F80}"/>
              </a:ext>
            </a:extLst>
          </p:cNvPr>
          <p:cNvSpPr/>
          <p:nvPr/>
        </p:nvSpPr>
        <p:spPr>
          <a:xfrm>
            <a:off x="560912" y="3467285"/>
            <a:ext cx="10945813" cy="85935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EE875-4638-9951-8B0B-15F00133C504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DeeplabV3+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7717A-C1D6-2242-B840-73F287B0BB77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</p:spTree>
    <p:extLst>
      <p:ext uri="{BB962C8B-B14F-4D97-AF65-F5344CB8AC3E}">
        <p14:creationId xmlns:p14="http://schemas.microsoft.com/office/powerpoint/2010/main" val="136875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ED9E0-E5F7-0178-7CC7-764CF48FB2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35</a:t>
            </a:fld>
            <a:endParaRPr lang="de-DE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FFFF70F-E688-D68C-F1AF-2623A88501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7079183"/>
              </p:ext>
            </p:extLst>
          </p:nvPr>
        </p:nvGraphicFramePr>
        <p:xfrm>
          <a:off x="158573" y="858416"/>
          <a:ext cx="11709965" cy="4702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DDEF9722-51FB-F147-0A56-A0B535A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118159"/>
            <a:ext cx="9753600" cy="327600"/>
          </a:xfrm>
        </p:spPr>
        <p:txBody>
          <a:bodyPr>
            <a:normAutofit fontScale="90000"/>
          </a:bodyPr>
          <a:lstStyle/>
          <a:p>
            <a:r>
              <a:rPr lang="en-IN" dirty="0"/>
              <a:t>Quantitative Results — Evaluation Result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88033B30-0FEC-360C-21E4-20554C31E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420674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Results which Deeplabv3+ Baseline Achieves</a:t>
            </a:r>
          </a:p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3EF0E5-6FCF-1049-8510-BB3A862DAEE4}"/>
              </a:ext>
            </a:extLst>
          </p:cNvPr>
          <p:cNvGrpSpPr/>
          <p:nvPr/>
        </p:nvGrpSpPr>
        <p:grpSpPr>
          <a:xfrm>
            <a:off x="1121468" y="5547624"/>
            <a:ext cx="6881133" cy="875928"/>
            <a:chOff x="1130799" y="5547624"/>
            <a:chExt cx="6881133" cy="87592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7262329-F336-5BF3-ACD6-0B22C2AC2369}"/>
                </a:ext>
              </a:extLst>
            </p:cNvPr>
            <p:cNvSpPr/>
            <p:nvPr/>
          </p:nvSpPr>
          <p:spPr>
            <a:xfrm>
              <a:off x="1130799" y="5547625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Weather data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only)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ED8B20-E7DD-798E-85FA-F747843D6930}"/>
                </a:ext>
              </a:extLst>
            </p:cNvPr>
            <p:cNvSpPr txBox="1"/>
            <p:nvPr/>
          </p:nvSpPr>
          <p:spPr>
            <a:xfrm>
              <a:off x="1130799" y="5547624"/>
              <a:ext cx="324219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Training Style   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597748B-6307-CCCF-684F-5D6E2ED9E31B}"/>
                </a:ext>
              </a:extLst>
            </p:cNvPr>
            <p:cNvSpPr/>
            <p:nvPr/>
          </p:nvSpPr>
          <p:spPr>
            <a:xfrm>
              <a:off x="4769738" y="5561046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+ Adverse weather 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+ ACDC)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B4B583-307A-D53D-8641-8F7F7491F79F}"/>
                </a:ext>
              </a:extLst>
            </p:cNvPr>
            <p:cNvSpPr txBox="1"/>
            <p:nvPr/>
          </p:nvSpPr>
          <p:spPr>
            <a:xfrm>
              <a:off x="4769738" y="5561045"/>
              <a:ext cx="324219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Training Style  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AD4B70-7AFE-ED03-BD67-37FFAF6F006A}"/>
              </a:ext>
            </a:extLst>
          </p:cNvPr>
          <p:cNvGrpSpPr/>
          <p:nvPr/>
        </p:nvGrpSpPr>
        <p:grpSpPr>
          <a:xfrm>
            <a:off x="8371354" y="5574819"/>
            <a:ext cx="3242194" cy="862507"/>
            <a:chOff x="1130799" y="5547624"/>
            <a:chExt cx="3242194" cy="86250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760F019-158E-E4A3-5068-BCDA014EB666}"/>
                </a:ext>
              </a:extLst>
            </p:cNvPr>
            <p:cNvSpPr/>
            <p:nvPr/>
          </p:nvSpPr>
          <p:spPr>
            <a:xfrm>
              <a:off x="1130799" y="5547625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+ Adverse weather 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+ ACDC) + (WAS+TAS)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721CFD-9FD9-FFE6-1A74-1EB10ABDB69F}"/>
                </a:ext>
              </a:extLst>
            </p:cNvPr>
            <p:cNvSpPr txBox="1"/>
            <p:nvPr/>
          </p:nvSpPr>
          <p:spPr>
            <a:xfrm>
              <a:off x="1130799" y="5547624"/>
              <a:ext cx="324219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Proposed Training Style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460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942B-A521-A76C-0BBF-BA4241FA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5235A9-8F66-3D77-3D75-3EE23807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Baselines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DCA0E0C-578B-85E7-6949-6C65CBB950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Comparison between baseline models and our proposed implementation for evaluation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BD80F-9508-4D9E-A119-722363F253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36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DA373E-9325-F60F-AE94-5DE7026E3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242372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SOTA model benchmarked on Cityscapes </a:t>
                      </a:r>
                    </a:p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— represents the raw transformer model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C44E02-22E2-158F-4CB4-774D4A196277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Mask2Former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25F5-EFE6-7F6E-C221-18714AB5CCB1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978D7-D77D-58AB-C084-2A67812E1B73}"/>
              </a:ext>
            </a:extLst>
          </p:cNvPr>
          <p:cNvSpPr/>
          <p:nvPr/>
        </p:nvSpPr>
        <p:spPr>
          <a:xfrm>
            <a:off x="550864" y="2143760"/>
            <a:ext cx="10945813" cy="66040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4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7F45-FAF2-CA77-9464-4AE030C0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645F72-C52C-2DCB-272D-49E7ECAD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Baselines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E88DB9-D1F3-B465-1FB8-0A6FEE85B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Comparison between baseline models and our proposed implementation for evaluation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529A3-B509-50B4-9DCD-FCFCEBF651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37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558BD3-3FB2-0757-89D8-8AB2BD3A0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529148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SOTA model benchmarked on Cityscapes </a:t>
                      </a:r>
                    </a:p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— represents the raw transformer model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C613EE-3B17-B1B7-3732-6F7D63152618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Mask2Former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11447-500C-016B-EC97-1C8BC9173E53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B445CA-3617-DDDE-E956-646FFC90CE48}"/>
              </a:ext>
            </a:extLst>
          </p:cNvPr>
          <p:cNvSpPr/>
          <p:nvPr/>
        </p:nvSpPr>
        <p:spPr>
          <a:xfrm flipV="1">
            <a:off x="550864" y="2804158"/>
            <a:ext cx="10945813" cy="662941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49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9750-C298-3CAC-B2A9-AAFEE9BC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8A9592-7102-8B56-992E-9138D76E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Baselines Used for Comparison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69D313C-06BB-C858-2F50-B5F9654391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Comparison between baseline models and our proposed implementation for evaluation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1D5E1-1059-15EF-903E-95CC95D3F9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38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C1592A-2522-782B-281D-DB9D67D8D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373304"/>
              </p:ext>
            </p:extLst>
          </p:nvPr>
        </p:nvGraphicFramePr>
        <p:xfrm>
          <a:off x="550864" y="1449388"/>
          <a:ext cx="10945813" cy="2877247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2291788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5338945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</a:tblGrid>
              <a:tr h="692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Backbone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Data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Description</a:t>
                      </a:r>
                      <a:endParaRPr lang="en-IN" sz="1300">
                        <a:solidFill>
                          <a:schemeClr val="tx1">
                            <a:lumMod val="7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SOTA model benchmarked on Cityscapes </a:t>
                      </a:r>
                    </a:p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— represents the raw transformer model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model Trained on Alternately Trained </a:t>
                      </a:r>
                    </a:p>
                    <a:p>
                      <a:pPr marL="17145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(Cityscapes ↔ ACDC)</a:t>
                      </a:r>
                    </a:p>
                    <a:p>
                      <a:pPr algn="l">
                        <a:buNone/>
                      </a:pPr>
                      <a:endParaRPr lang="en-US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4400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519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(Proposed Method)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</a:t>
                      </a: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Swin-L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+ ACDC 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(alternate-batch training)</a:t>
                      </a:r>
                    </a:p>
                    <a:p>
                      <a:pPr algn="ctr">
                        <a:buNone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WAS+TAS</a:t>
                      </a:r>
                    </a:p>
                  </a:txBody>
                  <a:tcPr marL="67741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Batch-wise </a:t>
                      </a: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alternate training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(Cityscapes ↔ ACDC)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Auxiliary WAS/TAS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supervision for multi-task learning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3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Encoder freezing</a:t>
                      </a:r>
                      <a:r>
                        <a:rPr lang="en-IN" sz="13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on Cityscapes batches</a:t>
                      </a:r>
                    </a:p>
                    <a:p>
                      <a:pPr marL="285750" indent="-144000" algn="l">
                        <a:buFont typeface="Arial" panose="020B0604020202020204" pitchFamily="34" charset="0"/>
                        <a:buChar char="•"/>
                      </a:pPr>
                      <a:endParaRPr lang="en-IN" sz="13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0" marR="67741" marT="33870" marB="33870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98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F1FCB2-7B55-EDCD-A834-2EB939AFF61A}"/>
              </a:ext>
            </a:extLst>
          </p:cNvPr>
          <p:cNvSpPr txBox="1"/>
          <p:nvPr/>
        </p:nvSpPr>
        <p:spPr>
          <a:xfrm>
            <a:off x="550864" y="4950465"/>
            <a:ext cx="8820738" cy="131150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72000" bIns="0">
            <a:spAutoFit/>
          </a:bodyPr>
          <a:lstStyle/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Our implementation extends the Cityscapes-trained Mask2Former by adding,</a:t>
            </a: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alternate-batch training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encoder freezing</a:t>
            </a:r>
          </a:p>
          <a:p>
            <a:pPr marL="315450" indent="-171450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WAS/TAS-based multi-task learning to enhance robustness in adverse conditions</a:t>
            </a:r>
            <a:endParaRPr lang="en-US" altLang="en-US" sz="1200" b="1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D43CF-24DE-A3D3-5EEB-6FD7573C989F}"/>
              </a:ext>
            </a:extLst>
          </p:cNvPr>
          <p:cNvSpPr txBox="1"/>
          <p:nvPr/>
        </p:nvSpPr>
        <p:spPr>
          <a:xfrm>
            <a:off x="560912" y="4538256"/>
            <a:ext cx="8810690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 Key 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C11D1-3E49-0A8F-2B28-657BDFF9A41D}"/>
              </a:ext>
            </a:extLst>
          </p:cNvPr>
          <p:cNvSpPr/>
          <p:nvPr/>
        </p:nvSpPr>
        <p:spPr>
          <a:xfrm>
            <a:off x="560912" y="3467285"/>
            <a:ext cx="10945813" cy="86939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16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F5C1-6253-8A47-6319-37F69FE7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F66AA-5E9A-B02A-A189-3F9D785639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39</a:t>
            </a:fld>
            <a:endParaRPr lang="de-DE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AED289F-C213-9AE3-487F-5906F4DA59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1183862"/>
              </p:ext>
            </p:extLst>
          </p:nvPr>
        </p:nvGraphicFramePr>
        <p:xfrm>
          <a:off x="158573" y="858416"/>
          <a:ext cx="11709965" cy="4702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FDEE2934-B660-AE02-C466-B69FD235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118159"/>
            <a:ext cx="9753600" cy="327600"/>
          </a:xfrm>
        </p:spPr>
        <p:txBody>
          <a:bodyPr>
            <a:normAutofit fontScale="90000"/>
          </a:bodyPr>
          <a:lstStyle/>
          <a:p>
            <a:r>
              <a:rPr lang="en-IN" dirty="0"/>
              <a:t>Quantitative Results — Evaluation Result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38D52ED5-3DD2-4D91-4EA4-DFE8A4110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420674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Results which Mask2Former Achieves</a:t>
            </a:r>
          </a:p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555D24-76FC-CE8F-D9CB-70B80B67B73D}"/>
              </a:ext>
            </a:extLst>
          </p:cNvPr>
          <p:cNvGrpSpPr/>
          <p:nvPr/>
        </p:nvGrpSpPr>
        <p:grpSpPr>
          <a:xfrm>
            <a:off x="1121468" y="5547624"/>
            <a:ext cx="6881133" cy="875928"/>
            <a:chOff x="1130799" y="5547624"/>
            <a:chExt cx="6881133" cy="87592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8080FD5-553A-9D00-9491-2E307706DF25}"/>
                </a:ext>
              </a:extLst>
            </p:cNvPr>
            <p:cNvSpPr/>
            <p:nvPr/>
          </p:nvSpPr>
          <p:spPr>
            <a:xfrm>
              <a:off x="1130799" y="5547625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Weather data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only)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E98CA5-E13C-0B4E-DAE7-8760BDBB5EF9}"/>
                </a:ext>
              </a:extLst>
            </p:cNvPr>
            <p:cNvSpPr txBox="1"/>
            <p:nvPr/>
          </p:nvSpPr>
          <p:spPr>
            <a:xfrm>
              <a:off x="1130799" y="5547624"/>
              <a:ext cx="324219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Training Style   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9BF765B-A280-D76B-40A9-BEA352425AD7}"/>
                </a:ext>
              </a:extLst>
            </p:cNvPr>
            <p:cNvSpPr/>
            <p:nvPr/>
          </p:nvSpPr>
          <p:spPr>
            <a:xfrm>
              <a:off x="4769738" y="5561046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+ Adverse weather 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+ ACDC)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08A5325-D926-8C21-C63A-600717B29762}"/>
                </a:ext>
              </a:extLst>
            </p:cNvPr>
            <p:cNvSpPr txBox="1"/>
            <p:nvPr/>
          </p:nvSpPr>
          <p:spPr>
            <a:xfrm>
              <a:off x="4769738" y="5561045"/>
              <a:ext cx="324219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Training Style  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F97551-6D83-58AD-FB05-660056777C91}"/>
              </a:ext>
            </a:extLst>
          </p:cNvPr>
          <p:cNvGrpSpPr/>
          <p:nvPr/>
        </p:nvGrpSpPr>
        <p:grpSpPr>
          <a:xfrm>
            <a:off x="8371354" y="5574819"/>
            <a:ext cx="3242194" cy="862507"/>
            <a:chOff x="1130799" y="5547624"/>
            <a:chExt cx="3242194" cy="86250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10741EB-587A-A250-CB5D-445184A8E58F}"/>
                </a:ext>
              </a:extLst>
            </p:cNvPr>
            <p:cNvSpPr/>
            <p:nvPr/>
          </p:nvSpPr>
          <p:spPr>
            <a:xfrm>
              <a:off x="1130799" y="5547625"/>
              <a:ext cx="3242194" cy="862506"/>
            </a:xfrm>
            <a:prstGeom prst="roundRect">
              <a:avLst>
                <a:gd name="adj" fmla="val 3025"/>
              </a:avLst>
            </a:prstGeom>
            <a:solidFill>
              <a:schemeClr val="bg1">
                <a:lumMod val="95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1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16000" tIns="324000" rtlCol="0" anchor="ctr"/>
            <a:lstStyle/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Trained on Normal + Adverse weather </a:t>
              </a:r>
            </a:p>
            <a:p>
              <a:pPr algn="ctr"/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(CS + ACDC) + (WAS+TAS)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E03312-2998-E300-C3FE-DCF1D49B476E}"/>
                </a:ext>
              </a:extLst>
            </p:cNvPr>
            <p:cNvSpPr txBox="1"/>
            <p:nvPr/>
          </p:nvSpPr>
          <p:spPr>
            <a:xfrm>
              <a:off x="1130799" y="5547624"/>
              <a:ext cx="3242194" cy="338554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Proposed Training Style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9356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6B32-0FF6-95F6-1915-76E3B042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35CF2BBA-1C76-2657-651B-AB00D456BE9B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4B945-8A94-980F-28F1-3C546AA3D8F9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17D93-F59D-A8ED-F958-EF18912DE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40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EEF56-BC46-BAEC-89F2-1737356C1A9F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4145EF4-942B-57BC-22C5-0E7B1515830B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918305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E9FBD4D9-F7FC-E24A-801A-EB8EA46E6B96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305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D977404F-00B8-5A55-9E37-EC71022431CA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305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68ACDEFD-115B-135A-077F-33FC753524CC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305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14BA6F5A-25F9-AC2E-B41D-1AE5AD09D2B2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305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A5A199DB-F839-0897-9FAC-69FA3926D518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305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48B6F5CD-82D1-353C-1749-A5D1F5C2E660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CF407D1B-C64E-4024-9849-AB8601D61E67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FA78B149-BB9E-A083-45AD-4FC98B554437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DE6A8BE8-36B6-3B01-9AD3-F129EB5C070B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1C11C48F-9E8B-2B70-8A43-E43F5788BE6D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5EF961CF-B97E-AB46-69F4-C4DEFADDA4F0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D757AB0A-425D-2366-0E79-2207E150D3FC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91EF9BE-7024-302A-7BA1-BB3382FDAA69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379503" y="1044395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888BCA31-DF29-F05F-B39C-01689EFE7588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1577" y="3214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A73AECF2-02BB-DE3F-BF4D-CC7A5348752B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1577" y="430022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7C2E21A3-B52B-FDF0-8416-706A5A84D99E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1577" y="2129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2B349738-0192-426C-CBF6-DFD7EA3D5961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1577" y="5385493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C1B681FD-1AB1-8588-0381-95AB3C37E522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9503" y="1044395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5DE67B9-526C-A77C-224E-2ACBA9629C5D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6522945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8DD7BB77-ED50-D626-60E9-73D4D5992D84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2945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83F32FE8-79C2-C668-08A1-6D25F1011399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2202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89CA3159-6C17-AB8B-DA2B-14EFDDB9F1DA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2202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4106AB01-159E-62D8-F315-23405F271D58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2202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636D8D69-6114-60DB-45FF-3849BFFF7736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2202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C1A4956-6161-C05E-F4C9-6F37D53E8108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228425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A5CB8DE2-5012-F699-B231-E5CBE82EE06B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425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51A3A54F-DC03-A1D8-7F75-C7DCE27FB36C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426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73EC8B85-1944-9DF3-2996-3E9CED6D53F0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425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5062AC6A-8261-6F3A-6E76-3F5497597DB4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425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814CEEF1-832C-578D-8D29-7156F9595C00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8425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D240BEF-B834-831F-8AA7-C89316ECD943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CAAA26-5545-C6DB-12B3-0964466D989E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89CC9B-BCC8-A0E9-2915-5BCE993308EC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5C7764-D230-0B65-08A3-B9C556E79239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DC6FED-72B0-5354-B184-B96989B755AA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50B9EF-6ACA-8D21-CAF6-17869C1E2B51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1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B59A4E4A-6C4F-4FBA-8CE9-C099E16F2FE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3" name="Picture 2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4C9D6F61-16FB-1CFE-D438-AAD03E067DE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4" name="Picture 3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61C81B7B-3C85-A57C-C9BF-C2EBFD098D1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6" name="Picture 5" descr="A road with cars and trees&#10;&#10;AI-generated content may be incorrect.">
            <a:extLst>
              <a:ext uri="{FF2B5EF4-FFF2-40B4-BE49-F238E27FC236}">
                <a16:creationId xmlns:a16="http://schemas.microsoft.com/office/drawing/2014/main" id="{024F7BCA-5207-387F-4015-32A1A72F145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7" name="Picture 6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2B426B58-CBAD-AEF7-E847-4473EC7C62B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B0EFE5-5A94-3242-A092-355E85D389D6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8FEDD-78CC-1B80-866B-E4CE559C48E4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908BC-5408-9DF0-64D4-35902B48FCD9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3EA2E98-5972-BBF8-500C-52B06C6808AA}"/>
              </a:ext>
            </a:extLst>
          </p:cNvPr>
          <p:cNvSpPr txBox="1"/>
          <p:nvPr/>
        </p:nvSpPr>
        <p:spPr>
          <a:xfrm>
            <a:off x="244325" y="9398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Qualitative Analysis</a:t>
            </a:r>
          </a:p>
        </p:txBody>
      </p:sp>
    </p:spTree>
    <p:extLst>
      <p:ext uri="{BB962C8B-B14F-4D97-AF65-F5344CB8AC3E}">
        <p14:creationId xmlns:p14="http://schemas.microsoft.com/office/powerpoint/2010/main" val="1913555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2E0EE-0037-CC8C-70AC-E467A66B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CFAA66D-8814-3E69-56BA-12474D393C0D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F8CE52-E279-9A49-3184-23CBADE3EA66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3987A-8AB5-F2FC-2DB9-7F8B6C06C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41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44D14-4353-9B69-D66C-CB81B8A6DDBD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3562AB-6957-542F-A9A4-05BD9F350F76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F1FE7F80-1938-462C-78A7-67981A1C48DE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214404B9-DB8D-AAC3-DB26-04261259F328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C03FC237-6D59-3308-8DC6-54C340C4EF75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39874376-7326-D61D-CC54-1C9A9928B4E2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D92E1AC9-0004-3464-A3CE-109CC2F61584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B887F8C7-1909-A9B0-4EAB-BD546E68CA75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4BED06B4-C08E-B6CD-75C6-3B8756D86523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B297272B-ED3E-B599-0081-0CC80CFBE887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5C51100C-D348-BEDB-2BB7-2E4BC3397330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A89C71A6-B028-3DDA-2545-2F4FA664B2FD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7938C039-76C6-6487-7BBF-9E62CC2CA735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D9A7946C-7B18-6377-7B60-FE22D829012C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95A1DA5-78D7-C37A-E984-53DF144EA1B6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F1A16405-CC51-F9DB-3D35-C9C2A896F595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E29A7D8B-2408-CFDD-9628-E75BAC1DE150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BC7612C2-29AE-20F0-0413-B6C0124233D9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06E43C26-79FB-73DB-9888-A474E1C33B65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EF4B2BB9-B690-B7E7-3EFC-EC9AEE39231B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72768E-314E-64FE-C93A-E8CE65F27360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197E7F26-355A-CFDA-FD7F-E9A25DCF515F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2D8474D4-6E54-29B5-3170-326031E6AAF9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19C813D9-FFE9-5C3F-6FA7-902B85A238A5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986E19C1-FD6C-40EA-1F26-DC7F7FF98344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AA64D12D-FD2E-53A1-A632-3C3409441F83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57" name="Picture 56" descr="A cartoon of a street with trees and street signs&#10;&#10;AI-generated content may be incorrect.">
            <a:extLst>
              <a:ext uri="{FF2B5EF4-FFF2-40B4-BE49-F238E27FC236}">
                <a16:creationId xmlns:a16="http://schemas.microsoft.com/office/drawing/2014/main" id="{06C97B90-BD93-8B69-E62F-5654771AD354}"/>
              </a:ext>
            </a:extLst>
          </p:cNvPr>
          <p:cNvPicPr>
            <a:picLocks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425" y="4295358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58" name="Picture 57" descr="A video game graphics of people walking on a road&#10;&#10;AI-generated content may be incorrect.">
            <a:extLst>
              <a:ext uri="{FF2B5EF4-FFF2-40B4-BE49-F238E27FC236}">
                <a16:creationId xmlns:a16="http://schemas.microsoft.com/office/drawing/2014/main" id="{3E87E487-AAEA-3F17-F9F0-AC194CA416F1}"/>
              </a:ext>
            </a:extLst>
          </p:cNvPr>
          <p:cNvPicPr>
            <a:picLocks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426" y="214451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59" name="Picture 58" descr="A cartoon of a street with cars and people&#10;&#10;AI-generated content may be incorrect.">
            <a:extLst>
              <a:ext uri="{FF2B5EF4-FFF2-40B4-BE49-F238E27FC236}">
                <a16:creationId xmlns:a16="http://schemas.microsoft.com/office/drawing/2014/main" id="{6921BF23-8C02-9360-DDAF-0CE857A089F2}"/>
              </a:ext>
            </a:extLst>
          </p:cNvPr>
          <p:cNvPicPr>
            <a:picLocks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425" y="5370777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60" name="Picture 59" descr="A video game of cars on a street&#10;&#10;AI-generated content may be incorrect.">
            <a:extLst>
              <a:ext uri="{FF2B5EF4-FFF2-40B4-BE49-F238E27FC236}">
                <a16:creationId xmlns:a16="http://schemas.microsoft.com/office/drawing/2014/main" id="{FD249F72-C869-7FEF-13EE-4DA3922BD503}"/>
              </a:ext>
            </a:extLst>
          </p:cNvPr>
          <p:cNvPicPr>
            <a:picLocks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425" y="1049538"/>
            <a:ext cx="1759483" cy="997047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61" name="Picture 60" descr="A video game of a road with cars and buildings&#10;&#10;AI-generated content may be incorrect.">
            <a:extLst>
              <a:ext uri="{FF2B5EF4-FFF2-40B4-BE49-F238E27FC236}">
                <a16:creationId xmlns:a16="http://schemas.microsoft.com/office/drawing/2014/main" id="{65266BAD-E84D-DB8C-9469-F53676466C41}"/>
              </a:ext>
            </a:extLst>
          </p:cNvPr>
          <p:cNvPicPr>
            <a:picLocks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425" y="3219937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3285C55-5204-02F4-4863-977A8EBEDCE3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5B69BD-0CB3-34F8-D7FB-6DFACD9770CF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49C11-892F-0DA5-FF40-5A2BADECD7CD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B1CB3A-D5C0-7F92-68C2-0BE3D6BA24AC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FA58E1-9208-3AB7-3F43-FFFAC9E9EF79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3138FB-35AA-B8F4-F6D5-F93FDC254545}"/>
              </a:ext>
            </a:extLst>
          </p:cNvPr>
          <p:cNvSpPr/>
          <p:nvPr/>
        </p:nvSpPr>
        <p:spPr>
          <a:xfrm>
            <a:off x="49765" y="270906"/>
            <a:ext cx="2682005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270F36-DA99-AEC9-F612-B846F8A278F2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Picture 1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63DF987C-286A-967A-466C-22F103B86F7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3" name="Picture 2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16B54E1D-0049-4009-D42D-625A8A1539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4" name="Picture 3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1A68690A-1C65-886D-A966-D01D34DD495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6" name="Picture 5" descr="A road with cars and trees&#10;&#10;AI-generated content may be incorrect.">
            <a:extLst>
              <a:ext uri="{FF2B5EF4-FFF2-40B4-BE49-F238E27FC236}">
                <a16:creationId xmlns:a16="http://schemas.microsoft.com/office/drawing/2014/main" id="{9D4807E7-47ED-FF05-D038-93552F2C4E9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7" name="Picture 6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244A348C-9FE8-AF6B-E44C-62C90FC46CF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B1CF81-418E-5244-E603-42D35A542131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92DD2-9F5F-854F-1115-6EBEBB57DE91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5BB1A-1950-27E0-3E1E-01DA186B7BFC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</p:spTree>
    <p:extLst>
      <p:ext uri="{BB962C8B-B14F-4D97-AF65-F5344CB8AC3E}">
        <p14:creationId xmlns:p14="http://schemas.microsoft.com/office/powerpoint/2010/main" val="257744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DB14-5778-FB68-0ED9-2B7B9425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98C301D4-EFD4-56C1-FF35-D9161D0DB25D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5DD339-14B0-75ED-2C4A-9A916D2D29C3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4158A-722C-84DF-6ED8-10F76BE02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42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9B8A0A-667A-E259-3DB0-47B034E4CFEB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DE174D-1D1B-401B-67D3-ECC874B83DC7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829EE3E7-F0CF-B87A-01F2-49F56AE07F0E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8B5738C2-9A3B-8F34-986B-8FFDE1DAAC82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5CEFF393-62F7-6076-80D1-8A979C7FF489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66837DE5-1DBC-9D51-0BAA-61AF3324836A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47D7DB07-5474-13E3-103F-2EAD8FA5DD4D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79CCD451-B2EE-1F56-3EC7-3E3B028BA7FD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EFA21C9A-9019-5B5F-D859-BA8EC7BDEFAB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1F5AB84A-CA85-4C85-1CA9-E1494E459BE6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1951EB43-59AB-E6B4-433B-3C203FA8D151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9D062C19-A5E4-B361-D256-4280A6540F2F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2562605-FEDE-2A0D-D25B-7A50887206B0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72F955D6-6C91-1FBF-DFDE-A31811CA22D1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9720D8EB-1952-FF0E-2C26-C7505BB6BCAF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F1EDF873-9EDA-ABC7-0777-181E107B5677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CA34A00C-6741-EAC1-18D2-AC85BB73268D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65B07D27-A937-1A63-8FA9-CF36EEE888CF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443213-EE5B-5B14-D3BA-9C418D62B774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F2E87A23-67E7-6FB5-25CA-AA4C41120B93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5F254A1D-8F27-D0BA-5E37-EE18584614D4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72D5A4F0-18DA-B46E-3D55-1D70834A7D96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840FBB30-253A-AF1B-43FF-74A34B0DFDF1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14E9A47F-47E3-A438-8767-A813B54EF8D5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6879A2-9F84-AF28-61C4-85595427E6A8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4F865426-0A82-408E-6D13-8A83F133214A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8D2BE01D-D9A0-8830-6A90-5A358D799DCE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0595CC76-8A9F-3037-1171-86AB73281B8A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3E0B5CA0-9D34-BBD3-A2BE-D0F31F66911B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E7738CE6-296C-81CE-DD0D-105D5A8845E2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A9033CE-FD01-49C8-F59C-EA1B03528C5E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38E4C-8BE8-6AD4-F8DD-ECE4F1E6D48B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1E92D-5439-2F2D-09B6-E5E732C6CE5C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C8D5E-8F62-C5A5-2753-18E6F4BC572C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69594-D23D-E1C8-FAE5-2FC0E25865DA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9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B68F8F2F-5888-5310-CCE1-A741A871EA6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1" name="Picture 10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8AD8BE99-72FC-1798-8B08-FF9EE8891BB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1CACE391-0C0D-E2A6-01FA-82587B2205D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cars and trees&#10;&#10;AI-generated content may be incorrect.">
            <a:extLst>
              <a:ext uri="{FF2B5EF4-FFF2-40B4-BE49-F238E27FC236}">
                <a16:creationId xmlns:a16="http://schemas.microsoft.com/office/drawing/2014/main" id="{72856095-0591-C050-E1CE-E76E0BD0482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CCA6027D-5539-4723-9B72-4652D50AAF9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1C971DD-0755-E40F-4A8C-A05F1EE31A1E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49F5E-C998-471B-8B80-81E2BC6C25B0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1B38D6-742D-7D8C-F8B1-4220BBC19367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A42801-245C-02A1-8F03-995EC189E855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06EB51-6464-264F-6745-A540DA93705D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566AEB-F0BF-F47E-9F48-3F32F950A8C0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852059-3E7E-A4F4-C389-07FD59280B67}"/>
              </a:ext>
            </a:extLst>
          </p:cNvPr>
          <p:cNvSpPr/>
          <p:nvPr/>
        </p:nvSpPr>
        <p:spPr>
          <a:xfrm flipH="1">
            <a:off x="2731770" y="270906"/>
            <a:ext cx="1880462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610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0569-9113-9D5A-6507-ABF31803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B28B2043-F154-D245-631F-38B13967E531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6B51C1-E637-2D66-BFB6-AC4EF2DDE888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F152E-7E82-DA11-CDDD-369A7C3BB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43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8ABADC-A4D4-3ECF-13FF-23CEA0E05E95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FAC30F-D1B0-BB2D-A4AD-6B423FEFA249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F23AF465-9DC7-6E04-A15C-3A868FCE06E2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7CE32A18-3DAB-B57B-1281-D369CD36BD23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DE0A2040-3658-BAF4-A70D-D5EE609050AB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72CD066A-7EB0-1FE5-3D83-E5F901FF74C9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2C507B03-7DCC-2925-DEE2-84F56A664447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2927CFBC-88E8-6A6A-5F52-790527CED573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67D6C902-7F48-3B99-6596-78F1CAA0BAC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822B6E6E-2546-A481-66BF-09E2B274A59C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5C693BF8-B05C-6C6D-FD94-13ED6392D7FA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72CE3A29-9153-0FA4-2560-953932BB001C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7EF743E-2FE7-0927-E446-18F67C6B400A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CB54E930-FAEC-5413-3289-E5ECB8FED0B3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F09268BE-ECF4-32D1-17F7-A8768B0C2408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253204C9-13C2-3AD5-F9FB-B10891670298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B9400C55-4883-826D-77F7-EF5C50F391B6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F41BC262-F677-5705-EA25-ACF9B043EBD5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3DA6FA-564C-4F7B-ED1B-5A25C6E71396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19D7F3E7-897B-C4B8-3B1E-61C38AC99FEB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40575FEE-8AB7-897C-EDDE-492E256E58D2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BB974899-1E8A-DB9D-37DC-C6426D929912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9BE663AA-CFF7-0A32-E95C-6626A0919293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5B2E4D22-31B5-C78E-B77F-581391228F3D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C5C377-E4CB-E594-FC54-D7B6A304EF02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A1058D3A-5E86-85ED-3FD5-D20A0911A03C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A88A4B4C-CCA9-6B48-D136-BCE95504079A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A90F6F5B-C848-0B0B-B16E-32DC96A38563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6299FFF4-3C76-C265-25FC-A0EA17313CB6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3E63C705-1925-D7EE-04C9-3A00B7B9A9DE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B8FBC4F-1587-91B7-DBEB-DE9E960C119B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3D0C7-6CEF-F202-8999-D07399081FAD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50907-BCA8-8CB4-71A6-BEA99589340A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B6890-81A3-ABB6-6058-8E38FBC75DE2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1A0C4-DF99-D0FC-5773-A69D7292C12C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Picture 10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8C32FA43-2E26-A0B4-103F-543088CF5F0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4FABC4A8-C3E9-53E6-2476-1D1E9062B53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AA884BE6-58B0-1EF0-9FFF-42230A414BA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trees&#10;&#10;AI-generated content may be incorrect.">
            <a:extLst>
              <a:ext uri="{FF2B5EF4-FFF2-40B4-BE49-F238E27FC236}">
                <a16:creationId xmlns:a16="http://schemas.microsoft.com/office/drawing/2014/main" id="{2E89E387-8458-71D8-B369-05EF955D895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5" name="Picture 14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A0C0E28B-A129-86C4-DFBC-73D4B404F6F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0BF2C6-36B4-3AD8-9678-959F9B77ABA3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559E1-79C1-54CD-DE7D-172666DD3B40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A7210E-C21B-9B9A-D422-E0B8C68C0FD0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58F273-153F-4607-E21D-5D198BB72F3A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CED08-61D1-D93A-23A0-4CC5CEED636B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D751D8-D1B8-FC2E-7098-6AB319BBFE62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338EF-AF5A-5B05-7A24-641ACDDE5F10}"/>
              </a:ext>
            </a:extLst>
          </p:cNvPr>
          <p:cNvSpPr/>
          <p:nvPr/>
        </p:nvSpPr>
        <p:spPr>
          <a:xfrm>
            <a:off x="4612232" y="270906"/>
            <a:ext cx="1870996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6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AD7B-69BE-D19A-54D8-DC06C14F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44E0344F-F1E7-1FEE-3F2E-F2FE7A552366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95D4C5-A8FB-8CA5-65C5-C3A1C7FA2457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6F25F-D124-FCA7-4996-BE7ACA705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44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821BCC-5729-61AB-FD31-88CAEAB80DAA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82CB9E-9F01-5C3C-BEB4-C0F687535FE4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B78F2242-55A0-A4FD-54D9-536223A3B7D8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EB0A1CCB-4A82-C781-6FB3-96359C5C3987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B4E4850C-60F6-CFED-4CE2-092F0AD2D920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6A7FA333-7173-8598-23D8-BE74CD9B03F9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D408A2EA-4FFA-9996-1D05-98F068E0C713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4CD98425-B857-4706-632F-312EE73C2725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43A0E767-F6B0-BBDA-17B8-14814CDF6754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AA730543-C7C4-601E-C12E-71A3E63FBE25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27B6EC9B-BB9D-8BE9-4E46-DB25F38B3D66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4BC4BF21-EBCC-B16E-BB13-57A1AA56310C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CBBCC88-66E4-58DE-16B5-70B8C800F6F3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73BB0164-9470-E4D8-774C-4D6A8238341A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D1599270-05DA-990F-649E-CEE70A3D994E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C7A62085-2D9E-3165-F0F8-5AFDB6AF3C88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766B46AA-631B-E35E-D665-6CCFA6430B3B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F2D82A31-EA75-54E8-8D74-C21C600FCFA2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77F0CE-13EA-971E-5D8B-8AC2303E538D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1DB2A08E-3A20-4CDE-0487-5591D8423213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699C80F8-590E-CDB3-4D7D-24C7CFA04AC0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75DF3D67-557E-B9CC-4C40-2AD15AA955BA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0F3192C1-74AD-22D9-C2D8-8E95EDBE9927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454191AA-AC7F-E149-8842-4BD21E0E71D8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5C39AA-F983-2563-EA41-489FECE82360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4C2111C7-C2DB-9694-9954-EDE885D78362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210727E6-CA7C-61A9-F46A-D9DCAAD45FE8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DDE9D348-79BD-0B44-8A17-96A20A0BC11B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99E0A426-A366-35EA-9C0A-BB32634FD762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55B343E3-F9A0-0D3E-229A-9593DB779D9B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E65E82-25AD-E566-522D-CAE3EF6090BB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AB5FA-F122-391A-A0C4-2F4249F02AE3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AD41F-AD2B-8C3A-4071-9EEC3D43AFD0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EFBD3-8057-B0AD-7416-11B496438E57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A4240-19E7-BF15-6713-2A314D10D986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Picture 10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606D314D-4212-B3E1-ECBA-89C22879500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D98EE6C3-8518-3B7F-E76F-42AA6E0E1D1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5B9F6F75-1F61-7B56-9EFA-4188A219CEA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trees&#10;&#10;AI-generated content may be incorrect.">
            <a:extLst>
              <a:ext uri="{FF2B5EF4-FFF2-40B4-BE49-F238E27FC236}">
                <a16:creationId xmlns:a16="http://schemas.microsoft.com/office/drawing/2014/main" id="{D9375529-54C4-DD5F-A2E7-409E8F1F8BD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5" name="Picture 14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48220F89-BA92-9D8B-EBCF-D5DBBADA2C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3041CC-039D-E563-8A34-42442563FFC8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0EDE57-70F2-B1D4-57D3-E81EE2149219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39378-F852-6752-7403-B50B4217B037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E22DD6-8EA4-B5E4-12DD-12EC1E38DF00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57AE78-FE2C-C40E-67DD-5DAE3A6F6417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2DA38-4B7B-D8CA-4DC5-9626D032B43B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402193-A7AA-D90A-C0C2-0ECB0B64D3FE}"/>
              </a:ext>
            </a:extLst>
          </p:cNvPr>
          <p:cNvSpPr/>
          <p:nvPr/>
        </p:nvSpPr>
        <p:spPr>
          <a:xfrm flipH="1">
            <a:off x="6483228" y="270906"/>
            <a:ext cx="1869926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59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233A-5CD7-362F-9DC0-D670C2AC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16E3DD75-9A16-CADF-EC51-993D094CF419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372D39-0FB7-4542-7639-97CF24FDD199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6FDEE-4A33-8646-27FB-8BB4E91B4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45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1319E-8122-730A-12B2-0EB317374A09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82FC20-C78A-9FB4-6977-5AC85D7B0CDE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91F2B8B9-36AE-674F-0306-6398375BABB6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CC2ECBBC-AD2A-B81B-AC10-F6FA0D2B6569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8C25A02F-3D40-9663-B519-DD25405F33C0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6B911FF3-F59C-BF40-FFA3-BD512108F75B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5CDD1C53-B766-B233-618D-EE31979421EF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E25D4EBE-FB46-7C04-D1CD-E5546C1D9084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6671A0C1-A524-E6C7-03D8-27DDB5607862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9DF8EDC2-11A3-E94B-B9CF-59DB54515D91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786B2EA1-F91E-8905-C3C7-C80EC336A79C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1CFD0E07-F4CC-90BC-5356-3864F45144A5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5203BD6-B8BB-810C-86C5-FF8F05EC22A7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E597AEE1-261F-620D-8CE0-68E3E1D8F300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F7BBDF56-0F1E-7956-C074-EBBACFA2A9FD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21BBCC05-79D6-34AA-4E65-D4E20F424016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1DFFF23E-0FE6-DBCC-7CE4-5CE96A2E6205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7BBBB5A3-0FEF-1E8D-71C4-89A1330C3CE4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D511DA-E4C6-3C0A-1CA4-F9D4E4B0F3CE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DD5A96A4-9BB2-98CB-CFAC-3EAD9BEB4412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9AD07C5C-E955-D8C1-AE43-DD9FBCD52371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D92938FE-6180-A095-5ED5-C771D8154911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C30BDF74-BEA5-7FC1-7263-48DF08D8D9DD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8B9B975F-E75B-F5B2-A2FF-D4829212C5B1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6489589-9F45-632C-25D8-C7C5360021EF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589C1152-2E4D-FD61-2F10-EDFD5F0DABAD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309B1EDD-71B6-3013-DC4C-31855F074653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EA35708E-6DA8-4126-4B43-294A009FEE4D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510BF8F4-8EEB-75F5-434E-2692E53E3563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B82DE972-9527-C8F9-E738-EC75C9524918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9877CB-A084-82BF-23B9-B7828C6088AA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68F94-C7D9-A84D-3E27-40409342DEEB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9F455-2F77-C571-513E-B30C5AE93455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0A000-8C27-EFD2-FA1A-17EA92A7C4D0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76C7B-01E9-15B7-6D00-E4D8033A767F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Picture 10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3F07B8D4-937A-C1C9-E907-96576911155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D935AA8F-CB2D-DB8A-9CA3-56888EAE9C9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A2487048-60DE-FD79-4B16-9F55B81518B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trees&#10;&#10;AI-generated content may be incorrect.">
            <a:extLst>
              <a:ext uri="{FF2B5EF4-FFF2-40B4-BE49-F238E27FC236}">
                <a16:creationId xmlns:a16="http://schemas.microsoft.com/office/drawing/2014/main" id="{ED29400E-D7E2-9A4F-517C-A2775898559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5" name="Picture 14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9EF5BB15-7D06-EE9B-F454-861A82A11F3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FD4922-77DD-1911-EA45-B6FAF424D4B5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106F6-0510-ACE4-00E4-DFCB4A3FEBC6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DD651-5D74-3904-A7C3-48782BF754E0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9A0715-C454-92EF-DDF2-C86683E04CFE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555024-F5F1-5EEA-5E92-6DAE58C3472E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AB4D1D-44EE-5B2B-3DC1-B9F1D544E2AF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BD47C0-18AC-521B-D91D-01E2B3A15D07}"/>
              </a:ext>
            </a:extLst>
          </p:cNvPr>
          <p:cNvSpPr/>
          <p:nvPr/>
        </p:nvSpPr>
        <p:spPr>
          <a:xfrm>
            <a:off x="8353153" y="270906"/>
            <a:ext cx="1829072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39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A988-298B-4C9C-79FB-0DFDE63C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E3D52377-C1C7-0A19-0372-308AAA04E5DD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418640-466E-DC2A-916F-F600202E899C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5DDF3-B894-8CC6-830E-9CADCB48F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46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3E8C2-654D-13BA-1BBC-567BF9ACED4A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DD7ADDF-2E1C-CB0C-0E7C-4EF4AE37DEB0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4B669C7B-1943-1F4F-AEA0-33396883377B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127BC1AB-9E2D-76AD-C40D-B72DD0E3C78A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D318A74F-7661-FA96-01D6-ED2F1DF779D0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C3E1F6EB-6928-EBA4-36A3-2D76342421B9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197FEBA5-DDA0-D3E1-0077-D6D1C8D4BC85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03F10D45-649C-1BE0-70EC-AF30CC854E76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2E70756A-9AF6-8F92-CE8B-3D5D78624549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2A64196D-B3B6-590C-BD9D-24C9B53BD3B3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05F6060C-39BD-4399-2072-76163BDD9D3F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5A21E168-1DCF-3AC4-D005-42E499876DFE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B74D3D7-66B7-D4DB-BFBD-03CD64B61E82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417CCB54-3674-767C-4126-28A4A39C190D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32762DA5-9F14-CE2A-939C-C68C27B3B4E6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5EF211B3-78BC-515E-6B20-C1FEAFFDF465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88B45279-C08E-FEF7-3B89-9F92E26A5CF4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666AE997-82F0-99B5-3DC8-DDB6E91DB318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F1F172-85F5-D4D7-ED7E-ECB2B091A07E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3F28816B-D88E-1DB2-3A7C-F71C17177D5E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5A9E988E-1B11-A0B1-33FC-7BD416840D1F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346869C7-CC91-3A68-C12A-AC3F866D0FEE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99C22C2A-87DE-6D7D-FA0E-0CB6D7ECFB80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598F5574-C69E-9C71-A010-EB7A847515B8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96B158-7391-956B-A954-3DBF2A8C129D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0085A5BB-5C2C-0447-FA4E-9BDC4E4C56DD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90A53F75-93AE-2F9F-FDB7-27A50104C687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2D965766-7CAA-F161-52AF-2388F27EBC23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ADF00A03-6D19-6AAD-FBB7-88F5ED8FE55B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6CC067F2-0493-4CA3-89AE-94A2A28B0203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1053B9-A057-9C29-4A3D-A872B9B73486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3D76F-AADE-192C-967C-CD3E4EFB3B5D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E0A63-F64C-63FD-44C5-95837A6D1867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BAD24-80CC-7BFA-73DC-84B657B14C5F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8CC39-38BC-2013-EA6D-E141D65FFC78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Picture 10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CC551111-7204-34F2-F727-267EE61E54C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8F12050C-EEB7-5157-E467-FE0E6A50570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E57D1055-1116-187D-6AF5-942098645B1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trees&#10;&#10;AI-generated content may be incorrect.">
            <a:extLst>
              <a:ext uri="{FF2B5EF4-FFF2-40B4-BE49-F238E27FC236}">
                <a16:creationId xmlns:a16="http://schemas.microsoft.com/office/drawing/2014/main" id="{92D9F1B9-6EB5-992B-7F9A-48EEB9D6FAB1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5" name="Picture 14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EB99C1CB-AF38-9E0B-43CE-80EF455B9E4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263A4C-9411-D050-4435-3826FB244973}"/>
              </a:ext>
            </a:extLst>
          </p:cNvPr>
          <p:cNvSpPr/>
          <p:nvPr/>
        </p:nvSpPr>
        <p:spPr>
          <a:xfrm flipH="1">
            <a:off x="10182224" y="270906"/>
            <a:ext cx="1893049" cy="628275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D0F98-4DF7-31B2-1079-41C106E8648A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744D1-9139-5CA8-5DA2-1D3401F2DAD9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69BEC-D2AE-4A47-4518-F49A3540138D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11864-E849-C923-72CA-054D08C8E44B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9EBC1C-0A8F-AA7D-E871-20183064B47B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96CC5D-D226-74ED-0FE3-1C3144DE78B2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</p:spTree>
    <p:extLst>
      <p:ext uri="{BB962C8B-B14F-4D97-AF65-F5344CB8AC3E}">
        <p14:creationId xmlns:p14="http://schemas.microsoft.com/office/powerpoint/2010/main" val="1878085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BC98-4690-1959-274E-01C680F6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E6320EFF-EF74-D4E1-2FE2-9E521E62C3BF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48413E7-3C69-1E26-0E17-44E7DFA17BCD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BB671-1F27-1CAB-7F20-9B626CF80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47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DFEA6-7C7C-C6B9-DD1E-81EBF8F0AE8D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C5E995-E1DF-0CD9-BDBA-371F77B7A264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4A78EDBA-3B10-3B9A-C6ED-69AF50C2988E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DF5F2207-CDBC-7559-BF9A-1E2BA31BB698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E57DDAC4-4FB2-15D4-B146-5776151FA9B9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94AAEAE8-4CAB-0898-DDDC-856441A9CEC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8F38B021-C72B-9CDB-CF08-4A72D8ED6A83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21889C72-D26D-BEC7-3337-3C9A3B95C035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35EFD49C-5FC0-BC1E-A3CF-23DFDEEE299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5F3FCA52-F3BF-75B9-24DF-3A4C9B497237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FDE86EAA-5F50-8FBE-739A-51E588DB3AFB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93BF4E8A-B34F-9E89-4056-5D48ED445DE2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B82428A-5F70-298B-24FD-0B23779F3E87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34B18F40-C2E3-66E8-69F2-1DEE7D8EA748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0982C9BF-D5E5-E868-54DD-5F08D7708A67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CD3500C8-B9F4-EACE-3B66-C4A99434A1B2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084F1EE9-DE75-ED20-942D-69867982C25D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11B48693-CBA1-0142-68C1-743690EBD260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CC90E9-33DE-E15E-EB4D-5EF3427D6BD2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7741ED34-32D5-BECC-F56D-53A948F4FC96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A37DD9CA-997E-3E8A-7C5A-29CE0703C7E1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AECF79C6-4751-5ADC-D712-00105A6691B5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223B6719-B1E0-6E44-0ED7-E79609074DC3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AB65CA9E-B329-D9E6-4D2D-C14B29816991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C66CE3-1781-49C1-146D-86CA225E0EF5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8DB4B8BD-B123-64CC-B77D-5FACA44347BC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58F185E4-93AB-AAF3-FBB4-B1636E8330BD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2139E475-1F98-AB51-547F-6D56D6C99CF1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4BF032F9-8D34-B496-68C0-FF214FB776A3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C4618E06-21A8-4468-4366-CBBCC60EF692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4E80E7E-299F-C2E4-A917-AFD1AFD69535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ADC20-52C9-E18D-CE5E-C53FDC1846E8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3B68D-89F3-29C3-0C42-20AAFA71A8CB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67F1-D592-1265-3532-F915F7835848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91B20-5A08-DAEC-F418-010467584F72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05586-93D8-8A7A-D807-02C9D326427F}"/>
              </a:ext>
            </a:extLst>
          </p:cNvPr>
          <p:cNvSpPr/>
          <p:nvPr/>
        </p:nvSpPr>
        <p:spPr>
          <a:xfrm flipH="1">
            <a:off x="38100" y="5318760"/>
            <a:ext cx="12011660" cy="1095899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4C26F145-2DFB-BD3A-8803-F8182BA8840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585AA6FB-C81F-FEF8-F417-101C36C29D1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70302534-8D1F-0638-57BA-1B13C2E4559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trees&#10;&#10;AI-generated content may be incorrect.">
            <a:extLst>
              <a:ext uri="{FF2B5EF4-FFF2-40B4-BE49-F238E27FC236}">
                <a16:creationId xmlns:a16="http://schemas.microsoft.com/office/drawing/2014/main" id="{3F79CEF1-8659-6D1F-6A6E-06B01D6439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5" name="Picture 14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7F886558-1A51-123B-804A-B131E25A983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29F7171-E0B5-2429-EFAB-CD31799C070E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58B165-7DFF-A661-457D-A328A60D607A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C216EF-FBD5-9C53-FBA1-231AF001A805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2471FE-6440-9480-B706-72B77BFFC4FA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3B33C-CF1F-EC8C-9B5B-C6CB668F6B9F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B694E9-5093-8A89-8AAE-E8E27E62F6C7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0860AB4-2A45-BCF8-580E-9BE960CB84E8}"/>
              </a:ext>
            </a:extLst>
          </p:cNvPr>
          <p:cNvSpPr/>
          <p:nvPr/>
        </p:nvSpPr>
        <p:spPr>
          <a:xfrm>
            <a:off x="3665220" y="5843279"/>
            <a:ext cx="316051" cy="84109"/>
          </a:xfrm>
          <a:prstGeom prst="right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3524160-6FC4-0B4B-792C-DD181A1DA925}"/>
              </a:ext>
            </a:extLst>
          </p:cNvPr>
          <p:cNvSpPr/>
          <p:nvPr/>
        </p:nvSpPr>
        <p:spPr>
          <a:xfrm>
            <a:off x="5553068" y="5832183"/>
            <a:ext cx="316051" cy="84109"/>
          </a:xfrm>
          <a:prstGeom prst="right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4C05CA8-2705-ED09-9585-9E4C4740E02A}"/>
              </a:ext>
            </a:extLst>
          </p:cNvPr>
          <p:cNvSpPr/>
          <p:nvPr/>
        </p:nvSpPr>
        <p:spPr>
          <a:xfrm>
            <a:off x="7366222" y="5807782"/>
            <a:ext cx="316051" cy="84109"/>
          </a:xfrm>
          <a:prstGeom prst="right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20DEE2F4-81AE-3275-527C-95A7F0355E2A}"/>
              </a:ext>
            </a:extLst>
          </p:cNvPr>
          <p:cNvSpPr/>
          <p:nvPr/>
        </p:nvSpPr>
        <p:spPr>
          <a:xfrm>
            <a:off x="9234384" y="5831731"/>
            <a:ext cx="316051" cy="84109"/>
          </a:xfrm>
          <a:prstGeom prst="rightArrow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93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60BE-050A-88E3-462D-8E9A66E7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01DA5BC8-E9F7-2D72-33DE-33EC97BCC5FA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43077E-9700-27E4-172F-289ED5E697A4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F0726-4AC6-0F06-432B-0F924702F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48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07A963-D4B0-46BF-97D2-D2D31FA1E7A8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1D684E-C716-2E33-6A08-E144D39E5735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BFA1ED85-F2F7-D68B-32AE-6530BFEF59ED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D1853B31-F7EC-A960-83AC-61C2A8CE6867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E450E533-E479-12D0-64DD-831657D4EA98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B8573491-A0DE-8C35-78F6-3A475566B66D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46E0F6C8-D55C-4CA8-F7E1-5D2011B8A7FE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E3AEB29D-F5E7-8BDD-5677-5BE6AFCBB488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04A18F34-0F63-9C5F-533D-83F9C3B35867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DCD7E15E-743D-D3C6-A6EE-2B19B91C1AF3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5024E591-3362-7F81-602B-A737169DF336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F2AEBEE6-9F7A-FFD4-47D6-329DED5168D7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3944430-390E-28FD-DE26-6F132B3E171D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56675F25-EF6B-A6F1-2660-59223328A828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E915E068-A987-E38D-6468-D935B4F9062D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3B3FBCBD-2FAD-4AD3-FFCD-07A23C1812EA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51AFB412-047C-D1D0-A9CE-41765D1720D4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DA5DD5FD-35AB-7E5A-C149-01DF396EC476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4B98FE-909E-A311-2509-F274C152012E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97529EAE-AEF3-D740-CE1D-4AA3823A056A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057FC842-B03F-CA88-3AC7-037A2C7EEF1E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1FCBE2B0-9312-4C64-1C7F-6F9C26716D4C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2359A97B-3D16-0F1E-A0B6-A1A00721F70A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30CE4D58-2741-5CED-09E4-31028F9084F0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16F3CA-86ED-922A-120B-99DA8E114BF9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D15A2CD5-B31E-A36B-E314-401D8921AEA3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B663BD95-637E-F016-FD88-387156D79A5C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C6273DD3-9BD9-41D7-95D2-502675ECFD5B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814F8149-E43A-E7FC-402F-0508FF9CE6E5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9140F55C-001B-3BBD-59C5-5DB8DE77B151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FD42EB-7F2A-4FA9-82B6-A3A567622E23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EC128-C74B-2284-DD05-21D065D67701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211F1-B4DF-79BD-5BFB-B6C78D18B2C2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F1572-FF10-C1B3-0E8E-C3426DD3D46B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AD13E-96B6-67E3-D749-BE583FA7C781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10D1A-9071-153B-C5E2-44B8F862857B}"/>
              </a:ext>
            </a:extLst>
          </p:cNvPr>
          <p:cNvSpPr/>
          <p:nvPr/>
        </p:nvSpPr>
        <p:spPr>
          <a:xfrm flipH="1">
            <a:off x="2741164" y="158928"/>
            <a:ext cx="7449316" cy="5152211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94656A60-D4AB-2E41-326D-FD864EE9A2F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1" name="Picture 10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CA9B6E8E-1ADE-4AC7-CC3A-CB7EB1764A0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77DAFDB2-E4D5-1473-4268-B99A86DE485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cars and trees&#10;&#10;AI-generated content may be incorrect.">
            <a:extLst>
              <a:ext uri="{FF2B5EF4-FFF2-40B4-BE49-F238E27FC236}">
                <a16:creationId xmlns:a16="http://schemas.microsoft.com/office/drawing/2014/main" id="{4144B8AA-9B43-9CD6-ABDA-A4D7C99FF6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836C4598-1D1E-6A9C-CACF-1B05BE13AEF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2BD040D-0189-04D2-B383-2FE0A9280701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922B07-1D21-524C-19A0-6CF931710593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59FA00-EADD-ED37-61BE-14B36C986EAE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33DA69-8D90-7B9F-B749-CB5A2E3C9ED0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CD4885-43C4-1E18-CA76-FC205751E54F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7B099F-504C-6E51-4076-F010327FF4AD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</p:spTree>
    <p:extLst>
      <p:ext uri="{BB962C8B-B14F-4D97-AF65-F5344CB8AC3E}">
        <p14:creationId xmlns:p14="http://schemas.microsoft.com/office/powerpoint/2010/main" val="307411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E5BF-9920-C949-0BFE-C809D2D35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397A5B04-A67F-EFDC-513F-D6AEC091F11E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C37135-73B1-BA91-C9A9-38B1DB6EEC91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D875C-BF4C-2CFA-32A9-0A5E5E0B2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49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B43FE-6DD5-A686-8EC8-34CE0703BB1D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DCF8C6-37F3-D771-87D0-ADF058C2E394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FEAC06D4-D225-E27C-E7A2-063E756535B2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91974744-BC2F-E469-7C14-9E0117C2F86F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DD2CB168-0289-F5E6-D8EF-F53C9439FF7D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94A382DE-773F-19D3-9134-1F791F4C51B9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0C7316F3-3109-E754-B0D0-E59BE538DDF2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377465A3-5529-8D69-D36E-97E3455F9501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ED768950-3ED3-405D-96A6-E9F02719E6C9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913ACB2A-2B81-F4C6-5BB2-C29B397EE7FD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AF546EBA-7B0B-8945-E2DA-86F795434467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0B1CA387-B8AE-FDBC-CFB0-E2D754FB2811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ACCE923-3931-4BBF-4245-3ADBCB72DB77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2009511B-1DF1-3758-7557-4B0C80440614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42FBE719-8504-FBED-25E0-56100125C625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D8E11841-778A-F3EA-9D83-2FA162BAC17D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E3D788D8-89DE-FBCE-E7F5-929A12363BB6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78EE43D0-9FFE-95D9-8B99-484A273A0F32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96080D-CBE3-CF35-2B04-50A86C9308B8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C7C3666A-0DA4-921B-D6C6-EAAD17355C6B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FDEF306B-99B6-B992-6AB2-E828CA2FE61F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22E0AC8E-5FAD-61C5-CD88-3930575218E3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008A9591-9F5B-3BB7-85C9-AAB484838D18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51124F45-24ED-2D72-072F-7268B764E6EC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08F176-A242-80CE-C6EC-3B085BBD8F7D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E89FF237-DF6D-4F57-480C-2E01893AC664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48102818-684E-88FC-A3D6-74A00B86640C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485C6452-BF81-F2F2-CB85-FE2A14FC3BFF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9EC68E5B-368C-BBC8-EDEB-13410F92A98C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49B9B938-CB35-5E03-9F77-D8DE17AAFD63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8188E5-D8EA-EF2D-E1CF-F7BF29E39743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61F18-6E41-EA3F-5952-66D950BE3169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2CD53-C630-C87B-3B31-B4C8D55B2D06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BB23F-8310-FE08-78E5-294FA64C131C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EB0AE-A11C-1720-3DBA-D3D2E4DCCE8E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AD13D-AB03-6A1D-864A-ADB651BDA54A}"/>
              </a:ext>
            </a:extLst>
          </p:cNvPr>
          <p:cNvSpPr/>
          <p:nvPr/>
        </p:nvSpPr>
        <p:spPr>
          <a:xfrm flipH="1">
            <a:off x="2741164" y="4229041"/>
            <a:ext cx="7449316" cy="1082098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D92EF536-787C-7ED9-8DF9-3983FC028C1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1" name="Picture 10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A8F4DD30-3418-435B-4627-E73BAC22DAC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E560C5BB-0DA9-7821-C85C-3C5B0A15ABE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cars and trees&#10;&#10;AI-generated content may be incorrect.">
            <a:extLst>
              <a:ext uri="{FF2B5EF4-FFF2-40B4-BE49-F238E27FC236}">
                <a16:creationId xmlns:a16="http://schemas.microsoft.com/office/drawing/2014/main" id="{4DE9E0D0-33AC-B978-0DC3-41C752E5A6A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AB0B2028-5BF3-80BE-9352-E47A97AC93B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E80276E-3881-89F1-96F6-56C72115A782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E1A9A6-DB7A-DCAD-DDB0-7052DCDB9F69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6B6E60-9980-E772-913E-F5E01FD02424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17739D-EF1B-674D-CCCA-95ECB695CFD1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C8022D-0F9D-2F6B-7A13-6971CFD7A63E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9CFC0A-D2DE-D81A-94F2-C28964F7482B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C551BB13-D152-0981-ACCC-85C7C1801865}"/>
              </a:ext>
            </a:extLst>
          </p:cNvPr>
          <p:cNvSpPr/>
          <p:nvPr/>
        </p:nvSpPr>
        <p:spPr>
          <a:xfrm>
            <a:off x="3582651" y="4658349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2A8A734C-8BE2-2A60-8797-98DA8BF7F992}"/>
              </a:ext>
            </a:extLst>
          </p:cNvPr>
          <p:cNvSpPr/>
          <p:nvPr/>
        </p:nvSpPr>
        <p:spPr>
          <a:xfrm>
            <a:off x="5300939" y="4495444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89807E7E-2B8E-DB0F-6FE3-9386C617C2C1}"/>
              </a:ext>
            </a:extLst>
          </p:cNvPr>
          <p:cNvSpPr/>
          <p:nvPr/>
        </p:nvSpPr>
        <p:spPr>
          <a:xfrm>
            <a:off x="8766132" y="4509600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F94AEFA3-96F6-FB4C-B0D2-1C36FC25FDF3}"/>
              </a:ext>
            </a:extLst>
          </p:cNvPr>
          <p:cNvSpPr/>
          <p:nvPr/>
        </p:nvSpPr>
        <p:spPr>
          <a:xfrm>
            <a:off x="6970548" y="4502091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8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6D62-78B9-EBCA-393D-2426FA04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A4FE3C39-7A6B-14DB-7049-F7555AA15DDD}"/>
              </a:ext>
            </a:extLst>
          </p:cNvPr>
          <p:cNvSpPr/>
          <p:nvPr/>
        </p:nvSpPr>
        <p:spPr>
          <a:xfrm>
            <a:off x="0" y="1262448"/>
            <a:ext cx="304633" cy="51522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206989-B8F9-56CB-1A8B-7D689F64C3C1}"/>
              </a:ext>
            </a:extLst>
          </p:cNvPr>
          <p:cNvSpPr/>
          <p:nvPr/>
        </p:nvSpPr>
        <p:spPr>
          <a:xfrm>
            <a:off x="-1" y="6286620"/>
            <a:ext cx="4548851" cy="571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68921-F7F8-4856-13E9-E5916B6FA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50</a:t>
            </a:fld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8B8217-31DB-4139-62A5-A5CFD89EC80F}"/>
              </a:ext>
            </a:extLst>
          </p:cNvPr>
          <p:cNvSpPr/>
          <p:nvPr/>
        </p:nvSpPr>
        <p:spPr>
          <a:xfrm>
            <a:off x="9115214" y="10951"/>
            <a:ext cx="3076786" cy="1655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6775F1-1CCA-0BDB-5A40-29C8D2C165B6}"/>
              </a:ext>
            </a:extLst>
          </p:cNvPr>
          <p:cNvGrpSpPr/>
          <p:nvPr/>
        </p:nvGrpSpPr>
        <p:grpSpPr>
          <a:xfrm>
            <a:off x="918305" y="1029473"/>
            <a:ext cx="1759481" cy="5324040"/>
            <a:chOff x="880346" y="1029473"/>
            <a:chExt cx="1759481" cy="5324040"/>
          </a:xfrm>
        </p:grpSpPr>
        <p:pic>
          <p:nvPicPr>
            <p:cNvPr id="83" name="Picture 82" descr="A car on the road&#10;&#10;AI-generated content may be incorrect.">
              <a:extLst>
                <a:ext uri="{FF2B5EF4-FFF2-40B4-BE49-F238E27FC236}">
                  <a16:creationId xmlns:a16="http://schemas.microsoft.com/office/drawing/2014/main" id="{A67BA772-7F31-72F7-C931-86BBD48258DA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537602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4" name="Picture 83" descr="A snow covered street with people walking on it&#10;&#10;AI-generated content may be incorrect.">
              <a:extLst>
                <a:ext uri="{FF2B5EF4-FFF2-40B4-BE49-F238E27FC236}">
                  <a16:creationId xmlns:a16="http://schemas.microsoft.com/office/drawing/2014/main" id="{D69084D8-3EA6-EAFF-AED3-84F133C491B3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2116110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5" name="Picture 84" descr="Cars on a wet road&#10;&#10;AI-generated content may be incorrect.">
              <a:extLst>
                <a:ext uri="{FF2B5EF4-FFF2-40B4-BE49-F238E27FC236}">
                  <a16:creationId xmlns:a16="http://schemas.microsoft.com/office/drawing/2014/main" id="{D80B97BB-56C8-3E34-E3DE-D53906A01A86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102947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6" name="Picture 85" descr="A street with cars on it&#10;&#10;AI-generated content may be incorrect.">
              <a:extLst>
                <a:ext uri="{FF2B5EF4-FFF2-40B4-BE49-F238E27FC236}">
                  <a16:creationId xmlns:a16="http://schemas.microsoft.com/office/drawing/2014/main" id="{E0CF49DB-1ECB-38B8-ED57-514EEEDE676A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3202747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87" name="Picture 86" descr="A street with a crosswalk at night&#10;&#10;AI-generated content may be incorrect.">
              <a:extLst>
                <a:ext uri="{FF2B5EF4-FFF2-40B4-BE49-F238E27FC236}">
                  <a16:creationId xmlns:a16="http://schemas.microsoft.com/office/drawing/2014/main" id="{2497332C-6DE7-9C02-99D2-2CAE8EFD0D42}"/>
                </a:ext>
              </a:extLst>
            </p:cNvPr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0346" y="428938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pic>
        <p:nvPicPr>
          <p:cNvPr id="75" name="Picture 74" descr="A colorful street lights and cars&#10;&#10;AI-generated content may be incorrect.">
            <a:extLst>
              <a:ext uri="{FF2B5EF4-FFF2-40B4-BE49-F238E27FC236}">
                <a16:creationId xmlns:a16="http://schemas.microsoft.com/office/drawing/2014/main" id="{A7496522-364D-6399-4E39-F7ABDD96BD7F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5370779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6" name="Picture 75" descr="A colorful map of the world&#10;&#10;AI-generated content may be incorrect.">
            <a:extLst>
              <a:ext uri="{FF2B5EF4-FFF2-40B4-BE49-F238E27FC236}">
                <a16:creationId xmlns:a16="http://schemas.microsoft.com/office/drawing/2014/main" id="{922F3721-4146-E02C-88AB-C4DB4A71BEC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2118214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7" name="Picture 76" descr="A colorful street signs in a city&#10;&#10;AI-generated content may be incorrect.">
            <a:extLst>
              <a:ext uri="{FF2B5EF4-FFF2-40B4-BE49-F238E27FC236}">
                <a16:creationId xmlns:a16="http://schemas.microsoft.com/office/drawing/2014/main" id="{2C94CE60-CAB1-1ACD-17A7-D699C5D4499F}"/>
              </a:ext>
            </a:extLst>
          </p:cNvPr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4286591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8" name="Picture 77" descr="A colorful image of a road&#10;&#10;AI-generated content may be incorrect.">
            <a:extLst>
              <a:ext uri="{FF2B5EF4-FFF2-40B4-BE49-F238E27FC236}">
                <a16:creationId xmlns:a16="http://schemas.microsoft.com/office/drawing/2014/main" id="{DD1A26BF-B314-B32C-DAA4-184CF2A290B4}"/>
              </a:ext>
            </a:extLst>
          </p:cNvPr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7" y="3202403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pic>
        <p:nvPicPr>
          <p:cNvPr id="79" name="Picture 78" descr="A colorful landscape with trees and a street light&#10;&#10;AI-generated content may be incorrect.">
            <a:extLst>
              <a:ext uri="{FF2B5EF4-FFF2-40B4-BE49-F238E27FC236}">
                <a16:creationId xmlns:a16="http://schemas.microsoft.com/office/drawing/2014/main" id="{AF3C0450-73AD-EF39-84F8-3BBD469F439E}"/>
              </a:ext>
            </a:extLst>
          </p:cNvPr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366" y="1034026"/>
            <a:ext cx="1759483" cy="977490"/>
          </a:xfrm>
          <a:prstGeom prst="rect">
            <a:avLst/>
          </a:prstGeom>
          <a:ln w="19050">
            <a:solidFill>
              <a:schemeClr val="bg2">
                <a:lumMod val="65000"/>
              </a:schemeClr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05D57B7-6923-26AE-CEDB-3DA6AF6E5027}"/>
              </a:ext>
            </a:extLst>
          </p:cNvPr>
          <p:cNvGrpSpPr/>
          <p:nvPr/>
        </p:nvGrpSpPr>
        <p:grpSpPr>
          <a:xfrm>
            <a:off x="8379503" y="1044395"/>
            <a:ext cx="1761556" cy="5318588"/>
            <a:chOff x="8299999" y="1037669"/>
            <a:chExt cx="1761556" cy="5318588"/>
          </a:xfrm>
        </p:grpSpPr>
        <p:pic>
          <p:nvPicPr>
            <p:cNvPr id="69" name="Picture 68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CB6731AE-0E4E-EC44-4F9D-ABD37DE42738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3208219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0" name="Picture 69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A7416F13-9B46-B37C-AA74-E22903271A9A}"/>
                </a:ext>
              </a:extLst>
            </p:cNvPr>
            <p:cNvPicPr>
              <a:picLocks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429349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1" name="Picture 70" descr="A colorful image of people walking on a sidewalk&#10;&#10;AI-generated content may be incorrect.">
              <a:extLst>
                <a:ext uri="{FF2B5EF4-FFF2-40B4-BE49-F238E27FC236}">
                  <a16:creationId xmlns:a16="http://schemas.microsoft.com/office/drawing/2014/main" id="{666BF4AD-FE42-6626-635B-2EDD5DAF9AA0}"/>
                </a:ext>
              </a:extLst>
            </p:cNvPr>
            <p:cNvPicPr>
              <a:picLocks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2122945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2" name="Picture 71" descr="A street with cars and people on it&#10;&#10;AI-generated content may be incorrect.">
              <a:extLst>
                <a:ext uri="{FF2B5EF4-FFF2-40B4-BE49-F238E27FC236}">
                  <a16:creationId xmlns:a16="http://schemas.microsoft.com/office/drawing/2014/main" id="{46D863F4-50BC-4745-6F20-F84D7E155F45}"/>
                </a:ext>
              </a:extLst>
            </p:cNvPr>
            <p:cNvPicPr>
              <a:picLocks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073" y="5378767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74" name="Picture 73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81053078-35A7-85BC-A724-533881D9B8B5}"/>
                </a:ext>
              </a:extLst>
            </p:cNvPr>
            <p:cNvPicPr>
              <a:picLocks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9999" y="1037669"/>
              <a:ext cx="1759480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A2C9C2-CDB3-7E3E-0B46-C0493E6BA219}"/>
              </a:ext>
            </a:extLst>
          </p:cNvPr>
          <p:cNvGrpSpPr/>
          <p:nvPr/>
        </p:nvGrpSpPr>
        <p:grpSpPr>
          <a:xfrm>
            <a:off x="6522945" y="1037671"/>
            <a:ext cx="1768738" cy="5310597"/>
            <a:chOff x="2736907" y="1037671"/>
            <a:chExt cx="1768738" cy="5310597"/>
          </a:xfrm>
        </p:grpSpPr>
        <p:pic>
          <p:nvPicPr>
            <p:cNvPr id="63" name="Picture 62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B2C4AA66-EB8C-3B51-527A-A15C660FCDE4}"/>
                </a:ext>
              </a:extLst>
            </p:cNvPr>
            <p:cNvPicPr>
              <a:picLocks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907" y="1037671"/>
              <a:ext cx="1759482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4" name="Picture 63" descr="A group of people walking on a road&#10;&#10;AI-generated content may be incorrect.">
              <a:extLst>
                <a:ext uri="{FF2B5EF4-FFF2-40B4-BE49-F238E27FC236}">
                  <a16:creationId xmlns:a16="http://schemas.microsoft.com/office/drawing/2014/main" id="{A13E5B22-3C30-1914-2062-243B16A60386}"/>
                </a:ext>
              </a:extLst>
            </p:cNvPr>
            <p:cNvPicPr>
              <a:picLocks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2114014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5" name="Picture 64" descr="A road with street signs and trees&#10;&#10;AI-generated content may be incorrect.">
              <a:extLst>
                <a:ext uri="{FF2B5EF4-FFF2-40B4-BE49-F238E27FC236}">
                  <a16:creationId xmlns:a16="http://schemas.microsoft.com/office/drawing/2014/main" id="{7A39ACDF-8E85-5960-D7DD-3320890CA6EF}"/>
                </a:ext>
              </a:extLst>
            </p:cNvPr>
            <p:cNvPicPr>
              <a:picLocks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4285192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6" name="Picture 65" descr="A street with cars and trees&#10;&#10;AI-generated content may be incorrect.">
              <a:extLst>
                <a:ext uri="{FF2B5EF4-FFF2-40B4-BE49-F238E27FC236}">
                  <a16:creationId xmlns:a16="http://schemas.microsoft.com/office/drawing/2014/main" id="{72945A24-64C7-29C8-E19A-05E7D4322EC7}"/>
                </a:ext>
              </a:extLst>
            </p:cNvPr>
            <p:cNvPicPr>
              <a:picLocks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5370778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7" name="Picture 66" descr="A road with cars and trees&#10;&#10;AI-generated content may be incorrect.">
              <a:extLst>
                <a:ext uri="{FF2B5EF4-FFF2-40B4-BE49-F238E27FC236}">
                  <a16:creationId xmlns:a16="http://schemas.microsoft.com/office/drawing/2014/main" id="{8642B68B-A4A9-EA30-5E6E-8892B6422455}"/>
                </a:ext>
              </a:extLst>
            </p:cNvPr>
            <p:cNvPicPr>
              <a:picLocks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164" y="3199603"/>
              <a:ext cx="1759481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CC5743-9025-E138-EFE7-B6312B6744A5}"/>
              </a:ext>
            </a:extLst>
          </p:cNvPr>
          <p:cNvGrpSpPr/>
          <p:nvPr/>
        </p:nvGrpSpPr>
        <p:grpSpPr>
          <a:xfrm>
            <a:off x="10228425" y="1049538"/>
            <a:ext cx="1759484" cy="5298729"/>
            <a:chOff x="10190466" y="1049538"/>
            <a:chExt cx="1759484" cy="5298729"/>
          </a:xfrm>
        </p:grpSpPr>
        <p:pic>
          <p:nvPicPr>
            <p:cNvPr id="57" name="Picture 56" descr="A cartoon of a street with trees and street signs&#10;&#10;AI-generated content may be incorrect.">
              <a:extLst>
                <a:ext uri="{FF2B5EF4-FFF2-40B4-BE49-F238E27FC236}">
                  <a16:creationId xmlns:a16="http://schemas.microsoft.com/office/drawing/2014/main" id="{1EF265FF-EC8B-B1CC-3313-EF751A6892CA}"/>
                </a:ext>
              </a:extLst>
            </p:cNvPr>
            <p:cNvPicPr>
              <a:picLocks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4295358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8" name="Picture 57" descr="A video game graphics of people walking on a road&#10;&#10;AI-generated content may be incorrect.">
              <a:extLst>
                <a:ext uri="{FF2B5EF4-FFF2-40B4-BE49-F238E27FC236}">
                  <a16:creationId xmlns:a16="http://schemas.microsoft.com/office/drawing/2014/main" id="{D36BCDAD-BC28-C262-1460-FEED8DF7FA28}"/>
                </a:ext>
              </a:extLst>
            </p:cNvPr>
            <p:cNvPicPr>
              <a:picLocks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7" y="2144516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59" name="Picture 58" descr="A cartoon of a street with cars and people&#10;&#10;AI-generated content may be incorrect.">
              <a:extLst>
                <a:ext uri="{FF2B5EF4-FFF2-40B4-BE49-F238E27FC236}">
                  <a16:creationId xmlns:a16="http://schemas.microsoft.com/office/drawing/2014/main" id="{0F838665-E80B-944D-39F7-B1D765279BF1}"/>
                </a:ext>
              </a:extLst>
            </p:cNvPr>
            <p:cNvPicPr>
              <a:picLocks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537077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0" name="Picture 59" descr="A video game of cars on a street&#10;&#10;AI-generated content may be incorrect.">
              <a:extLst>
                <a:ext uri="{FF2B5EF4-FFF2-40B4-BE49-F238E27FC236}">
                  <a16:creationId xmlns:a16="http://schemas.microsoft.com/office/drawing/2014/main" id="{CBAD0E40-933C-3AA9-B3DE-5A993CFB1690}"/>
                </a:ext>
              </a:extLst>
            </p:cNvPr>
            <p:cNvPicPr>
              <a:picLocks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1049538"/>
              <a:ext cx="1759483" cy="997047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  <p:pic>
          <p:nvPicPr>
            <p:cNvPr id="61" name="Picture 60" descr="A video game of a road with cars and buildings&#10;&#10;AI-generated content may be incorrect.">
              <a:extLst>
                <a:ext uri="{FF2B5EF4-FFF2-40B4-BE49-F238E27FC236}">
                  <a16:creationId xmlns:a16="http://schemas.microsoft.com/office/drawing/2014/main" id="{1278793A-1EBE-7213-2B0E-7F6B9660A09A}"/>
                </a:ext>
              </a:extLst>
            </p:cNvPr>
            <p:cNvPicPr>
              <a:picLocks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466" y="3219937"/>
              <a:ext cx="1759483" cy="977490"/>
            </a:xfrm>
            <a:prstGeom prst="rect">
              <a:avLst/>
            </a:prstGeom>
            <a:ln w="19050">
              <a:solidFill>
                <a:schemeClr val="bg2">
                  <a:lumMod val="65000"/>
                </a:schemeClr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6F09AC-2D3E-7812-1077-89FC03D1B019}"/>
              </a:ext>
            </a:extLst>
          </p:cNvPr>
          <p:cNvSpPr txBox="1"/>
          <p:nvPr/>
        </p:nvSpPr>
        <p:spPr>
          <a:xfrm>
            <a:off x="38100" y="2463984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FOGGY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B4499-346E-1922-CDE5-0B8AE7EA6D22}"/>
              </a:ext>
            </a:extLst>
          </p:cNvPr>
          <p:cNvSpPr txBox="1"/>
          <p:nvPr/>
        </p:nvSpPr>
        <p:spPr>
          <a:xfrm>
            <a:off x="38100" y="34792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SNOWY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C636F-9EAC-891E-5321-1A25E715A362}"/>
              </a:ext>
            </a:extLst>
          </p:cNvPr>
          <p:cNvSpPr txBox="1"/>
          <p:nvPr/>
        </p:nvSpPr>
        <p:spPr>
          <a:xfrm>
            <a:off x="38100" y="4543326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NIGHT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752A4-E2EC-2923-99B1-61BA3BEDA801}"/>
              </a:ext>
            </a:extLst>
          </p:cNvPr>
          <p:cNvSpPr txBox="1"/>
          <p:nvPr/>
        </p:nvSpPr>
        <p:spPr>
          <a:xfrm>
            <a:off x="19050" y="5771155"/>
            <a:ext cx="960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DA30C-D1C3-9513-C90E-F64DB5AF32A8}"/>
              </a:ext>
            </a:extLst>
          </p:cNvPr>
          <p:cNvSpPr txBox="1"/>
          <p:nvPr/>
        </p:nvSpPr>
        <p:spPr>
          <a:xfrm>
            <a:off x="38100" y="1501341"/>
            <a:ext cx="81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tx2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RAINY</a:t>
            </a:r>
            <a:endParaRPr lang="en-IN" sz="1400" b="1" i="1" dirty="0">
              <a:solidFill>
                <a:schemeClr val="tx2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06A34-9C0F-791D-97C5-6174EB84530A}"/>
              </a:ext>
            </a:extLst>
          </p:cNvPr>
          <p:cNvSpPr/>
          <p:nvPr/>
        </p:nvSpPr>
        <p:spPr>
          <a:xfrm flipH="1">
            <a:off x="2741164" y="4229041"/>
            <a:ext cx="7449316" cy="1082098"/>
          </a:xfrm>
          <a:prstGeom prst="rect">
            <a:avLst/>
          </a:prstGeom>
          <a:noFill/>
          <a:ln w="381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street with cars and trees&#10;&#10;AI-generated content may be incorrect.">
            <a:extLst>
              <a:ext uri="{FF2B5EF4-FFF2-40B4-BE49-F238E27FC236}">
                <a16:creationId xmlns:a16="http://schemas.microsoft.com/office/drawing/2014/main" id="{EC17B3A9-D254-78FA-7818-EB1AB563E95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50094" y="5369348"/>
            <a:ext cx="1772153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1" name="Picture 10" descr="A colorful cityscape with buildings and trees&#10;&#10;AI-generated content may be incorrect.">
            <a:extLst>
              <a:ext uri="{FF2B5EF4-FFF2-40B4-BE49-F238E27FC236}">
                <a16:creationId xmlns:a16="http://schemas.microsoft.com/office/drawing/2014/main" id="{C15AC214-303E-1813-D28B-AC062E41A4C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5239" y="2102069"/>
            <a:ext cx="1781862" cy="9936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2" name="Picture 11" descr="A road with street signs and trees&#10;&#10;AI-generated content may be incorrect.">
            <a:extLst>
              <a:ext uri="{FF2B5EF4-FFF2-40B4-BE49-F238E27FC236}">
                <a16:creationId xmlns:a16="http://schemas.microsoft.com/office/drawing/2014/main" id="{C956AAA1-D350-B0DC-DED6-C11C55EDAFE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5928" y="4277336"/>
            <a:ext cx="1760484" cy="98534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3" name="Picture 12" descr="A road with cars and trees&#10;&#10;AI-generated content may be incorrect.">
            <a:extLst>
              <a:ext uri="{FF2B5EF4-FFF2-40B4-BE49-F238E27FC236}">
                <a16:creationId xmlns:a16="http://schemas.microsoft.com/office/drawing/2014/main" id="{74C67657-5E18-7673-825D-7892C7556B8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49358" y="1014036"/>
            <a:ext cx="1773625" cy="100785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4" name="Picture 13" descr="A road with cars and a blue sky&#10;&#10;AI-generated content may be incorrect.">
            <a:extLst>
              <a:ext uri="{FF2B5EF4-FFF2-40B4-BE49-F238E27FC236}">
                <a16:creationId xmlns:a16="http://schemas.microsoft.com/office/drawing/2014/main" id="{9F937C33-38D8-9FC8-04FE-18EA171F071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45240" y="3199603"/>
            <a:ext cx="1781861" cy="959071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7141804-92E8-535F-0D37-91C689FF2908}"/>
              </a:ext>
            </a:extLst>
          </p:cNvPr>
          <p:cNvSpPr txBox="1"/>
          <p:nvPr/>
        </p:nvSpPr>
        <p:spPr>
          <a:xfrm>
            <a:off x="1119847" y="554916"/>
            <a:ext cx="1356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Input Image</a:t>
            </a:r>
            <a:r>
              <a:rPr lang="en-IN" sz="1600" b="1" i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78E912-3D41-4A0F-3340-E500061E7239}"/>
              </a:ext>
            </a:extLst>
          </p:cNvPr>
          <p:cNvSpPr txBox="1"/>
          <p:nvPr/>
        </p:nvSpPr>
        <p:spPr>
          <a:xfrm>
            <a:off x="2789366" y="457457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  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712F1A-D964-9B83-F72B-C3A0861C59AD}"/>
              </a:ext>
            </a:extLst>
          </p:cNvPr>
          <p:cNvSpPr txBox="1"/>
          <p:nvPr/>
        </p:nvSpPr>
        <p:spPr>
          <a:xfrm>
            <a:off x="10335929" y="532905"/>
            <a:ext cx="147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Ground Truth</a:t>
            </a:r>
            <a:endParaRPr lang="en-IN" sz="1600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EF30C6-9EDF-C734-4946-4A868A91BD5B}"/>
              </a:ext>
            </a:extLst>
          </p:cNvPr>
          <p:cNvSpPr txBox="1"/>
          <p:nvPr/>
        </p:nvSpPr>
        <p:spPr>
          <a:xfrm>
            <a:off x="4675895" y="270906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DeeplabV3+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  CS + ACDC</a:t>
            </a:r>
          </a:p>
          <a:p>
            <a:pPr algn="ctr"/>
            <a:r>
              <a:rPr lang="en-IN" sz="1400" b="1" i="1" dirty="0">
                <a:latin typeface="Roboto" panose="02000000000000000000" pitchFamily="2" charset="0"/>
                <a:ea typeface="Roboto" panose="02000000000000000000" pitchFamily="2" charset="0"/>
              </a:rPr>
              <a:t>(WAS + TAS)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CAFBBD-707B-1D99-96B0-26B51C46604B}"/>
              </a:ext>
            </a:extLst>
          </p:cNvPr>
          <p:cNvSpPr txBox="1"/>
          <p:nvPr/>
        </p:nvSpPr>
        <p:spPr>
          <a:xfrm>
            <a:off x="6522945" y="434838"/>
            <a:ext cx="1759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4A0698-14F1-5C73-3897-DF76CD037EE4}"/>
              </a:ext>
            </a:extLst>
          </p:cNvPr>
          <p:cNvSpPr txBox="1"/>
          <p:nvPr/>
        </p:nvSpPr>
        <p:spPr>
          <a:xfrm>
            <a:off x="8391897" y="290809"/>
            <a:ext cx="1759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Mask2Former</a:t>
            </a:r>
          </a:p>
          <a:p>
            <a:pPr algn="ctr"/>
            <a:r>
              <a:rPr lang="en-IN" sz="1400" b="1" i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CS+ACDC (WAS+TAS)</a:t>
            </a:r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34075179-9D37-5B3F-C35D-348BE49BCC00}"/>
              </a:ext>
            </a:extLst>
          </p:cNvPr>
          <p:cNvSpPr/>
          <p:nvPr/>
        </p:nvSpPr>
        <p:spPr>
          <a:xfrm rot="18004927">
            <a:off x="5000994" y="4885177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8791AB9B-E939-EDE0-16A6-A0D4BE3778EE}"/>
              </a:ext>
            </a:extLst>
          </p:cNvPr>
          <p:cNvSpPr/>
          <p:nvPr/>
        </p:nvSpPr>
        <p:spPr>
          <a:xfrm rot="18004927">
            <a:off x="8766132" y="4952983"/>
            <a:ext cx="173621" cy="312516"/>
          </a:xfrm>
          <a:prstGeom prst="upArrow">
            <a:avLst/>
          </a:prstGeom>
          <a:solidFill>
            <a:srgbClr val="ED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317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F7CC1-152D-1985-1AFD-89B21DE9CD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51</a:t>
            </a:fld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51A927-39E3-7D14-D9CC-756808D22364}"/>
              </a:ext>
            </a:extLst>
          </p:cNvPr>
          <p:cNvSpPr/>
          <p:nvPr/>
        </p:nvSpPr>
        <p:spPr>
          <a:xfrm>
            <a:off x="10320886" y="2257632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DA99AF-DBEB-32DE-2753-F9570CE14C9D}"/>
              </a:ext>
            </a:extLst>
          </p:cNvPr>
          <p:cNvSpPr/>
          <p:nvPr/>
        </p:nvSpPr>
        <p:spPr>
          <a:xfrm>
            <a:off x="4865218" y="2215495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01FF0-707D-0548-99B1-B196BF8B1B46}"/>
              </a:ext>
            </a:extLst>
          </p:cNvPr>
          <p:cNvSpPr txBox="1"/>
          <p:nvPr/>
        </p:nvSpPr>
        <p:spPr>
          <a:xfrm>
            <a:off x="5563799" y="2500114"/>
            <a:ext cx="4397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5A9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Slide 12 : Five Steps of Ablations</a:t>
            </a:r>
            <a:endParaRPr lang="en-IN" sz="2000" b="1" dirty="0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B81AC9-FAFB-1657-085E-03626DE9915F}"/>
              </a:ext>
            </a:extLst>
          </p:cNvPr>
          <p:cNvSpPr/>
          <p:nvPr/>
        </p:nvSpPr>
        <p:spPr>
          <a:xfrm>
            <a:off x="10320886" y="3715294"/>
            <a:ext cx="679704" cy="885075"/>
          </a:xfrm>
          <a:prstGeom prst="roundRect">
            <a:avLst/>
          </a:prstGeom>
          <a:solidFill>
            <a:srgbClr val="95B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223885-B4AC-7816-4ACE-9C5997E2C50A}"/>
              </a:ext>
            </a:extLst>
          </p:cNvPr>
          <p:cNvSpPr/>
          <p:nvPr/>
        </p:nvSpPr>
        <p:spPr>
          <a:xfrm>
            <a:off x="4865218" y="3673157"/>
            <a:ext cx="6043432" cy="969349"/>
          </a:xfrm>
          <a:prstGeom prst="roundRect">
            <a:avLst>
              <a:gd name="adj" fmla="val 302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1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>
              <a:solidFill>
                <a:srgbClr val="005A9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F3DDB-043C-266B-1788-F3BD9641D5A7}"/>
              </a:ext>
            </a:extLst>
          </p:cNvPr>
          <p:cNvGrpSpPr/>
          <p:nvPr/>
        </p:nvGrpSpPr>
        <p:grpSpPr>
          <a:xfrm>
            <a:off x="4298672" y="3673157"/>
            <a:ext cx="969348" cy="969348"/>
            <a:chOff x="2715881" y="2734838"/>
            <a:chExt cx="969348" cy="96934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5B7EA2-6AD4-86EC-5AAB-DB58637D154E}"/>
                </a:ext>
              </a:extLst>
            </p:cNvPr>
            <p:cNvSpPr/>
            <p:nvPr/>
          </p:nvSpPr>
          <p:spPr>
            <a:xfrm>
              <a:off x="2715881" y="2734838"/>
              <a:ext cx="969348" cy="969348"/>
            </a:xfrm>
            <a:prstGeom prst="ellipse">
              <a:avLst/>
            </a:prstGeom>
            <a:solidFill>
              <a:srgbClr val="4E88E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87D15D-559C-0B28-F39A-BC117EB162C5}"/>
                </a:ext>
              </a:extLst>
            </p:cNvPr>
            <p:cNvSpPr/>
            <p:nvPr/>
          </p:nvSpPr>
          <p:spPr>
            <a:xfrm>
              <a:off x="2777897" y="2796854"/>
              <a:ext cx="845316" cy="8453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b="1">
                <a:solidFill>
                  <a:srgbClr val="005A9B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2E06119-BE4A-B9E7-696C-D5E8BFC36810}"/>
              </a:ext>
            </a:extLst>
          </p:cNvPr>
          <p:cNvSpPr txBox="1"/>
          <p:nvPr/>
        </p:nvSpPr>
        <p:spPr>
          <a:xfrm>
            <a:off x="5563799" y="3957776"/>
            <a:ext cx="5179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05A9B"/>
                </a:solidFill>
                <a:latin typeface="Roboto"/>
              </a:rPr>
              <a:t>Slide 13 : Conclusion and Future work</a:t>
            </a:r>
          </a:p>
        </p:txBody>
      </p:sp>
      <p:pic>
        <p:nvPicPr>
          <p:cNvPr id="29" name="Picture 12" descr="Enhance ">
            <a:extLst>
              <a:ext uri="{FF2B5EF4-FFF2-40B4-BE49-F238E27FC236}">
                <a16:creationId xmlns:a16="http://schemas.microsoft.com/office/drawing/2014/main" id="{7E3FFFA2-E702-3927-4CAA-97A5AA988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40" y="3873887"/>
            <a:ext cx="531875" cy="5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41F69B0-3CDC-AAA4-C114-B5CC8D0EB14E}"/>
              </a:ext>
            </a:extLst>
          </p:cNvPr>
          <p:cNvGrpSpPr/>
          <p:nvPr/>
        </p:nvGrpSpPr>
        <p:grpSpPr>
          <a:xfrm>
            <a:off x="4298672" y="2215495"/>
            <a:ext cx="969348" cy="969348"/>
            <a:chOff x="2715881" y="1556764"/>
            <a:chExt cx="969348" cy="96934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14343DF-B505-0B35-82CD-9C9A560ABCB1}"/>
                </a:ext>
              </a:extLst>
            </p:cNvPr>
            <p:cNvGrpSpPr/>
            <p:nvPr/>
          </p:nvGrpSpPr>
          <p:grpSpPr>
            <a:xfrm>
              <a:off x="2715881" y="1556764"/>
              <a:ext cx="969348" cy="969348"/>
              <a:chOff x="2715881" y="1556764"/>
              <a:chExt cx="969348" cy="96934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BD869B0-A3B7-A944-9FF4-24634B1A2A52}"/>
                  </a:ext>
                </a:extLst>
              </p:cNvPr>
              <p:cNvSpPr/>
              <p:nvPr/>
            </p:nvSpPr>
            <p:spPr>
              <a:xfrm>
                <a:off x="2715881" y="1556764"/>
                <a:ext cx="969348" cy="969348"/>
              </a:xfrm>
              <a:prstGeom prst="ellipse">
                <a:avLst/>
              </a:prstGeom>
              <a:solidFill>
                <a:srgbClr val="507FCC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B393449-F17B-57CA-75C9-460A7E51EB31}"/>
                  </a:ext>
                </a:extLst>
              </p:cNvPr>
              <p:cNvSpPr/>
              <p:nvPr/>
            </p:nvSpPr>
            <p:spPr>
              <a:xfrm>
                <a:off x="2777897" y="1618780"/>
                <a:ext cx="845316" cy="8453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800" b="1">
                  <a:solidFill>
                    <a:srgbClr val="005A9B"/>
                  </a:solidFill>
                </a:endParaRPr>
              </a:p>
            </p:txBody>
          </p:sp>
        </p:grpSp>
        <p:pic>
          <p:nvPicPr>
            <p:cNvPr id="32" name="Picture 16" descr="Identification ">
              <a:extLst>
                <a:ext uri="{FF2B5EF4-FFF2-40B4-BE49-F238E27FC236}">
                  <a16:creationId xmlns:a16="http://schemas.microsoft.com/office/drawing/2014/main" id="{CC471BAD-4C95-B25A-5469-B219E2AE2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2193" y="1797951"/>
              <a:ext cx="478668" cy="478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2CCF2EF-E4B6-7FA9-6455-591E13521E72}"/>
              </a:ext>
            </a:extLst>
          </p:cNvPr>
          <p:cNvGrpSpPr/>
          <p:nvPr/>
        </p:nvGrpSpPr>
        <p:grpSpPr>
          <a:xfrm>
            <a:off x="521494" y="2965393"/>
            <a:ext cx="3331495" cy="927213"/>
            <a:chOff x="444092" y="3372792"/>
            <a:chExt cx="3331495" cy="92721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DA5BD4-2A40-E421-2B30-2B84842EAA9C}"/>
                </a:ext>
              </a:extLst>
            </p:cNvPr>
            <p:cNvGrpSpPr/>
            <p:nvPr/>
          </p:nvGrpSpPr>
          <p:grpSpPr>
            <a:xfrm>
              <a:off x="869952" y="3373019"/>
              <a:ext cx="2905635" cy="926986"/>
              <a:chOff x="-2146530" y="2798297"/>
              <a:chExt cx="6135372" cy="969349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3B200BE-3792-4BAE-B3DA-8C5FAA0640DF}"/>
                  </a:ext>
                </a:extLst>
              </p:cNvPr>
              <p:cNvSpPr/>
              <p:nvPr/>
            </p:nvSpPr>
            <p:spPr>
              <a:xfrm>
                <a:off x="3309138" y="2840433"/>
                <a:ext cx="679704" cy="885075"/>
              </a:xfrm>
              <a:prstGeom prst="roundRect">
                <a:avLst/>
              </a:prstGeom>
              <a:solidFill>
                <a:srgbClr val="95BD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7AA1468-1CD1-4836-034E-28479D97AC69}"/>
                  </a:ext>
                </a:extLst>
              </p:cNvPr>
              <p:cNvSpPr/>
              <p:nvPr/>
            </p:nvSpPr>
            <p:spPr>
              <a:xfrm>
                <a:off x="-2146530" y="2798297"/>
                <a:ext cx="6043431" cy="969349"/>
              </a:xfrm>
              <a:prstGeom prst="roundRect">
                <a:avLst>
                  <a:gd name="adj" fmla="val 3025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1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0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DADB87B-4C8E-4D59-1E1D-66CF412E442C}"/>
                  </a:ext>
                </a:extLst>
              </p:cNvPr>
              <p:cNvSpPr txBox="1"/>
              <p:nvPr/>
            </p:nvSpPr>
            <p:spPr>
              <a:xfrm>
                <a:off x="-1262271" y="2926658"/>
                <a:ext cx="5191160" cy="611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Section 4</a:t>
                </a:r>
              </a:p>
              <a:p>
                <a:pPr algn="ctr"/>
                <a:r>
                  <a:rPr lang="en-US" sz="1600" b="1">
                    <a:solidFill>
                      <a:srgbClr val="005A9B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Ablations &amp; Conclusion</a:t>
                </a:r>
                <a:endParaRPr lang="en-IN" sz="1600" b="1">
                  <a:solidFill>
                    <a:srgbClr val="005A9B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D28F1B6-BB03-45D9-1338-878DB0488563}"/>
                </a:ext>
              </a:extLst>
            </p:cNvPr>
            <p:cNvGrpSpPr/>
            <p:nvPr/>
          </p:nvGrpSpPr>
          <p:grpSpPr>
            <a:xfrm>
              <a:off x="444092" y="3372792"/>
              <a:ext cx="900000" cy="900000"/>
              <a:chOff x="2715881" y="1556764"/>
              <a:chExt cx="969348" cy="96934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E8D002E-00E8-0CEC-55DC-607D9FB4EC15}"/>
                  </a:ext>
                </a:extLst>
              </p:cNvPr>
              <p:cNvGrpSpPr/>
              <p:nvPr/>
            </p:nvGrpSpPr>
            <p:grpSpPr>
              <a:xfrm>
                <a:off x="2715881" y="1556764"/>
                <a:ext cx="969348" cy="969348"/>
                <a:chOff x="2715881" y="1556764"/>
                <a:chExt cx="969348" cy="969348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5CCEC68-3662-63B8-F47A-21D6D02A42F0}"/>
                    </a:ext>
                  </a:extLst>
                </p:cNvPr>
                <p:cNvSpPr/>
                <p:nvPr/>
              </p:nvSpPr>
              <p:spPr>
                <a:xfrm>
                  <a:off x="2715881" y="1556764"/>
                  <a:ext cx="969348" cy="969348"/>
                </a:xfrm>
                <a:prstGeom prst="ellipse">
                  <a:avLst/>
                </a:prstGeom>
                <a:solidFill>
                  <a:srgbClr val="507FCC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7337C20-AB46-E2A7-39DE-16E1AA29486A}"/>
                    </a:ext>
                  </a:extLst>
                </p:cNvPr>
                <p:cNvSpPr/>
                <p:nvPr/>
              </p:nvSpPr>
              <p:spPr>
                <a:xfrm>
                  <a:off x="2777897" y="1618780"/>
                  <a:ext cx="845316" cy="84531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 b="1">
                    <a:solidFill>
                      <a:srgbClr val="005A9B"/>
                    </a:solidFill>
                  </a:endParaRPr>
                </a:p>
              </p:txBody>
            </p:sp>
          </p:grpSp>
          <p:pic>
            <p:nvPicPr>
              <p:cNvPr id="16" name="Picture 16" descr="Identification ">
                <a:extLst>
                  <a:ext uri="{FF2B5EF4-FFF2-40B4-BE49-F238E27FC236}">
                    <a16:creationId xmlns:a16="http://schemas.microsoft.com/office/drawing/2014/main" id="{BBE3C2CA-7C9A-8932-23BD-40EA0F8FCA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2193" y="1797951"/>
                <a:ext cx="478668" cy="4786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2065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9E9F-CA7F-452F-6B3D-9306EE1D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19A72B-1CB3-0DDA-6796-99C9CFCD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FD8D099-CD02-52D8-7102-BF79012BF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0C427-BE2E-4FB8-3E11-8C5AC02885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52</a:t>
            </a:fld>
            <a:endParaRPr lang="de-DE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EDA38B-D577-AFBD-FC45-6A5AFCFD8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905895"/>
              </p:ext>
            </p:extLst>
          </p:nvPr>
        </p:nvGraphicFramePr>
        <p:xfrm>
          <a:off x="408907" y="1413836"/>
          <a:ext cx="11568726" cy="3744126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279215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3508009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1000594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1012367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977052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1165398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365518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260573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547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92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88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3927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520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6747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747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EF2F5D-4901-C683-15B9-05E9C4F3FF3D}"/>
              </a:ext>
            </a:extLst>
          </p:cNvPr>
          <p:cNvSpPr txBox="1"/>
          <p:nvPr/>
        </p:nvSpPr>
        <p:spPr>
          <a:xfrm>
            <a:off x="436202" y="5662336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91483-770B-A0F4-BF9C-A51D46FE38C7}"/>
              </a:ext>
            </a:extLst>
          </p:cNvPr>
          <p:cNvSpPr txBox="1"/>
          <p:nvPr/>
        </p:nvSpPr>
        <p:spPr>
          <a:xfrm>
            <a:off x="446250" y="5250127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20785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271E67-AD15-C39A-555D-285CB84C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CCE8A10-762D-2A9B-B3C3-B6333146F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C360B-B8E0-F22E-75F4-029F270980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53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A9E8D-CA21-D86A-0F7C-EB70B12E5008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4C0FF-8695-983C-5EC9-903B3D02D35D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94F632-D94B-36E9-3C7E-32A2D7081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65033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highlight>
                          <a:srgbClr val="FFFF66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596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8C72-844B-D662-F96E-791B17F1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499BC7-0DD8-81CD-FD97-1E25E484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92E95E4-1F86-90B0-4B8A-388199516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FDDBB-6677-A31F-40A7-FFF91A4483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36CED-F9F3-F5DE-6152-F97CB5934216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E661B-AC6D-9CF2-F60C-34E614E49C23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02D26A-7975-D209-1CB9-C93B992E6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02915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17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E054-AC16-97AE-FF25-C9C638C0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7000C67-5BD3-D622-C45C-6E64F12C646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9641711" y="2115090"/>
            <a:ext cx="408880" cy="34753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5BCE0869-7C92-0FED-7E2C-7FBC19CA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C62C158-159B-A44D-EAF8-0323641C73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AB5CC-8FE9-1703-9D74-FC8E431342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55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2B08B-B5B6-B782-45C9-2B8266B3D152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AFE62-C7B3-A013-79FA-796977DE9CE7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F07F70-08F2-0DCE-B72A-66F658315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215384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highlight>
                          <a:srgbClr val="FFFF66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7F06E99-BC63-7ACE-EB45-079252D95E9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9757457" y="2886497"/>
            <a:ext cx="293134" cy="119013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48E7105-B3A5-172B-4612-18F44093B26E}"/>
              </a:ext>
            </a:extLst>
          </p:cNvPr>
          <p:cNvSpPr/>
          <p:nvPr/>
        </p:nvSpPr>
        <p:spPr>
          <a:xfrm>
            <a:off x="10050591" y="2115090"/>
            <a:ext cx="1927042" cy="10335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11" name="Picture 2" descr="Diagram ">
            <a:extLst>
              <a:ext uri="{FF2B5EF4-FFF2-40B4-BE49-F238E27FC236}">
                <a16:creationId xmlns:a16="http://schemas.microsoft.com/office/drawing/2014/main" id="{11086C72-E14A-7BDB-EF18-8105C3315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84" y="2215372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21CCEE-40F0-635D-1D1A-FF354C1FFA74}"/>
              </a:ext>
            </a:extLst>
          </p:cNvPr>
          <p:cNvSpPr txBox="1"/>
          <p:nvPr/>
        </p:nvSpPr>
        <p:spPr>
          <a:xfrm>
            <a:off x="10050591" y="2293351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</a:rPr>
              <a:t>0.30 </a:t>
            </a:r>
            <a:r>
              <a:rPr lang="en-US" sz="1600" b="1" dirty="0">
                <a:solidFill>
                  <a:srgbClr val="00FF00"/>
                </a:solidFill>
                <a:sym typeface="Wingdings" panose="05000000000000000000" pitchFamily="2" charset="2"/>
              </a:rPr>
              <a:t> 0.62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E9AC3-08A7-88E2-5111-DD09469A279C}"/>
              </a:ext>
            </a:extLst>
          </p:cNvPr>
          <p:cNvSpPr txBox="1"/>
          <p:nvPr/>
        </p:nvSpPr>
        <p:spPr>
          <a:xfrm>
            <a:off x="10050591" y="2717220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FF"/>
                </a:solidFill>
                <a:sym typeface="Wingdings" panose="05000000000000000000" pitchFamily="2" charset="2"/>
              </a:rPr>
              <a:t>0.71  0.68</a:t>
            </a:r>
            <a:endParaRPr lang="en-IN" sz="1600" b="1" dirty="0">
              <a:solidFill>
                <a:srgbClr val="00FFFF"/>
              </a:solidFill>
            </a:endParaRPr>
          </a:p>
        </p:txBody>
      </p:sp>
      <p:pic>
        <p:nvPicPr>
          <p:cNvPr id="19" name="Picture 4" descr="Down graphic ">
            <a:extLst>
              <a:ext uri="{FF2B5EF4-FFF2-40B4-BE49-F238E27FC236}">
                <a16:creationId xmlns:a16="http://schemas.microsoft.com/office/drawing/2014/main" id="{B58F9602-1478-0476-7040-01B3EE069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9180" y="2631858"/>
            <a:ext cx="361596" cy="36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508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531E7-D6B9-D00A-E5C6-6E6C5C24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0E21362-0558-062C-D2D5-2017AF0BAFE0}"/>
              </a:ext>
            </a:extLst>
          </p:cNvPr>
          <p:cNvCxnSpPr>
            <a:cxnSpLocks/>
          </p:cNvCxnSpPr>
          <p:nvPr/>
        </p:nvCxnSpPr>
        <p:spPr>
          <a:xfrm>
            <a:off x="9641711" y="2115090"/>
            <a:ext cx="408880" cy="34753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766B15D4-2D73-0E44-740D-6E652291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4029DEC-66C8-2299-6AA4-5CAA686F7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314E6-203D-214E-42E8-CD849CB0D6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56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CC471-2CBE-0FE7-6F11-C2D8FA22A919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28968-D7E7-BF38-ED59-24038B929220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460ECE-9EAF-21C5-69F1-941E58562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81210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FBE0C46-DD28-A3B7-9D47-862F8AA7CA12}"/>
              </a:ext>
            </a:extLst>
          </p:cNvPr>
          <p:cNvSpPr/>
          <p:nvPr/>
        </p:nvSpPr>
        <p:spPr>
          <a:xfrm>
            <a:off x="10122279" y="2222588"/>
            <a:ext cx="1818033" cy="1200361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11" name="Picture 2" descr="Diagram ">
            <a:extLst>
              <a:ext uri="{FF2B5EF4-FFF2-40B4-BE49-F238E27FC236}">
                <a16:creationId xmlns:a16="http://schemas.microsoft.com/office/drawing/2014/main" id="{5248A0AF-0F20-B0C0-216F-3094296B0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635" y="2245798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C42ADF-8FD7-E2D7-9D0E-5C40726E7374}"/>
              </a:ext>
            </a:extLst>
          </p:cNvPr>
          <p:cNvSpPr txBox="1"/>
          <p:nvPr/>
        </p:nvSpPr>
        <p:spPr>
          <a:xfrm>
            <a:off x="10122279" y="2307159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</a:rPr>
              <a:t>0.30 </a:t>
            </a:r>
            <a:r>
              <a:rPr lang="en-US" sz="1600" b="1" dirty="0">
                <a:solidFill>
                  <a:srgbClr val="00FF00"/>
                </a:solidFill>
                <a:sym typeface="Wingdings" panose="05000000000000000000" pitchFamily="2" charset="2"/>
              </a:rPr>
              <a:t> 0.63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BC879-9DD9-AC9E-2D7D-7DCA76963AE3}"/>
              </a:ext>
            </a:extLst>
          </p:cNvPr>
          <p:cNvSpPr txBox="1"/>
          <p:nvPr/>
        </p:nvSpPr>
        <p:spPr>
          <a:xfrm>
            <a:off x="10122279" y="3054293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FF"/>
                </a:solidFill>
                <a:sym typeface="Wingdings" panose="05000000000000000000" pitchFamily="2" charset="2"/>
              </a:rPr>
              <a:t>0.71  0.82</a:t>
            </a:r>
            <a:endParaRPr lang="en-IN" sz="1600" b="1" dirty="0">
              <a:solidFill>
                <a:srgbClr val="00FFFF"/>
              </a:solidFill>
            </a:endParaRPr>
          </a:p>
        </p:txBody>
      </p:sp>
      <p:pic>
        <p:nvPicPr>
          <p:cNvPr id="14" name="Picture 2" descr="Diagram ">
            <a:extLst>
              <a:ext uri="{FF2B5EF4-FFF2-40B4-BE49-F238E27FC236}">
                <a16:creationId xmlns:a16="http://schemas.microsoft.com/office/drawing/2014/main" id="{D10C6C4A-2481-B756-DCD2-58292BBD8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7022" y="2983626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D226FAA-4780-5952-39C3-4BD9E7B62796}"/>
              </a:ext>
            </a:extLst>
          </p:cNvPr>
          <p:cNvCxnSpPr>
            <a:cxnSpLocks/>
          </p:cNvCxnSpPr>
          <p:nvPr/>
        </p:nvCxnSpPr>
        <p:spPr>
          <a:xfrm flipV="1">
            <a:off x="9775651" y="3256881"/>
            <a:ext cx="293134" cy="119013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141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361A-3EED-9BFE-BC97-A3043DCE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2600D19-5CD7-9A56-F7EA-AD961FDA01C1}"/>
              </a:ext>
            </a:extLst>
          </p:cNvPr>
          <p:cNvCxnSpPr>
            <a:cxnSpLocks/>
          </p:cNvCxnSpPr>
          <p:nvPr/>
        </p:nvCxnSpPr>
        <p:spPr>
          <a:xfrm>
            <a:off x="9511604" y="3423797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C85845-9CEC-0EF9-EBFD-DAE8B532C2E2}"/>
              </a:ext>
            </a:extLst>
          </p:cNvPr>
          <p:cNvCxnSpPr>
            <a:cxnSpLocks/>
          </p:cNvCxnSpPr>
          <p:nvPr/>
        </p:nvCxnSpPr>
        <p:spPr>
          <a:xfrm>
            <a:off x="9511604" y="3893563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7783701E-5D64-F033-BAA1-FCD52229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F183AD-A9C3-C560-8D31-2872AD91A6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BF06A-EBD2-962B-CA0C-2F7D8C5794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57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0EEA8-FAF6-14F3-13A2-ACA47F844084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C169F-47A7-4554-4E92-20564D5057B7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96F77-2000-F52B-40A5-A72A98307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58006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B6DC120-DF8A-814E-8E3F-8E6494BB05A3}"/>
              </a:ext>
            </a:extLst>
          </p:cNvPr>
          <p:cNvSpPr/>
          <p:nvPr/>
        </p:nvSpPr>
        <p:spPr>
          <a:xfrm>
            <a:off x="10041260" y="3213564"/>
            <a:ext cx="1818033" cy="91403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11" name="Picture 2" descr="Diagram ">
            <a:extLst>
              <a:ext uri="{FF2B5EF4-FFF2-40B4-BE49-F238E27FC236}">
                <a16:creationId xmlns:a16="http://schemas.microsoft.com/office/drawing/2014/main" id="{2F13A665-4BF3-AA7E-62C0-2BBB1A7C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16" y="3236773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D3FCD1-6323-8958-2761-9FDB050BAA2C}"/>
              </a:ext>
            </a:extLst>
          </p:cNvPr>
          <p:cNvSpPr txBox="1"/>
          <p:nvPr/>
        </p:nvSpPr>
        <p:spPr>
          <a:xfrm>
            <a:off x="10041260" y="3298134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</a:rPr>
              <a:t>0.63 </a:t>
            </a:r>
            <a:r>
              <a:rPr lang="en-US" sz="1600" b="1" dirty="0">
                <a:solidFill>
                  <a:srgbClr val="00FF00"/>
                </a:solidFill>
                <a:sym typeface="Wingdings" panose="05000000000000000000" pitchFamily="2" charset="2"/>
              </a:rPr>
              <a:t> 0.76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AF941-DDD5-073B-8433-B2A048600C3B}"/>
              </a:ext>
            </a:extLst>
          </p:cNvPr>
          <p:cNvSpPr txBox="1"/>
          <p:nvPr/>
        </p:nvSpPr>
        <p:spPr>
          <a:xfrm>
            <a:off x="10041260" y="3722003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FF"/>
                </a:solidFill>
                <a:sym typeface="Wingdings" panose="05000000000000000000" pitchFamily="2" charset="2"/>
              </a:rPr>
              <a:t>0.82  0.82</a:t>
            </a:r>
            <a:endParaRPr lang="en-IN" sz="1600" b="1" dirty="0">
              <a:solidFill>
                <a:srgbClr val="00FFFF"/>
              </a:solidFill>
            </a:endParaRPr>
          </a:p>
        </p:txBody>
      </p:sp>
      <p:pic>
        <p:nvPicPr>
          <p:cNvPr id="14" name="Picture 2" descr="Approximation ">
            <a:extLst>
              <a:ext uri="{FF2B5EF4-FFF2-40B4-BE49-F238E27FC236}">
                <a16:creationId xmlns:a16="http://schemas.microsoft.com/office/drawing/2014/main" id="{D5C1070A-90B1-E0A1-6DE5-B79EB15F2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517" y="3615892"/>
            <a:ext cx="550776" cy="550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682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A4C4-71CF-772D-1A41-FEC261DD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DBFEDAF-0A01-9A50-D079-4ABF4352C9D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9619481" y="4240738"/>
            <a:ext cx="431110" cy="20566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077DB53-7765-621F-DBA4-9AB934CB5CDF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9590897" y="3436133"/>
            <a:ext cx="459694" cy="380736"/>
          </a:xfrm>
          <a:prstGeom prst="bentConnector3">
            <a:avLst>
              <a:gd name="adj1" fmla="val 56089"/>
            </a:avLst>
          </a:prstGeom>
          <a:ln>
            <a:solidFill>
              <a:schemeClr val="tx2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95B1B53-36DF-5860-3D8A-77E1A3BD44E2}"/>
              </a:ext>
            </a:extLst>
          </p:cNvPr>
          <p:cNvSpPr/>
          <p:nvPr/>
        </p:nvSpPr>
        <p:spPr>
          <a:xfrm>
            <a:off x="10050591" y="3446181"/>
            <a:ext cx="2063110" cy="10335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25" name="Picture 2" descr="Diagram ">
            <a:extLst>
              <a:ext uri="{FF2B5EF4-FFF2-40B4-BE49-F238E27FC236}">
                <a16:creationId xmlns:a16="http://schemas.microsoft.com/office/drawing/2014/main" id="{560B15D9-C8C8-9A1A-BFAF-CB745D3EC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084" y="3569613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C41EA57-7434-44FA-7674-A0B72DBF3B71}"/>
              </a:ext>
            </a:extLst>
          </p:cNvPr>
          <p:cNvSpPr txBox="1"/>
          <p:nvPr/>
        </p:nvSpPr>
        <p:spPr>
          <a:xfrm>
            <a:off x="10050591" y="3647592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</a:rPr>
              <a:t>0.63 </a:t>
            </a:r>
            <a:r>
              <a:rPr lang="en-US" sz="1600" b="1" dirty="0">
                <a:solidFill>
                  <a:srgbClr val="00FF00"/>
                </a:solidFill>
                <a:sym typeface="Wingdings" panose="05000000000000000000" pitchFamily="2" charset="2"/>
              </a:rPr>
              <a:t> 0.77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531D59-01E5-3D92-A42B-1B5B40752FB9}"/>
              </a:ext>
            </a:extLst>
          </p:cNvPr>
          <p:cNvSpPr txBox="1"/>
          <p:nvPr/>
        </p:nvSpPr>
        <p:spPr>
          <a:xfrm>
            <a:off x="10050591" y="4071461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FF"/>
                </a:solidFill>
                <a:sym typeface="Wingdings" panose="05000000000000000000" pitchFamily="2" charset="2"/>
              </a:rPr>
              <a:t>0.82  0.83</a:t>
            </a:r>
            <a:endParaRPr lang="en-IN" sz="1600" b="1" dirty="0">
              <a:solidFill>
                <a:srgbClr val="00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C2A83-6D66-1A83-1D23-AF2A5FD13E9D}"/>
              </a:ext>
            </a:extLst>
          </p:cNvPr>
          <p:cNvSpPr txBox="1"/>
          <p:nvPr/>
        </p:nvSpPr>
        <p:spPr>
          <a:xfrm>
            <a:off x="11543582" y="3641369"/>
            <a:ext cx="608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rgbClr val="00FF00"/>
                </a:solidFill>
              </a:rPr>
              <a:t>14%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96FA43-2BAF-9868-C308-9908A50634A2}"/>
              </a:ext>
            </a:extLst>
          </p:cNvPr>
          <p:cNvSpPr txBox="1"/>
          <p:nvPr/>
        </p:nvSpPr>
        <p:spPr>
          <a:xfrm>
            <a:off x="11612088" y="4080058"/>
            <a:ext cx="608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1%</a:t>
            </a:r>
          </a:p>
        </p:txBody>
      </p:sp>
      <p:pic>
        <p:nvPicPr>
          <p:cNvPr id="30" name="Picture 2" descr="Diagram ">
            <a:extLst>
              <a:ext uri="{FF2B5EF4-FFF2-40B4-BE49-F238E27FC236}">
                <a16:creationId xmlns:a16="http://schemas.microsoft.com/office/drawing/2014/main" id="{D54DCC71-8B7D-182E-0F28-A4692BDF5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015" y="4040980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9ACB87-3389-C68E-BEF0-7E75F230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CCC6BA-D8EB-268C-8DCB-5A7596DCB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DCA9-4592-1E9A-5735-EC593158DE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58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4ACE7-5757-4146-F1E3-A307150F7309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20EDD-CCAE-4735-5D0A-4360F0C6A6A4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06A704-C4BF-6256-BDA3-3350046D8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85854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highlight>
                          <a:srgbClr val="FFFF66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311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C235-E819-F33A-DD9B-711EB90A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EEB2A91-007A-54D4-41E0-C6584CB223B4}"/>
              </a:ext>
            </a:extLst>
          </p:cNvPr>
          <p:cNvCxnSpPr>
            <a:cxnSpLocks/>
          </p:cNvCxnSpPr>
          <p:nvPr/>
        </p:nvCxnSpPr>
        <p:spPr>
          <a:xfrm>
            <a:off x="9511604" y="3985109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D27D37-C583-B0B6-276C-AA0111C1D203}"/>
              </a:ext>
            </a:extLst>
          </p:cNvPr>
          <p:cNvCxnSpPr>
            <a:cxnSpLocks/>
          </p:cNvCxnSpPr>
          <p:nvPr/>
        </p:nvCxnSpPr>
        <p:spPr>
          <a:xfrm>
            <a:off x="9511604" y="4454875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F9B5A67-DDB4-C235-C832-B4E317098AFA}"/>
              </a:ext>
            </a:extLst>
          </p:cNvPr>
          <p:cNvSpPr/>
          <p:nvPr/>
        </p:nvSpPr>
        <p:spPr>
          <a:xfrm>
            <a:off x="10041260" y="3774876"/>
            <a:ext cx="1818033" cy="91403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11" name="Picture 2" descr="Diagram ">
            <a:extLst>
              <a:ext uri="{FF2B5EF4-FFF2-40B4-BE49-F238E27FC236}">
                <a16:creationId xmlns:a16="http://schemas.microsoft.com/office/drawing/2014/main" id="{C39340DE-2E42-5CA5-ED5E-C7A037833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16" y="3798085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CAE605-21AA-DB78-2FE5-D7920477D9D8}"/>
              </a:ext>
            </a:extLst>
          </p:cNvPr>
          <p:cNvSpPr txBox="1"/>
          <p:nvPr/>
        </p:nvSpPr>
        <p:spPr>
          <a:xfrm>
            <a:off x="10041260" y="3859446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00"/>
                </a:solidFill>
              </a:rPr>
              <a:t>0.76 </a:t>
            </a:r>
            <a:r>
              <a:rPr lang="en-US" sz="1600" b="1" dirty="0">
                <a:solidFill>
                  <a:srgbClr val="00FF00"/>
                </a:solidFill>
                <a:sym typeface="Wingdings" panose="05000000000000000000" pitchFamily="2" charset="2"/>
              </a:rPr>
              <a:t> 0.77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ED333-033D-EAF0-949A-B710A9D86B11}"/>
              </a:ext>
            </a:extLst>
          </p:cNvPr>
          <p:cNvSpPr txBox="1"/>
          <p:nvPr/>
        </p:nvSpPr>
        <p:spPr>
          <a:xfrm>
            <a:off x="10041260" y="4283315"/>
            <a:ext cx="1300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FFFF"/>
                </a:solidFill>
                <a:sym typeface="Wingdings" panose="05000000000000000000" pitchFamily="2" charset="2"/>
              </a:rPr>
              <a:t>0.82  0.83</a:t>
            </a:r>
            <a:endParaRPr lang="en-IN" sz="1600" b="1" dirty="0">
              <a:solidFill>
                <a:srgbClr val="00FFFF"/>
              </a:solidFill>
            </a:endParaRPr>
          </a:p>
        </p:txBody>
      </p:sp>
      <p:pic>
        <p:nvPicPr>
          <p:cNvPr id="14" name="Picture 2" descr="Diagram ">
            <a:extLst>
              <a:ext uri="{FF2B5EF4-FFF2-40B4-BE49-F238E27FC236}">
                <a16:creationId xmlns:a16="http://schemas.microsoft.com/office/drawing/2014/main" id="{9A4FA8BA-A8DE-7A0A-0666-D66803C22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6003" y="4212648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B3D5855-0E30-949F-29C2-3A72601C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BCE189D-8CD5-8963-96C4-82422E86A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2FFCB-77C3-B4BE-3A5E-BC08727E4E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59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C9EBE-74D6-5E5F-2020-980E47579815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FAC32-1AD7-1156-1271-66A2AA60A2D6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40482-FFCA-D857-93F0-18E9CF5CB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25513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highlight>
                          <a:srgbClr val="FFFF66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00FF00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00FFFF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201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B089-7888-A135-26D6-229A13AC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8851AD-451C-8E33-3F8A-3AE6377C7621}"/>
              </a:ext>
            </a:extLst>
          </p:cNvPr>
          <p:cNvCxnSpPr>
            <a:cxnSpLocks/>
          </p:cNvCxnSpPr>
          <p:nvPr/>
        </p:nvCxnSpPr>
        <p:spPr>
          <a:xfrm>
            <a:off x="9511604" y="3973537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82E5BA-516F-D2B9-4730-5D6321D1A82F}"/>
              </a:ext>
            </a:extLst>
          </p:cNvPr>
          <p:cNvCxnSpPr>
            <a:cxnSpLocks/>
          </p:cNvCxnSpPr>
          <p:nvPr/>
        </p:nvCxnSpPr>
        <p:spPr>
          <a:xfrm>
            <a:off x="9511604" y="4443303"/>
            <a:ext cx="419100" cy="0"/>
          </a:xfrm>
          <a:prstGeom prst="straightConnector1">
            <a:avLst/>
          </a:prstGeom>
          <a:ln>
            <a:solidFill>
              <a:schemeClr val="tx2">
                <a:lumMod val="85000"/>
                <a:lumOff val="1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F5B5AC1-9FC2-5D1C-5D82-4DD9EA0DBF03}"/>
              </a:ext>
            </a:extLst>
          </p:cNvPr>
          <p:cNvSpPr/>
          <p:nvPr/>
        </p:nvSpPr>
        <p:spPr>
          <a:xfrm>
            <a:off x="10041260" y="3763304"/>
            <a:ext cx="1818033" cy="91403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00FF00"/>
              </a:solidFill>
            </a:endParaRPr>
          </a:p>
        </p:txBody>
      </p:sp>
      <p:pic>
        <p:nvPicPr>
          <p:cNvPr id="18" name="Picture 2" descr="Diagram ">
            <a:extLst>
              <a:ext uri="{FF2B5EF4-FFF2-40B4-BE49-F238E27FC236}">
                <a16:creationId xmlns:a16="http://schemas.microsoft.com/office/drawing/2014/main" id="{B7CC9FBA-52AD-7E63-E477-F63AB628F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16" y="3982460"/>
            <a:ext cx="318771" cy="31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9F70EC-2371-8B9A-94F0-754D42DE2B47}"/>
              </a:ext>
            </a:extLst>
          </p:cNvPr>
          <p:cNvSpPr txBox="1"/>
          <p:nvPr/>
        </p:nvSpPr>
        <p:spPr>
          <a:xfrm>
            <a:off x="10041261" y="4043821"/>
            <a:ext cx="1344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0.55 </a:t>
            </a:r>
            <a:r>
              <a:rPr 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 0.58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135F1-DB6E-2AE7-10EE-4C35C9A9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Ablation Study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127B13-672E-466B-B112-BB2D92E9E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5 stages of ablation study and  Incremental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C7475-24C6-7EA3-0C0E-2C6FA8F48F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60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E73FD-7D36-F157-970D-DD96445412F7}"/>
              </a:ext>
            </a:extLst>
          </p:cNvPr>
          <p:cNvSpPr txBox="1"/>
          <p:nvPr/>
        </p:nvSpPr>
        <p:spPr>
          <a:xfrm>
            <a:off x="494077" y="5697061"/>
            <a:ext cx="11483556" cy="792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08000" bIns="108000">
            <a:spAutoFit/>
          </a:bodyPr>
          <a:lstStyle/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During Ablation all other parameters were kept same for all runs on Mask2former : </a:t>
            </a:r>
          </a:p>
          <a:p>
            <a:pPr marL="315450" indent="-17145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Like batch size =3 , total Iterations =90k , learning rate = 1e-5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6C377-2810-2BB4-5E97-7B7C41F31CD9}"/>
              </a:ext>
            </a:extLst>
          </p:cNvPr>
          <p:cNvSpPr txBox="1"/>
          <p:nvPr/>
        </p:nvSpPr>
        <p:spPr>
          <a:xfrm>
            <a:off x="504125" y="528485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Key Points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A74AE2-54D3-B77D-9847-ABA4A99B1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72497"/>
              </p:ext>
            </p:extLst>
          </p:nvPr>
        </p:nvGraphicFramePr>
        <p:xfrm>
          <a:off x="355177" y="1547014"/>
          <a:ext cx="9402280" cy="3254265"/>
        </p:xfrm>
        <a:graphic>
          <a:graphicData uri="http://schemas.openxmlformats.org/drawingml/2006/table">
            <a:tbl>
              <a:tblPr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039660">
                  <a:extLst>
                    <a:ext uri="{9D8B030D-6E8A-4147-A177-3AD203B41FA5}">
                      <a16:colId xmlns:a16="http://schemas.microsoft.com/office/drawing/2014/main" val="3354230681"/>
                    </a:ext>
                  </a:extLst>
                </a:gridCol>
                <a:gridCol w="2851074">
                  <a:extLst>
                    <a:ext uri="{9D8B030D-6E8A-4147-A177-3AD203B41FA5}">
                      <a16:colId xmlns:a16="http://schemas.microsoft.com/office/drawing/2014/main" val="2063216243"/>
                    </a:ext>
                  </a:extLst>
                </a:gridCol>
                <a:gridCol w="813215">
                  <a:extLst>
                    <a:ext uri="{9D8B030D-6E8A-4147-A177-3AD203B41FA5}">
                      <a16:colId xmlns:a16="http://schemas.microsoft.com/office/drawing/2014/main" val="3631486518"/>
                    </a:ext>
                  </a:extLst>
                </a:gridCol>
                <a:gridCol w="822783">
                  <a:extLst>
                    <a:ext uri="{9D8B030D-6E8A-4147-A177-3AD203B41FA5}">
                      <a16:colId xmlns:a16="http://schemas.microsoft.com/office/drawing/2014/main" val="168442183"/>
                    </a:ext>
                  </a:extLst>
                </a:gridCol>
                <a:gridCol w="794081">
                  <a:extLst>
                    <a:ext uri="{9D8B030D-6E8A-4147-A177-3AD203B41FA5}">
                      <a16:colId xmlns:a16="http://schemas.microsoft.com/office/drawing/2014/main" val="1472447315"/>
                    </a:ext>
                  </a:extLst>
                </a:gridCol>
                <a:gridCol w="947157">
                  <a:extLst>
                    <a:ext uri="{9D8B030D-6E8A-4147-A177-3AD203B41FA5}">
                      <a16:colId xmlns:a16="http://schemas.microsoft.com/office/drawing/2014/main" val="3084295745"/>
                    </a:ext>
                  </a:extLst>
                </a:gridCol>
                <a:gridCol w="1109801">
                  <a:extLst>
                    <a:ext uri="{9D8B030D-6E8A-4147-A177-3AD203B41FA5}">
                      <a16:colId xmlns:a16="http://schemas.microsoft.com/office/drawing/2014/main" val="4180846266"/>
                    </a:ext>
                  </a:extLst>
                </a:gridCol>
                <a:gridCol w="1024509">
                  <a:extLst>
                    <a:ext uri="{9D8B030D-6E8A-4147-A177-3AD203B41FA5}">
                      <a16:colId xmlns:a16="http://schemas.microsoft.com/office/drawing/2014/main" val="1949683163"/>
                    </a:ext>
                  </a:extLst>
                </a:gridCol>
              </a:tblGrid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Stages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Mode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Rain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Fog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Snow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Night</a:t>
                      </a:r>
                      <a:endParaRPr lang="en-IN" sz="1200" dirty="0">
                        <a:solidFill>
                          <a:srgbClr val="C00000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ACDC Overall</a:t>
                      </a:r>
                      <a:endParaRPr lang="en-IN" sz="12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Cityscapes Overall</a:t>
                      </a:r>
                      <a:endParaRPr lang="en-IN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6960514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</a:t>
                      </a:r>
                      <a:endParaRPr lang="en-IN" sz="12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DeepLabV3+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0.71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70445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88910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Baseline 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Final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DeeplabV3+ on (CS+ACDC)</a:t>
                      </a:r>
                    </a:p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+WAS/TAS</a:t>
                      </a:r>
                      <a:endParaRPr lang="en-IN" sz="1200" b="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0.48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565739"/>
                  </a:ext>
                </a:extLst>
              </a:tr>
              <a:tr h="440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Original Model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CS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0.37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34255"/>
                  </a:ext>
                </a:extLst>
              </a:tr>
              <a:tr h="535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model </a:t>
                      </a:r>
                    </a:p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Extension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0.803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0.816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0.798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0.554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0.762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7926"/>
                  </a:ext>
                </a:extLst>
              </a:tr>
              <a:tr h="6222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Our Final 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  </a:t>
                      </a:r>
                      <a:b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endParaRPr lang="en-IN" sz="1200" b="1" dirty="0">
                        <a:solidFill>
                          <a:schemeClr val="tx2"/>
                        </a:solidFill>
                        <a:highlight>
                          <a:srgbClr val="FFFF66"/>
                        </a:highlight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Mask2Former on (CS+ACDC)</a:t>
                      </a:r>
                    </a:p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highlight>
                            <a:srgbClr val="FFFF66"/>
                          </a:highlight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WAS/TAS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0.804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0.578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0.772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solidFill>
                            <a:schemeClr val="tx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0.829</a:t>
                      </a:r>
                    </a:p>
                  </a:txBody>
                  <a:tcPr marL="79031" marR="79031" marT="39516" marB="39516" anchor="ctr">
                    <a:lnL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788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D878A3-3EA7-9757-598C-F77ACD56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00" y="318484"/>
            <a:ext cx="9753600" cy="327600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 &amp; Future Work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0BECDA-19CA-D1CE-27B9-0B1F39012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634585"/>
            <a:ext cx="9753600" cy="342054"/>
          </a:xfrm>
        </p:spPr>
        <p:txBody>
          <a:bodyPr>
            <a:normAutofit/>
          </a:bodyPr>
          <a:lstStyle/>
          <a:p>
            <a:r>
              <a:rPr lang="en-US" sz="1400" b="1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Research Achievements and Future Directions</a:t>
            </a:r>
            <a:endParaRPr lang="en-IN" sz="1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E33594-E083-41C6-6EA3-F347373C66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BA07125-F287-674A-B4D8-FED3251FDE20}" type="slidenum">
              <a:rPr lang="de-DE" smtClean="0"/>
              <a:t>61</a:t>
            </a:fld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6309B-4ED1-2875-F16D-75C5AB3E2E0C}"/>
              </a:ext>
            </a:extLst>
          </p:cNvPr>
          <p:cNvSpPr txBox="1"/>
          <p:nvPr/>
        </p:nvSpPr>
        <p:spPr>
          <a:xfrm>
            <a:off x="383552" y="5548041"/>
            <a:ext cx="11483556" cy="713254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15450" indent="-171450" algn="ctr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Extend this work on </a:t>
            </a:r>
            <a:r>
              <a:rPr lang="en-US" altLang="en-US" sz="12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synthetic simulation datasets </a:t>
            </a: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(e.g., CARLA, AWSS)</a:t>
            </a:r>
          </a:p>
          <a:p>
            <a:pPr marL="315450" indent="-171450" algn="ctr">
              <a:lnSpc>
                <a:spcPct val="14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Extend to </a:t>
            </a:r>
            <a:r>
              <a:rPr lang="en-US" altLang="en-US" sz="1200" b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2D anomaly detection </a:t>
            </a:r>
            <a:r>
              <a:rPr lang="en-US" altLang="en-US" sz="120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under adverse weather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FBC00-6C7B-A97A-FF2A-561CCACAB2E3}"/>
              </a:ext>
            </a:extLst>
          </p:cNvPr>
          <p:cNvSpPr txBox="1"/>
          <p:nvPr/>
        </p:nvSpPr>
        <p:spPr>
          <a:xfrm>
            <a:off x="393600" y="5135832"/>
            <a:ext cx="11473508" cy="402161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lang="en-US" altLang="en-US" sz="1600" b="1">
                <a:latin typeface="Roboto" panose="02000000000000000000" pitchFamily="2" charset="0"/>
                <a:ea typeface="Roboto" panose="02000000000000000000" pitchFamily="2" charset="0"/>
              </a:rPr>
              <a:t>Future Work 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4896AF-A596-D270-6E47-95AC8E8A8CFF}"/>
              </a:ext>
            </a:extLst>
          </p:cNvPr>
          <p:cNvSpPr txBox="1"/>
          <p:nvPr/>
        </p:nvSpPr>
        <p:spPr>
          <a:xfrm>
            <a:off x="299658" y="1612137"/>
            <a:ext cx="5796342" cy="303235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Achieved  Initial Objectives: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Successfully use Mask2Former with transformer backbone              → ✔️ Achieved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Successfully alternate batch-wise training (Cityscapes ↔ ACDC)      → ✔️ Achieved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Successfully Implemented selective Encoder Freezing                         → ✔️ Achieved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Successfully Integrate WAS/TAS auxiliary supervision                          → </a:t>
            </a:r>
            <a:r>
              <a:rPr lang="en-US" altLang="en-US" sz="1100" dirty="0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✔️</a:t>
            </a: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Achieved</a:t>
            </a:r>
          </a:p>
          <a:p>
            <a:pPr marL="324000" indent="-180000">
              <a:lnSpc>
                <a:spcPct val="20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Main Goal:</a:t>
            </a: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Build a Single Model that performs well on both weather conditions</a:t>
            </a:r>
            <a:b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Final result </a:t>
            </a:r>
            <a:r>
              <a:rPr lang="en-US" altLang="en-US" sz="110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mIoU</a:t>
            </a: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r>
              <a:rPr lang="en-US" altLang="en-US" sz="1100" b="1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0.83 (Cityscapes), 0.77 (ACDC)                                        </a:t>
            </a: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→</a:t>
            </a:r>
            <a:r>
              <a:rPr lang="en-US" altLang="en-US" sz="11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✔️ Achieved</a:t>
            </a:r>
          </a:p>
          <a:p>
            <a:pPr marL="144000">
              <a:lnSpc>
                <a:spcPct val="140000"/>
              </a:lnSpc>
              <a:spcAft>
                <a:spcPts val="600"/>
              </a:spcAft>
            </a:pP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28EB17-4A94-70DD-8C1A-B8F8311A48FE}"/>
              </a:ext>
            </a:extLst>
          </p:cNvPr>
          <p:cNvSpPr txBox="1"/>
          <p:nvPr/>
        </p:nvSpPr>
        <p:spPr>
          <a:xfrm>
            <a:off x="359946" y="1238656"/>
            <a:ext cx="5736054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latin typeface="Roboto" panose="02000000000000000000" pitchFamily="2" charset="0"/>
                <a:ea typeface="Roboto" panose="02000000000000000000" pitchFamily="2" charset="0"/>
              </a:rPr>
              <a:t>A ) Research Achievement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340D0-50A9-595A-4D68-FBD6B7844AA8}"/>
              </a:ext>
            </a:extLst>
          </p:cNvPr>
          <p:cNvSpPr txBox="1"/>
          <p:nvPr/>
        </p:nvSpPr>
        <p:spPr>
          <a:xfrm>
            <a:off x="6361471" y="1612137"/>
            <a:ext cx="5505637" cy="3060000"/>
          </a:xfrm>
          <a:prstGeom prst="rect">
            <a:avLst/>
          </a:prstGeom>
          <a:solidFill>
            <a:srgbClr val="F8F8F8"/>
          </a:solidFill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txBody>
          <a:bodyPr wrap="square" tIns="144000" bIns="0">
            <a:spAutoFit/>
          </a:bodyPr>
          <a:lstStyle/>
          <a:p>
            <a:pPr marL="324000" indent="-180000">
              <a:lnSpc>
                <a:spcPct val="150000"/>
              </a:lnSpc>
              <a:spcAft>
                <a:spcPts val="600"/>
              </a:spcAft>
              <a:buFont typeface="Roboto" panose="02000000000000000000" pitchFamily="2" charset="0"/>
              <a:buChar char="»"/>
            </a:pPr>
            <a:r>
              <a:rPr lang="en-US" altLang="en-US" sz="1100" b="1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Summary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Improved ACDC overall </a:t>
            </a:r>
            <a:r>
              <a:rPr lang="en-US" altLang="en-US" sz="110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mIoU</a:t>
            </a: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by +14% vs. Mask2former baseline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Strong per-condition gains, especially in Night 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Alternate training , Dataset choices and Encoder Freezing works out seamlessly and is quite promising for semantic segmentation.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Was, Tas – worked fine giving a little boost to result, further optimizing it</a:t>
            </a:r>
          </a:p>
          <a:p>
            <a:pPr marL="372600" indent="-2286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1100" dirty="0">
                <a:solidFill>
                  <a:schemeClr val="tx2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Achieved robustness without sacrificing clear-weather accuracy</a:t>
            </a: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endParaRPr lang="en-US" altLang="en-US" sz="12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44000">
              <a:lnSpc>
                <a:spcPct val="150000"/>
              </a:lnSpc>
              <a:spcAft>
                <a:spcPts val="600"/>
              </a:spcAft>
            </a:pPr>
            <a:endParaRPr lang="en-US" altLang="en-US" sz="700" dirty="0">
              <a:solidFill>
                <a:schemeClr val="tx2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752E5C-EEB0-AE99-34EA-15186F234342}"/>
              </a:ext>
            </a:extLst>
          </p:cNvPr>
          <p:cNvSpPr txBox="1"/>
          <p:nvPr/>
        </p:nvSpPr>
        <p:spPr>
          <a:xfrm>
            <a:off x="6361471" y="1238656"/>
            <a:ext cx="5470583" cy="363433"/>
          </a:xfrm>
          <a:prstGeom prst="rect">
            <a:avLst/>
          </a:prstGeom>
          <a:solidFill>
            <a:schemeClr val="tx1">
              <a:lumMod val="20000"/>
              <a:lumOff val="80000"/>
              <a:alpha val="26000"/>
            </a:schemeClr>
          </a:solidFill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en-US" sz="1400" b="1" dirty="0">
                <a:latin typeface="Roboto" panose="02000000000000000000" pitchFamily="2" charset="0"/>
                <a:ea typeface="Roboto" panose="02000000000000000000" pitchFamily="2" charset="0"/>
              </a:rPr>
              <a:t>B ) Final Results</a:t>
            </a:r>
          </a:p>
        </p:txBody>
      </p:sp>
    </p:spTree>
    <p:extLst>
      <p:ext uri="{BB962C8B-B14F-4D97-AF65-F5344CB8AC3E}">
        <p14:creationId xmlns:p14="http://schemas.microsoft.com/office/powerpoint/2010/main" val="240975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1873643" y="1967940"/>
            <a:ext cx="8444714" cy="1998060"/>
          </a:xfrm>
        </p:spPr>
        <p:txBody>
          <a:bodyPr>
            <a:normAutofit/>
          </a:bodyPr>
          <a:lstStyle/>
          <a:p>
            <a:pPr indent="0" algn="ctr">
              <a:buNone/>
            </a:pPr>
            <a:r>
              <a:rPr lang="en-IN" sz="9600"/>
              <a:t>THANK YOU!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14E9E765-94CE-0941-BE99-F43834E80C33}" type="slidenum">
              <a:rPr lang="de-DE" smtClean="0"/>
              <a:t>62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IMo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77500D95D1B5C4CBF47040995AAFDBE" ma:contentTypeVersion="13" ma:contentTypeDescription="Ein neues Dokument erstellen." ma:contentTypeScope="" ma:versionID="589d8e51390aff5db0e64730fb523f31">
  <xsd:schema xmlns:xsd="http://www.w3.org/2001/XMLSchema" xmlns:xs="http://www.w3.org/2001/XMLSchema" xmlns:p="http://schemas.microsoft.com/office/2006/metadata/properties" xmlns:ns3="2109f98e-8614-498c-a63d-38e501289995" xmlns:ns4="1058583a-5c14-4f5a-9447-e45d20467235" targetNamespace="http://schemas.microsoft.com/office/2006/metadata/properties" ma:root="true" ma:fieldsID="d22d5d1a3b7252cd28b43579f4c1fdbf" ns3:_="" ns4:_="">
    <xsd:import namespace="2109f98e-8614-498c-a63d-38e501289995"/>
    <xsd:import namespace="1058583a-5c14-4f5a-9447-e45d2046723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09f98e-8614-498c-a63d-38e50128999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58583a-5c14-4f5a-9447-e45d2046723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09f98e-8614-498c-a63d-38e501289995" xsi:nil="true"/>
  </documentManagement>
</p:properties>
</file>

<file path=customXml/itemProps1.xml><?xml version="1.0" encoding="utf-8"?>
<ds:datastoreItem xmlns:ds="http://schemas.openxmlformats.org/officeDocument/2006/customXml" ds:itemID="{D0A42AB3-F8E2-4B70-B885-DAFCCFF7D7F1}">
  <ds:schemaRefs>
    <ds:schemaRef ds:uri="1058583a-5c14-4f5a-9447-e45d20467235"/>
    <ds:schemaRef ds:uri="2109f98e-8614-498c-a63d-38e5012899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FE6FCB-84F6-4DEE-BFAE-BB24D8F1EE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75BE9-2653-4359-84D1-F5FD5A36661C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058583a-5c14-4f5a-9447-e45d20467235"/>
    <ds:schemaRef ds:uri="2109f98e-8614-498c-a63d-38e501289995"/>
  </ds:schemaRefs>
</ds:datastoreItem>
</file>

<file path=docMetadata/LabelInfo.xml><?xml version="1.0" encoding="utf-8"?>
<clbl:labelList xmlns:clbl="http://schemas.microsoft.com/office/2020/mipLabelMetadata">
  <clbl:label id="{28bcace8-4ce7-4949-868f-170f67122379}" enabled="0" method="" siteId="{28bcace8-4ce7-4949-868f-170f6712237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IIMo theme</Template>
  <TotalTime>1438</TotalTime>
  <Words>4892</Words>
  <Application>Microsoft Office PowerPoint</Application>
  <PresentationFormat>Widescreen</PresentationFormat>
  <Paragraphs>1444</Paragraphs>
  <Slides>62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Calibri</vt:lpstr>
      <vt:lpstr>Cambria Math</vt:lpstr>
      <vt:lpstr>Roboto</vt:lpstr>
      <vt:lpstr>Wingdings</vt:lpstr>
      <vt:lpstr>IIMo theme</vt:lpstr>
      <vt:lpstr>1_Office</vt:lpstr>
      <vt:lpstr>1_Bildschirm</vt:lpstr>
      <vt:lpstr>PowerPoint Presentation</vt:lpstr>
      <vt:lpstr>PowerPoint Presentation</vt:lpstr>
      <vt:lpstr>PowerPoint Presentation</vt:lpstr>
      <vt:lpstr> 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Challenges in Adverse Segmentation and Motivation</vt:lpstr>
      <vt:lpstr>Prime Goals</vt:lpstr>
      <vt:lpstr>PowerPoint Presentation</vt:lpstr>
      <vt:lpstr>Proposed Architecture – Weather &amp; Time Aware Mask2former </vt:lpstr>
      <vt:lpstr>PowerPoint Presentation</vt:lpstr>
      <vt:lpstr>During Training Phase</vt:lpstr>
      <vt:lpstr>During Training Phase</vt:lpstr>
      <vt:lpstr>During Training Phase</vt:lpstr>
      <vt:lpstr>Original Mask2former Architecture</vt:lpstr>
      <vt:lpstr>During Training Phase</vt:lpstr>
      <vt:lpstr>During Training Phase</vt:lpstr>
      <vt:lpstr>During Inference phase</vt:lpstr>
      <vt:lpstr>Datasets used and Data Splits</vt:lpstr>
      <vt:lpstr>Proposed Method – Training Strategy</vt:lpstr>
      <vt:lpstr>Proposed Method – Training Strategy</vt:lpstr>
      <vt:lpstr>Proposed Method – Training Strategy</vt:lpstr>
      <vt:lpstr>Proposed Method – Training Strategy</vt:lpstr>
      <vt:lpstr>Multi-Task Learning: Weather- and Time-Aware Supervision (WAS / TAS)</vt:lpstr>
      <vt:lpstr>PowerPoint Presentation</vt:lpstr>
      <vt:lpstr>Evaluation Setup</vt:lpstr>
      <vt:lpstr>Quantitative Results — Evaluation Result</vt:lpstr>
      <vt:lpstr>Baseline Used for Comparison</vt:lpstr>
      <vt:lpstr>Baselines Used for Comparison</vt:lpstr>
      <vt:lpstr>Baselines Used for Comparison</vt:lpstr>
      <vt:lpstr>Quantitative Results — Evaluation Result</vt:lpstr>
      <vt:lpstr>Baselines Used for Comparison</vt:lpstr>
      <vt:lpstr>Baselines Used for Comparison</vt:lpstr>
      <vt:lpstr>Baselines Used for Comparison</vt:lpstr>
      <vt:lpstr>Quantitative Results — Evaluation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Ablation Study</vt:lpstr>
      <vt:lpstr>Ablation Study</vt:lpstr>
      <vt:lpstr>Ablation Study</vt:lpstr>
      <vt:lpstr>Ablation Study</vt:lpstr>
      <vt:lpstr>Ablation Study</vt:lpstr>
      <vt:lpstr>Ablation Study</vt:lpstr>
      <vt:lpstr>Ablation Study</vt:lpstr>
      <vt:lpstr>Ablation Study</vt:lpstr>
      <vt:lpstr>Ablation Study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Pandey, Amit</dc:creator>
  <cp:lastModifiedBy>Chaudhary, Shiv (Stud. E - IA)</cp:lastModifiedBy>
  <cp:revision>30</cp:revision>
  <dcterms:created xsi:type="dcterms:W3CDTF">2022-11-21T10:39:00Z</dcterms:created>
  <dcterms:modified xsi:type="dcterms:W3CDTF">2025-10-10T10:49:21Z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4599D29910E64E58ACE21DCBF3CCF046_13</vt:lpwstr>
  </property>
  <property fmtid="{D5CDD505-2E9C-101B-9397-08002B2CF9AE}" pid="3" name="KSOProductBuildVer">
    <vt:lpwstr>1033-12.2.0.21931</vt:lpwstr>
  </property>
  <property fmtid="{D5CDD505-2E9C-101B-9397-08002B2CF9AE}" pid="4" name="ContentTypeId">
    <vt:lpwstr>0x010100777500D95D1B5C4CBF47040995AAFDBE</vt:lpwstr>
  </property>
</Properties>
</file>